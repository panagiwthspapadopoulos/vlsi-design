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0"/>
  </p:notesMasterIdLst>
  <p:handoutMasterIdLst>
    <p:handoutMasterId r:id="rId31"/>
  </p:handoutMasterIdLst>
  <p:sldIdLst>
    <p:sldId id="256" r:id="rId2"/>
    <p:sldId id="257" r:id="rId3"/>
    <p:sldId id="278" r:id="rId4"/>
    <p:sldId id="266" r:id="rId5"/>
    <p:sldId id="268" r:id="rId6"/>
    <p:sldId id="284" r:id="rId7"/>
    <p:sldId id="269" r:id="rId8"/>
    <p:sldId id="270" r:id="rId9"/>
    <p:sldId id="271" r:id="rId10"/>
    <p:sldId id="274" r:id="rId11"/>
    <p:sldId id="285" r:id="rId12"/>
    <p:sldId id="282" r:id="rId13"/>
    <p:sldId id="267" r:id="rId14"/>
    <p:sldId id="275" r:id="rId15"/>
    <p:sldId id="289" r:id="rId16"/>
    <p:sldId id="262" r:id="rId17"/>
    <p:sldId id="277" r:id="rId18"/>
    <p:sldId id="264" r:id="rId19"/>
    <p:sldId id="297" r:id="rId20"/>
    <p:sldId id="265" r:id="rId21"/>
    <p:sldId id="293" r:id="rId22"/>
    <p:sldId id="298" r:id="rId23"/>
    <p:sldId id="291" r:id="rId24"/>
    <p:sldId id="296" r:id="rId25"/>
    <p:sldId id="294" r:id="rId26"/>
    <p:sldId id="260" r:id="rId27"/>
    <p:sldId id="261" r:id="rId28"/>
    <p:sldId id="29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6022DD4B-7B47-4A57-A43E-7FAEFC39DFFF}">
          <p14:sldIdLst>
            <p14:sldId id="256"/>
            <p14:sldId id="257"/>
          </p14:sldIdLst>
        </p14:section>
        <p14:section name="FinFET" id="{51455E86-B082-45D9-9830-2211A3D62333}">
          <p14:sldIdLst>
            <p14:sldId id="278"/>
            <p14:sldId id="266"/>
            <p14:sldId id="268"/>
            <p14:sldId id="284"/>
            <p14:sldId id="269"/>
            <p14:sldId id="270"/>
            <p14:sldId id="271"/>
            <p14:sldId id="274"/>
            <p14:sldId id="285"/>
            <p14:sldId id="282"/>
            <p14:sldId id="267"/>
            <p14:sldId id="275"/>
            <p14:sldId id="289"/>
          </p14:sldIdLst>
        </p14:section>
        <p14:section name="FD-SOI" id="{CE342A86-2518-4D20-9A03-C5BBD8ABA6A0}">
          <p14:sldIdLst>
            <p14:sldId id="262"/>
            <p14:sldId id="277"/>
            <p14:sldId id="264"/>
            <p14:sldId id="297"/>
            <p14:sldId id="265"/>
            <p14:sldId id="293"/>
            <p14:sldId id="298"/>
            <p14:sldId id="291"/>
            <p14:sldId id="296"/>
            <p14:sldId id="294"/>
          </p14:sldIdLst>
        </p14:section>
        <p14:section name="References" id="{8B22359E-01F3-4B46-B378-E878E466909F}">
          <p14:sldIdLst>
            <p14:sldId id="260"/>
            <p14:sldId id="261"/>
            <p14:sldId id="29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100"/>
    <a:srgbClr val="F7FE98"/>
    <a:srgbClr val="953434"/>
    <a:srgbClr val="00BD03"/>
    <a:srgbClr val="CCFFCC"/>
    <a:srgbClr val="FFCCCC"/>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1247FA-FAC4-4C5F-986E-07470AD2E9DC}" v="87" dt="2025-12-14T20:22:49.285"/>
    <p1510:client id="{F638A1DE-F622-441D-F332-9C204E440745}" v="31" dt="2025-12-14T16:18:17.5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40fac2eb-f379-4b09-b655-243ff8c9739d::" providerId="AD" clId="Web-{F638A1DE-F622-441D-F332-9C204E440745}"/>
    <pc:docChg chg="modSld">
      <pc:chgData name="Guest User" userId="S::urn:spo:tenantanon#40fac2eb-f379-4b09-b655-243ff8c9739d::" providerId="AD" clId="Web-{F638A1DE-F622-441D-F332-9C204E440745}" dt="2025-12-14T16:18:17.572" v="33" actId="20577"/>
      <pc:docMkLst>
        <pc:docMk/>
      </pc:docMkLst>
      <pc:sldChg chg="modSp">
        <pc:chgData name="Guest User" userId="S::urn:spo:tenantanon#40fac2eb-f379-4b09-b655-243ff8c9739d::" providerId="AD" clId="Web-{F638A1DE-F622-441D-F332-9C204E440745}" dt="2025-12-14T16:07:18.189" v="23" actId="20577"/>
        <pc:sldMkLst>
          <pc:docMk/>
          <pc:sldMk cId="1632494140" sldId="257"/>
        </pc:sldMkLst>
        <pc:spChg chg="mod">
          <ac:chgData name="Guest User" userId="S::urn:spo:tenantanon#40fac2eb-f379-4b09-b655-243ff8c9739d::" providerId="AD" clId="Web-{F638A1DE-F622-441D-F332-9C204E440745}" dt="2025-12-14T16:07:18.189" v="23" actId="20577"/>
          <ac:spMkLst>
            <pc:docMk/>
            <pc:sldMk cId="1632494140" sldId="257"/>
            <ac:spMk id="3" creationId="{7D3D5ADB-00C4-71BA-945F-2CB949D37877}"/>
          </ac:spMkLst>
        </pc:spChg>
      </pc:sldChg>
      <pc:sldChg chg="modSp">
        <pc:chgData name="Guest User" userId="S::urn:spo:tenantanon#40fac2eb-f379-4b09-b655-243ff8c9739d::" providerId="AD" clId="Web-{F638A1DE-F622-441D-F332-9C204E440745}" dt="2025-12-14T16:16:50.692" v="29" actId="20577"/>
        <pc:sldMkLst>
          <pc:docMk/>
          <pc:sldMk cId="3377128110" sldId="261"/>
        </pc:sldMkLst>
        <pc:spChg chg="mod">
          <ac:chgData name="Guest User" userId="S::urn:spo:tenantanon#40fac2eb-f379-4b09-b655-243ff8c9739d::" providerId="AD" clId="Web-{F638A1DE-F622-441D-F332-9C204E440745}" dt="2025-12-14T16:16:50.692" v="29" actId="20577"/>
          <ac:spMkLst>
            <pc:docMk/>
            <pc:sldMk cId="3377128110" sldId="261"/>
            <ac:spMk id="3" creationId="{2AE4661D-D667-2F42-CA4E-E04347ADC6D8}"/>
          </ac:spMkLst>
        </pc:spChg>
      </pc:sldChg>
      <pc:sldChg chg="modSp">
        <pc:chgData name="Guest User" userId="S::urn:spo:tenantanon#40fac2eb-f379-4b09-b655-243ff8c9739d::" providerId="AD" clId="Web-{F638A1DE-F622-441D-F332-9C204E440745}" dt="2025-12-13T21:21:52.719" v="0" actId="20577"/>
        <pc:sldMkLst>
          <pc:docMk/>
          <pc:sldMk cId="312196631" sldId="266"/>
        </pc:sldMkLst>
        <pc:spChg chg="mod">
          <ac:chgData name="Guest User" userId="S::urn:spo:tenantanon#40fac2eb-f379-4b09-b655-243ff8c9739d::" providerId="AD" clId="Web-{F638A1DE-F622-441D-F332-9C204E440745}" dt="2025-12-13T21:21:52.719" v="0" actId="20577"/>
          <ac:spMkLst>
            <pc:docMk/>
            <pc:sldMk cId="312196631" sldId="266"/>
            <ac:spMk id="25" creationId="{B823B587-AD0B-5169-F55B-73E1336856A4}"/>
          </ac:spMkLst>
        </pc:spChg>
      </pc:sldChg>
      <pc:sldChg chg="modSp">
        <pc:chgData name="Guest User" userId="S::urn:spo:tenantanon#40fac2eb-f379-4b09-b655-243ff8c9739d::" providerId="AD" clId="Web-{F638A1DE-F622-441D-F332-9C204E440745}" dt="2025-12-14T16:18:17.572" v="33" actId="20577"/>
        <pc:sldMkLst>
          <pc:docMk/>
          <pc:sldMk cId="4225560103" sldId="290"/>
        </pc:sldMkLst>
        <pc:spChg chg="mod">
          <ac:chgData name="Guest User" userId="S::urn:spo:tenantanon#40fac2eb-f379-4b09-b655-243ff8c9739d::" providerId="AD" clId="Web-{F638A1DE-F622-441D-F332-9C204E440745}" dt="2025-12-14T16:18:17.572" v="33" actId="20577"/>
          <ac:spMkLst>
            <pc:docMk/>
            <pc:sldMk cId="4225560103" sldId="290"/>
            <ac:spMk id="3" creationId="{09182A00-8EF3-4977-C886-9C50E849C2F9}"/>
          </ac:spMkLst>
        </pc:spChg>
      </pc:sldChg>
    </pc:docChg>
  </pc:docChgLst>
  <pc:docChgLst>
    <pc:chgData name="Antonios Kapetanios" userId="43a1a494-f625-406b-b16e-d4652e07a32c" providerId="ADAL" clId="{71CF4EBD-0859-4029-8E29-439D409FE13A}"/>
    <pc:docChg chg="undo custSel addSld delSld modSld sldOrd modMainMaster addSection delSection modSection modNotesMaster modHandout">
      <pc:chgData name="Antonios Kapetanios" userId="43a1a494-f625-406b-b16e-d4652e07a32c" providerId="ADAL" clId="{71CF4EBD-0859-4029-8E29-439D409FE13A}" dt="2025-11-19T11:12:59.947" v="8422" actId="20577"/>
      <pc:docMkLst>
        <pc:docMk/>
      </pc:docMkLst>
      <pc:sldChg chg="modSp new mod modTransition">
        <pc:chgData name="Antonios Kapetanios" userId="43a1a494-f625-406b-b16e-d4652e07a32c" providerId="ADAL" clId="{71CF4EBD-0859-4029-8E29-439D409FE13A}" dt="2025-11-18T20:53:18.966" v="7858" actId="27636"/>
        <pc:sldMkLst>
          <pc:docMk/>
          <pc:sldMk cId="1426240618" sldId="260"/>
        </pc:sldMkLst>
        <pc:spChg chg="mod">
          <ac:chgData name="Antonios Kapetanios" userId="43a1a494-f625-406b-b16e-d4652e07a32c" providerId="ADAL" clId="{71CF4EBD-0859-4029-8E29-439D409FE13A}" dt="2025-11-18T20:53:18.966" v="7858" actId="27636"/>
          <ac:spMkLst>
            <pc:docMk/>
            <pc:sldMk cId="1426240618" sldId="260"/>
            <ac:spMk id="3" creationId="{0BACC56F-5ED5-A977-6FDA-2BB170C0F02C}"/>
          </ac:spMkLst>
        </pc:spChg>
      </pc:sldChg>
      <pc:sldChg chg="addSp delSp modSp add mod modTransition">
        <pc:chgData name="Antonios Kapetanios" userId="43a1a494-f625-406b-b16e-d4652e07a32c" providerId="ADAL" clId="{71CF4EBD-0859-4029-8E29-439D409FE13A}" dt="2025-11-18T20:52:51.214" v="7854" actId="27636"/>
        <pc:sldMkLst>
          <pc:docMk/>
          <pc:sldMk cId="3377128110" sldId="261"/>
        </pc:sldMkLst>
        <pc:spChg chg="mod ord">
          <ac:chgData name="Antonios Kapetanios" userId="43a1a494-f625-406b-b16e-d4652e07a32c" providerId="ADAL" clId="{71CF4EBD-0859-4029-8E29-439D409FE13A}" dt="2025-11-18T20:52:51.214" v="7854" actId="27636"/>
          <ac:spMkLst>
            <pc:docMk/>
            <pc:sldMk cId="3377128110" sldId="261"/>
            <ac:spMk id="3" creationId="{2AE4661D-D667-2F42-CA4E-E04347ADC6D8}"/>
          </ac:spMkLst>
        </pc:spChg>
      </pc:sldChg>
      <pc:sldChg chg="addSp delSp modSp add mod ord modTransition modClrScheme chgLayout modNotesTx">
        <pc:chgData name="Antonios Kapetanios" userId="43a1a494-f625-406b-b16e-d4652e07a32c" providerId="ADAL" clId="{71CF4EBD-0859-4029-8E29-439D409FE13A}" dt="2025-11-18T21:13:19.601" v="8167" actId="14100"/>
        <pc:sldMkLst>
          <pc:docMk/>
          <pc:sldMk cId="2509076916" sldId="277"/>
        </pc:sldMkLst>
        <pc:spChg chg="add mod ord">
          <ac:chgData name="Antonios Kapetanios" userId="43a1a494-f625-406b-b16e-d4652e07a32c" providerId="ADAL" clId="{71CF4EBD-0859-4029-8E29-439D409FE13A}" dt="2025-11-18T21:13:19.601" v="8167" actId="14100"/>
          <ac:spMkLst>
            <pc:docMk/>
            <pc:sldMk cId="2509076916" sldId="277"/>
            <ac:spMk id="16" creationId="{8B9F36AE-994A-E370-8CAC-89C39248EE0A}"/>
          </ac:spMkLst>
        </pc:spChg>
      </pc:sldChg>
      <pc:sldChg chg="modSp mod modTransition">
        <pc:chgData name="Antonios Kapetanios" userId="43a1a494-f625-406b-b16e-d4652e07a32c" providerId="ADAL" clId="{71CF4EBD-0859-4029-8E29-439D409FE13A}" dt="2025-11-18T20:52:56.352" v="7855" actId="2710"/>
        <pc:sldMkLst>
          <pc:docMk/>
          <pc:sldMk cId="4225560103" sldId="290"/>
        </pc:sldMkLst>
        <pc:spChg chg="mod">
          <ac:chgData name="Antonios Kapetanios" userId="43a1a494-f625-406b-b16e-d4652e07a32c" providerId="ADAL" clId="{71CF4EBD-0859-4029-8E29-439D409FE13A}" dt="2025-11-18T20:52:56.352" v="7855" actId="2710"/>
          <ac:spMkLst>
            <pc:docMk/>
            <pc:sldMk cId="4225560103" sldId="290"/>
            <ac:spMk id="3" creationId="{09182A00-8EF3-4977-C886-9C50E849C2F9}"/>
          </ac:spMkLst>
        </pc:spChg>
      </pc:sldChg>
      <pc:sldChg chg="addSp delSp modSp add mod ord modTransition modNotesTx">
        <pc:chgData name="Antonios Kapetanios" userId="43a1a494-f625-406b-b16e-d4652e07a32c" providerId="ADAL" clId="{71CF4EBD-0859-4029-8E29-439D409FE13A}" dt="2025-11-19T11:11:03.462" v="8421" actId="20577"/>
        <pc:sldMkLst>
          <pc:docMk/>
          <pc:sldMk cId="662341144" sldId="291"/>
        </pc:sldMkLst>
        <pc:spChg chg="add mod">
          <ac:chgData name="Antonios Kapetanios" userId="43a1a494-f625-406b-b16e-d4652e07a32c" providerId="ADAL" clId="{71CF4EBD-0859-4029-8E29-439D409FE13A}" dt="2025-11-19T11:11:03.462" v="8421" actId="20577"/>
          <ac:spMkLst>
            <pc:docMk/>
            <pc:sldMk cId="662341144" sldId="291"/>
            <ac:spMk id="16" creationId="{566D5E6C-80E8-4CFF-FF59-138DFF5C9627}"/>
          </ac:spMkLst>
        </pc:spChg>
        <pc:spChg chg="add mod">
          <ac:chgData name="Antonios Kapetanios" userId="43a1a494-f625-406b-b16e-d4652e07a32c" providerId="ADAL" clId="{71CF4EBD-0859-4029-8E29-439D409FE13A}" dt="2025-11-18T21:15:55.917" v="8236" actId="20577"/>
          <ac:spMkLst>
            <pc:docMk/>
            <pc:sldMk cId="662341144" sldId="291"/>
            <ac:spMk id="17" creationId="{7308A908-A9AB-577D-D6BC-24D394E9B633}"/>
          </ac:spMkLst>
        </pc:spChg>
        <pc:picChg chg="add mod">
          <ac:chgData name="Antonios Kapetanios" userId="43a1a494-f625-406b-b16e-d4652e07a32c" providerId="ADAL" clId="{71CF4EBD-0859-4029-8E29-439D409FE13A}" dt="2025-11-19T10:13:52.691" v="8246" actId="14826"/>
          <ac:picMkLst>
            <pc:docMk/>
            <pc:sldMk cId="662341144" sldId="291"/>
            <ac:picMk id="9" creationId="{327C3E63-9071-0A3D-CA34-03034384A0C7}"/>
          </ac:picMkLst>
        </pc:picChg>
      </pc:sldChg>
      <pc:sldChg chg="addSp delSp modSp add mod ord modTransition modNotesTx">
        <pc:chgData name="Antonios Kapetanios" userId="43a1a494-f625-406b-b16e-d4652e07a32c" providerId="ADAL" clId="{71CF4EBD-0859-4029-8E29-439D409FE13A}" dt="2025-11-18T20:56:06.770" v="7862" actId="12788"/>
        <pc:sldMkLst>
          <pc:docMk/>
          <pc:sldMk cId="749799033" sldId="293"/>
        </pc:sldMkLst>
        <pc:picChg chg="add mod ord">
          <ac:chgData name="Antonios Kapetanios" userId="43a1a494-f625-406b-b16e-d4652e07a32c" providerId="ADAL" clId="{71CF4EBD-0859-4029-8E29-439D409FE13A}" dt="2025-11-18T20:56:06.770" v="7862" actId="12788"/>
          <ac:picMkLst>
            <pc:docMk/>
            <pc:sldMk cId="749799033" sldId="293"/>
            <ac:picMk id="15" creationId="{E7D2834C-0359-935E-2AAE-D4DB9FFC9752}"/>
          </ac:picMkLst>
        </pc:picChg>
      </pc:sldChg>
      <pc:sldChg chg="addSp delSp modSp add mod">
        <pc:chgData name="Antonios Kapetanios" userId="43a1a494-f625-406b-b16e-d4652e07a32c" providerId="ADAL" clId="{71CF4EBD-0859-4029-8E29-439D409FE13A}" dt="2025-11-19T11:12:59.947" v="8422" actId="20577"/>
        <pc:sldMkLst>
          <pc:docMk/>
          <pc:sldMk cId="4171888876" sldId="294"/>
        </pc:sldMkLst>
        <pc:spChg chg="mod ord">
          <ac:chgData name="Antonios Kapetanios" userId="43a1a494-f625-406b-b16e-d4652e07a32c" providerId="ADAL" clId="{71CF4EBD-0859-4029-8E29-439D409FE13A}" dt="2025-11-19T11:12:59.947" v="8422" actId="20577"/>
          <ac:spMkLst>
            <pc:docMk/>
            <pc:sldMk cId="4171888876" sldId="294"/>
            <ac:spMk id="16" creationId="{06B4B22D-26C8-7FB0-FB2E-975980A0F7FC}"/>
          </ac:spMkLst>
        </pc:spChg>
        <pc:picChg chg="add mod">
          <ac:chgData name="Antonios Kapetanios" userId="43a1a494-f625-406b-b16e-d4652e07a32c" providerId="ADAL" clId="{71CF4EBD-0859-4029-8E29-439D409FE13A}" dt="2025-11-19T10:23:03.875" v="8259" actId="12788"/>
          <ac:picMkLst>
            <pc:docMk/>
            <pc:sldMk cId="4171888876" sldId="294"/>
            <ac:picMk id="14" creationId="{F1AFD058-E554-7F84-4CC8-4937FB3DB746}"/>
          </ac:picMkLst>
        </pc:picChg>
      </pc:sldChg>
      <pc:sldChg chg="addSp delSp modSp add mod">
        <pc:chgData name="Antonios Kapetanios" userId="43a1a494-f625-406b-b16e-d4652e07a32c" providerId="ADAL" clId="{71CF4EBD-0859-4029-8E29-439D409FE13A}" dt="2025-11-19T10:09:25.046" v="8245" actId="12788"/>
        <pc:sldMkLst>
          <pc:docMk/>
          <pc:sldMk cId="1071882021" sldId="296"/>
        </pc:sldMkLst>
        <pc:spChg chg="mod">
          <ac:chgData name="Antonios Kapetanios" userId="43a1a494-f625-406b-b16e-d4652e07a32c" providerId="ADAL" clId="{71CF4EBD-0859-4029-8E29-439D409FE13A}" dt="2025-11-19T10:01:40.991" v="8238" actId="20577"/>
          <ac:spMkLst>
            <pc:docMk/>
            <pc:sldMk cId="1071882021" sldId="296"/>
            <ac:spMk id="16" creationId="{54823632-9994-3EF5-A054-32DA35AB01F8}"/>
          </ac:spMkLst>
        </pc:spChg>
        <pc:picChg chg="add mod">
          <ac:chgData name="Antonios Kapetanios" userId="43a1a494-f625-406b-b16e-d4652e07a32c" providerId="ADAL" clId="{71CF4EBD-0859-4029-8E29-439D409FE13A}" dt="2025-11-19T10:09:25.046" v="8245" actId="12788"/>
          <ac:picMkLst>
            <pc:docMk/>
            <pc:sldMk cId="1071882021" sldId="296"/>
            <ac:picMk id="9" creationId="{58590CCA-B105-64A3-A3B1-C2CD1AAB2EAE}"/>
          </ac:picMkLst>
        </pc:picChg>
      </pc:sldChg>
      <pc:sldChg chg="addSp delSp modSp add mod modNotesTx">
        <pc:chgData name="Antonios Kapetanios" userId="43a1a494-f625-406b-b16e-d4652e07a32c" providerId="ADAL" clId="{71CF4EBD-0859-4029-8E29-439D409FE13A}" dt="2025-11-15T17:08:58.507" v="6481" actId="20577"/>
        <pc:sldMkLst>
          <pc:docMk/>
          <pc:sldMk cId="809524125" sldId="297"/>
        </pc:sldMkLst>
        <pc:spChg chg="add del mod">
          <ac:chgData name="Antonios Kapetanios" userId="43a1a494-f625-406b-b16e-d4652e07a32c" providerId="ADAL" clId="{71CF4EBD-0859-4029-8E29-439D409FE13A}" dt="2025-11-15T17:08:51.804" v="6480" actId="20577"/>
          <ac:spMkLst>
            <pc:docMk/>
            <pc:sldMk cId="809524125" sldId="297"/>
            <ac:spMk id="3" creationId="{AAE8C1AF-5111-B52A-05BF-A30C861836AF}"/>
          </ac:spMkLst>
        </pc:spChg>
        <pc:spChg chg="mod">
          <ac:chgData name="Antonios Kapetanios" userId="43a1a494-f625-406b-b16e-d4652e07a32c" providerId="ADAL" clId="{71CF4EBD-0859-4029-8E29-439D409FE13A}" dt="2025-11-15T17:00:02.930" v="6193" actId="27636"/>
          <ac:spMkLst>
            <pc:docMk/>
            <pc:sldMk cId="809524125" sldId="297"/>
            <ac:spMk id="149" creationId="{76E73775-0241-DE7A-D199-47E49A1210CF}"/>
          </ac:spMkLst>
        </pc:spChg>
      </pc:sldChg>
      <pc:sldChg chg="addSp delSp modSp add mod">
        <pc:chgData name="Antonios Kapetanios" userId="43a1a494-f625-406b-b16e-d4652e07a32c" providerId="ADAL" clId="{71CF4EBD-0859-4029-8E29-439D409FE13A}" dt="2025-11-19T11:10:19.246" v="8404" actId="20577"/>
        <pc:sldMkLst>
          <pc:docMk/>
          <pc:sldMk cId="1992251279" sldId="298"/>
        </pc:sldMkLst>
        <pc:spChg chg="mod">
          <ac:chgData name="Antonios Kapetanios" userId="43a1a494-f625-406b-b16e-d4652e07a32c" providerId="ADAL" clId="{71CF4EBD-0859-4029-8E29-439D409FE13A}" dt="2025-11-18T20:35:12.513" v="7559" actId="113"/>
          <ac:spMkLst>
            <pc:docMk/>
            <pc:sldMk cId="1992251279" sldId="298"/>
            <ac:spMk id="2" creationId="{53652380-1782-69FA-C0CE-5BD96C22B022}"/>
          </ac:spMkLst>
        </pc:spChg>
        <pc:spChg chg="add mod ord">
          <ac:chgData name="Antonios Kapetanios" userId="43a1a494-f625-406b-b16e-d4652e07a32c" providerId="ADAL" clId="{71CF4EBD-0859-4029-8E29-439D409FE13A}" dt="2025-11-19T11:10:19.246" v="8404" actId="20577"/>
          <ac:spMkLst>
            <pc:docMk/>
            <pc:sldMk cId="1992251279" sldId="298"/>
            <ac:spMk id="17" creationId="{95DE7EEA-2021-3D67-905A-4AE4D74B77BF}"/>
          </ac:spMkLst>
        </pc:spChg>
        <pc:picChg chg="add mod">
          <ac:chgData name="Antonios Kapetanios" userId="43a1a494-f625-406b-b16e-d4652e07a32c" providerId="ADAL" clId="{71CF4EBD-0859-4029-8E29-439D409FE13A}" dt="2025-11-19T10:26:39.460" v="8288" actId="1076"/>
          <ac:picMkLst>
            <pc:docMk/>
            <pc:sldMk cId="1992251279" sldId="298"/>
            <ac:picMk id="4" creationId="{7BD16F58-B0D4-B450-0F22-A1C751C0BBC6}"/>
          </ac:picMkLst>
        </pc:picChg>
        <pc:picChg chg="add mod ord">
          <ac:chgData name="Antonios Kapetanios" userId="43a1a494-f625-406b-b16e-d4652e07a32c" providerId="ADAL" clId="{71CF4EBD-0859-4029-8E29-439D409FE13A}" dt="2025-11-19T11:01:35.735" v="8311" actId="1076"/>
          <ac:picMkLst>
            <pc:docMk/>
            <pc:sldMk cId="1992251279" sldId="298"/>
            <ac:picMk id="11" creationId="{17335B42-B5DC-1193-344E-A71C2E27F717}"/>
          </ac:picMkLst>
        </pc:picChg>
      </pc:sldChg>
    </pc:docChg>
  </pc:docChgLst>
  <pc:docChgLst>
    <pc:chgData name="Antonios Kapetanios" userId="43a1a494-f625-406b-b16e-d4652e07a32c" providerId="ADAL" clId="{1583B0D2-D6E7-4572-90EE-1F42D33D55CE}"/>
    <pc:docChg chg="custSel delSld modSld sldOrd modSection">
      <pc:chgData name="Antonios Kapetanios" userId="43a1a494-f625-406b-b16e-d4652e07a32c" providerId="ADAL" clId="{1583B0D2-D6E7-4572-90EE-1F42D33D55CE}" dt="2025-12-14T20:23:22.952" v="221" actId="12788"/>
      <pc:docMkLst>
        <pc:docMk/>
      </pc:docMkLst>
      <pc:sldChg chg="addSp modSp mod">
        <pc:chgData name="Antonios Kapetanios" userId="43a1a494-f625-406b-b16e-d4652e07a32c" providerId="ADAL" clId="{1583B0D2-D6E7-4572-90EE-1F42D33D55CE}" dt="2025-12-14T20:23:22.952" v="221" actId="12788"/>
        <pc:sldMkLst>
          <pc:docMk/>
          <pc:sldMk cId="1978751451" sldId="256"/>
        </pc:sldMkLst>
        <pc:grpChg chg="add mod">
          <ac:chgData name="Antonios Kapetanios" userId="43a1a494-f625-406b-b16e-d4652e07a32c" providerId="ADAL" clId="{1583B0D2-D6E7-4572-90EE-1F42D33D55CE}" dt="2025-12-14T20:23:22.952" v="221" actId="12788"/>
          <ac:grpSpMkLst>
            <pc:docMk/>
            <pc:sldMk cId="1978751451" sldId="256"/>
            <ac:grpSpMk id="3" creationId="{9D304272-AFC5-531E-6374-B4444433F449}"/>
          </ac:grpSpMkLst>
        </pc:grpChg>
        <pc:picChg chg="add mod">
          <ac:chgData name="Antonios Kapetanios" userId="43a1a494-f625-406b-b16e-d4652e07a32c" providerId="ADAL" clId="{1583B0D2-D6E7-4572-90EE-1F42D33D55CE}" dt="2025-12-14T20:23:16.816" v="220" actId="1076"/>
          <ac:picMkLst>
            <pc:docMk/>
            <pc:sldMk cId="1978751451" sldId="256"/>
            <ac:picMk id="2" creationId="{D5AB0AD2-B4BE-80E0-B1D8-12AEA505B478}"/>
          </ac:picMkLst>
        </pc:picChg>
        <pc:picChg chg="mod">
          <ac:chgData name="Antonios Kapetanios" userId="43a1a494-f625-406b-b16e-d4652e07a32c" providerId="ADAL" clId="{1583B0D2-D6E7-4572-90EE-1F42D33D55CE}" dt="2025-12-14T20:22:49.283" v="217" actId="164"/>
          <ac:picMkLst>
            <pc:docMk/>
            <pc:sldMk cId="1978751451" sldId="256"/>
            <ac:picMk id="9" creationId="{A146145A-ADE7-CB68-1160-047EDDE363A6}"/>
          </ac:picMkLst>
        </pc:picChg>
      </pc:sldChg>
      <pc:sldChg chg="modSp mod">
        <pc:chgData name="Antonios Kapetanios" userId="43a1a494-f625-406b-b16e-d4652e07a32c" providerId="ADAL" clId="{1583B0D2-D6E7-4572-90EE-1F42D33D55CE}" dt="2025-12-14T12:40:40.865" v="136" actId="20577"/>
        <pc:sldMkLst>
          <pc:docMk/>
          <pc:sldMk cId="1426240618" sldId="260"/>
        </pc:sldMkLst>
        <pc:spChg chg="mod">
          <ac:chgData name="Antonios Kapetanios" userId="43a1a494-f625-406b-b16e-d4652e07a32c" providerId="ADAL" clId="{1583B0D2-D6E7-4572-90EE-1F42D33D55CE}" dt="2025-12-14T12:40:40.865" v="136" actId="20577"/>
          <ac:spMkLst>
            <pc:docMk/>
            <pc:sldMk cId="1426240618" sldId="260"/>
            <ac:spMk id="3" creationId="{0BACC56F-5ED5-A977-6FDA-2BB170C0F02C}"/>
          </ac:spMkLst>
        </pc:spChg>
      </pc:sldChg>
      <pc:sldChg chg="modSp mod">
        <pc:chgData name="Antonios Kapetanios" userId="43a1a494-f625-406b-b16e-d4652e07a32c" providerId="ADAL" clId="{1583B0D2-D6E7-4572-90EE-1F42D33D55CE}" dt="2025-12-14T20:18:26.095" v="211" actId="20577"/>
        <pc:sldMkLst>
          <pc:docMk/>
          <pc:sldMk cId="3377128110" sldId="261"/>
        </pc:sldMkLst>
        <pc:spChg chg="mod">
          <ac:chgData name="Antonios Kapetanios" userId="43a1a494-f625-406b-b16e-d4652e07a32c" providerId="ADAL" clId="{1583B0D2-D6E7-4572-90EE-1F42D33D55CE}" dt="2025-12-14T20:18:26.095" v="211" actId="20577"/>
          <ac:spMkLst>
            <pc:docMk/>
            <pc:sldMk cId="3377128110" sldId="261"/>
            <ac:spMk id="3" creationId="{2AE4661D-D667-2F42-CA4E-E04347ADC6D8}"/>
          </ac:spMkLst>
        </pc:spChg>
      </pc:sldChg>
      <pc:sldChg chg="modSp mod modNotesTx">
        <pc:chgData name="Antonios Kapetanios" userId="43a1a494-f625-406b-b16e-d4652e07a32c" providerId="ADAL" clId="{1583B0D2-D6E7-4572-90EE-1F42D33D55CE}" dt="2025-12-14T12:42:43.976" v="170" actId="5793"/>
        <pc:sldMkLst>
          <pc:docMk/>
          <pc:sldMk cId="2509076916" sldId="277"/>
        </pc:sldMkLst>
        <pc:spChg chg="mod">
          <ac:chgData name="Antonios Kapetanios" userId="43a1a494-f625-406b-b16e-d4652e07a32c" providerId="ADAL" clId="{1583B0D2-D6E7-4572-90EE-1F42D33D55CE}" dt="2025-11-29T12:25:56.317" v="0" actId="20577"/>
          <ac:spMkLst>
            <pc:docMk/>
            <pc:sldMk cId="2509076916" sldId="277"/>
            <ac:spMk id="16" creationId="{8B9F36AE-994A-E370-8CAC-89C39248EE0A}"/>
          </ac:spMkLst>
        </pc:spChg>
      </pc:sldChg>
      <pc:sldChg chg="del mod modShow modNotesTx">
        <pc:chgData name="Antonios Kapetanios" userId="43a1a494-f625-406b-b16e-d4652e07a32c" providerId="ADAL" clId="{1583B0D2-D6E7-4572-90EE-1F42D33D55CE}" dt="2025-12-14T12:39:38.016" v="123" actId="2696"/>
        <pc:sldMkLst>
          <pc:docMk/>
          <pc:sldMk cId="2710107043" sldId="283"/>
        </pc:sldMkLst>
      </pc:sldChg>
      <pc:sldChg chg="modSp mod">
        <pc:chgData name="Antonios Kapetanios" userId="43a1a494-f625-406b-b16e-d4652e07a32c" providerId="ADAL" clId="{1583B0D2-D6E7-4572-90EE-1F42D33D55CE}" dt="2025-12-14T20:16:51.166" v="201" actId="20577"/>
        <pc:sldMkLst>
          <pc:docMk/>
          <pc:sldMk cId="4225560103" sldId="290"/>
        </pc:sldMkLst>
        <pc:spChg chg="mod">
          <ac:chgData name="Antonios Kapetanios" userId="43a1a494-f625-406b-b16e-d4652e07a32c" providerId="ADAL" clId="{1583B0D2-D6E7-4572-90EE-1F42D33D55CE}" dt="2025-12-14T20:16:51.166" v="201" actId="20577"/>
          <ac:spMkLst>
            <pc:docMk/>
            <pc:sldMk cId="4225560103" sldId="290"/>
            <ac:spMk id="3" creationId="{09182A00-8EF3-4977-C886-9C50E849C2F9}"/>
          </ac:spMkLst>
        </pc:spChg>
      </pc:sldChg>
      <pc:sldChg chg="modSp mod">
        <pc:chgData name="Antonios Kapetanios" userId="43a1a494-f625-406b-b16e-d4652e07a32c" providerId="ADAL" clId="{1583B0D2-D6E7-4572-90EE-1F42D33D55CE}" dt="2025-12-14T12:39:52.801" v="126" actId="20577"/>
        <pc:sldMkLst>
          <pc:docMk/>
          <pc:sldMk cId="662341144" sldId="291"/>
        </pc:sldMkLst>
        <pc:spChg chg="mod">
          <ac:chgData name="Antonios Kapetanios" userId="43a1a494-f625-406b-b16e-d4652e07a32c" providerId="ADAL" clId="{1583B0D2-D6E7-4572-90EE-1F42D33D55CE}" dt="2025-12-14T12:39:52.801" v="126" actId="20577"/>
          <ac:spMkLst>
            <pc:docMk/>
            <pc:sldMk cId="662341144" sldId="291"/>
            <ac:spMk id="17" creationId="{7308A908-A9AB-577D-D6BC-24D394E9B633}"/>
          </ac:spMkLst>
        </pc:spChg>
      </pc:sldChg>
      <pc:sldChg chg="modSp mod">
        <pc:chgData name="Antonios Kapetanios" userId="43a1a494-f625-406b-b16e-d4652e07a32c" providerId="ADAL" clId="{1583B0D2-D6E7-4572-90EE-1F42D33D55CE}" dt="2025-12-14T12:39:48.578" v="125" actId="20577"/>
        <pc:sldMkLst>
          <pc:docMk/>
          <pc:sldMk cId="749799033" sldId="293"/>
        </pc:sldMkLst>
        <pc:spChg chg="mod">
          <ac:chgData name="Antonios Kapetanios" userId="43a1a494-f625-406b-b16e-d4652e07a32c" providerId="ADAL" clId="{1583B0D2-D6E7-4572-90EE-1F42D33D55CE}" dt="2025-12-14T12:39:48.578" v="125" actId="20577"/>
          <ac:spMkLst>
            <pc:docMk/>
            <pc:sldMk cId="749799033" sldId="293"/>
            <ac:spMk id="23" creationId="{FC747CD9-D25F-FBAD-FA2C-C5B9F77EA6A1}"/>
          </ac:spMkLst>
        </pc:spChg>
      </pc:sldChg>
      <pc:sldChg chg="modSp mod">
        <pc:chgData name="Antonios Kapetanios" userId="43a1a494-f625-406b-b16e-d4652e07a32c" providerId="ADAL" clId="{1583B0D2-D6E7-4572-90EE-1F42D33D55CE}" dt="2025-12-14T20:18:42.002" v="212" actId="12788"/>
        <pc:sldMkLst>
          <pc:docMk/>
          <pc:sldMk cId="4171888876" sldId="294"/>
        </pc:sldMkLst>
        <pc:spChg chg="mod">
          <ac:chgData name="Antonios Kapetanios" userId="43a1a494-f625-406b-b16e-d4652e07a32c" providerId="ADAL" clId="{1583B0D2-D6E7-4572-90EE-1F42D33D55CE}" dt="2025-12-05T17:27:08.049" v="19" actId="20577"/>
          <ac:spMkLst>
            <pc:docMk/>
            <pc:sldMk cId="4171888876" sldId="294"/>
            <ac:spMk id="2" creationId="{73FF8B81-864C-4336-5297-E25533E9153E}"/>
          </ac:spMkLst>
        </pc:spChg>
        <pc:spChg chg="mod">
          <ac:chgData name="Antonios Kapetanios" userId="43a1a494-f625-406b-b16e-d4652e07a32c" providerId="ADAL" clId="{1583B0D2-D6E7-4572-90EE-1F42D33D55CE}" dt="2025-12-14T12:40:06.180" v="131" actId="20577"/>
          <ac:spMkLst>
            <pc:docMk/>
            <pc:sldMk cId="4171888876" sldId="294"/>
            <ac:spMk id="16" creationId="{06B4B22D-26C8-7FB0-FB2E-975980A0F7FC}"/>
          </ac:spMkLst>
        </pc:spChg>
        <pc:picChg chg="mod">
          <ac:chgData name="Antonios Kapetanios" userId="43a1a494-f625-406b-b16e-d4652e07a32c" providerId="ADAL" clId="{1583B0D2-D6E7-4572-90EE-1F42D33D55CE}" dt="2025-12-14T20:18:42.002" v="212" actId="12788"/>
          <ac:picMkLst>
            <pc:docMk/>
            <pc:sldMk cId="4171888876" sldId="294"/>
            <ac:picMk id="14" creationId="{F1AFD058-E554-7F84-4CC8-4937FB3DB746}"/>
          </ac:picMkLst>
        </pc:picChg>
      </pc:sldChg>
      <pc:sldChg chg="modSp mod ord">
        <pc:chgData name="Antonios Kapetanios" userId="43a1a494-f625-406b-b16e-d4652e07a32c" providerId="ADAL" clId="{1583B0D2-D6E7-4572-90EE-1F42D33D55CE}" dt="2025-12-14T12:39:56.361" v="127" actId="20577"/>
        <pc:sldMkLst>
          <pc:docMk/>
          <pc:sldMk cId="1071882021" sldId="296"/>
        </pc:sldMkLst>
        <pc:spChg chg="mod">
          <ac:chgData name="Antonios Kapetanios" userId="43a1a494-f625-406b-b16e-d4652e07a32c" providerId="ADAL" clId="{1583B0D2-D6E7-4572-90EE-1F42D33D55CE}" dt="2025-12-05T17:26:02.826" v="6" actId="20577"/>
          <ac:spMkLst>
            <pc:docMk/>
            <pc:sldMk cId="1071882021" sldId="296"/>
            <ac:spMk id="2" creationId="{1E6DACCC-88AB-3BDC-5F47-D137F693647A}"/>
          </ac:spMkLst>
        </pc:spChg>
        <pc:spChg chg="mod">
          <ac:chgData name="Antonios Kapetanios" userId="43a1a494-f625-406b-b16e-d4652e07a32c" providerId="ADAL" clId="{1583B0D2-D6E7-4572-90EE-1F42D33D55CE}" dt="2025-12-14T12:39:56.361" v="127" actId="20577"/>
          <ac:spMkLst>
            <pc:docMk/>
            <pc:sldMk cId="1071882021" sldId="296"/>
            <ac:spMk id="16" creationId="{54823632-9994-3EF5-A054-32DA35AB01F8}"/>
          </ac:spMkLst>
        </pc:spChg>
      </pc:sldChg>
      <pc:sldChg chg="modSp mod modNotesTx">
        <pc:chgData name="Antonios Kapetanios" userId="43a1a494-f625-406b-b16e-d4652e07a32c" providerId="ADAL" clId="{1583B0D2-D6E7-4572-90EE-1F42D33D55CE}" dt="2025-12-14T12:42:47.123" v="171" actId="5793"/>
        <pc:sldMkLst>
          <pc:docMk/>
          <pc:sldMk cId="809524125" sldId="297"/>
        </pc:sldMkLst>
        <pc:spChg chg="mod">
          <ac:chgData name="Antonios Kapetanios" userId="43a1a494-f625-406b-b16e-d4652e07a32c" providerId="ADAL" clId="{1583B0D2-D6E7-4572-90EE-1F42D33D55CE}" dt="2025-12-14T12:39:44.964" v="124" actId="20577"/>
          <ac:spMkLst>
            <pc:docMk/>
            <pc:sldMk cId="809524125" sldId="297"/>
            <ac:spMk id="149" creationId="{76E73775-0241-DE7A-D199-47E49A1210CF}"/>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4CF80D-8E7B-4AA7-8B1D-AAB6A53429DF}" type="doc">
      <dgm:prSet loTypeId="urn:microsoft.com/office/officeart/2016/7/layout/BasicTimeline" loCatId="timeline" qsTypeId="urn:microsoft.com/office/officeart/2005/8/quickstyle/simple1" qsCatId="simple" csTypeId="urn:microsoft.com/office/officeart/2005/8/colors/accent1_2" csCatId="accent1" phldr="1"/>
      <dgm:spPr/>
      <dgm:t>
        <a:bodyPr/>
        <a:lstStyle/>
        <a:p>
          <a:endParaRPr lang="en-US"/>
        </a:p>
      </dgm:t>
    </dgm:pt>
    <dgm:pt modelId="{E45D9FE5-713E-4C7C-B41E-4A27DA82F951}">
      <dgm:prSet phldrT="[Text]" phldr="0"/>
      <dgm:spPr/>
      <dgm:t>
        <a:bodyPr/>
        <a:lstStyle/>
        <a:p>
          <a:pPr>
            <a:defRPr b="1"/>
          </a:pPr>
          <a:r>
            <a:rPr lang="en-US" b="0">
              <a:latin typeface="TW Cen MT"/>
            </a:rPr>
            <a:t>1904</a:t>
          </a:r>
        </a:p>
      </dgm:t>
    </dgm:pt>
    <dgm:pt modelId="{949ACA9B-0EEE-4E81-B566-100A8B4E56E2}" type="parTrans" cxnId="{65F73B54-EFA0-49D4-94C3-F1EFB3B84C29}">
      <dgm:prSet/>
      <dgm:spPr/>
      <dgm:t>
        <a:bodyPr/>
        <a:lstStyle/>
        <a:p>
          <a:endParaRPr lang="en-US"/>
        </a:p>
      </dgm:t>
    </dgm:pt>
    <dgm:pt modelId="{7339D626-F113-46D8-B897-DB0CF6E5F3F8}" type="sibTrans" cxnId="{65F73B54-EFA0-49D4-94C3-F1EFB3B84C29}">
      <dgm:prSet/>
      <dgm:spPr/>
      <dgm:t>
        <a:bodyPr/>
        <a:lstStyle/>
        <a:p>
          <a:endParaRPr lang="en-US"/>
        </a:p>
      </dgm:t>
    </dgm:pt>
    <dgm:pt modelId="{C774CB1A-CA30-4DDC-80FE-23C94CE01A34}">
      <dgm:prSet phldrT="[Text]" phldr="0"/>
      <dgm:spPr/>
      <dgm:t>
        <a:bodyPr/>
        <a:lstStyle/>
        <a:p>
          <a:r>
            <a:rPr lang="en-US">
              <a:latin typeface="TW Cen MT"/>
            </a:rPr>
            <a:t>Invention of Bipolar Junction Transistor</a:t>
          </a:r>
        </a:p>
      </dgm:t>
    </dgm:pt>
    <dgm:pt modelId="{1B50872A-DD66-47BE-9AF4-9301E2532C01}" type="parTrans" cxnId="{E5DAE1C1-506C-4139-81D7-C8A0F2DF0F10}">
      <dgm:prSet/>
      <dgm:spPr/>
      <dgm:t>
        <a:bodyPr/>
        <a:lstStyle/>
        <a:p>
          <a:endParaRPr lang="en-US"/>
        </a:p>
      </dgm:t>
    </dgm:pt>
    <dgm:pt modelId="{B9017190-944C-43C0-844F-4F3F864B40A4}" type="sibTrans" cxnId="{E5DAE1C1-506C-4139-81D7-C8A0F2DF0F10}">
      <dgm:prSet/>
      <dgm:spPr/>
      <dgm:t>
        <a:bodyPr/>
        <a:lstStyle/>
        <a:p>
          <a:endParaRPr lang="en-US"/>
        </a:p>
      </dgm:t>
    </dgm:pt>
    <dgm:pt modelId="{C6F74828-4A63-4487-8E21-97E129C47399}">
      <dgm:prSet phldr="0"/>
      <dgm:spPr/>
      <dgm:t>
        <a:bodyPr/>
        <a:lstStyle/>
        <a:p>
          <a:r>
            <a:rPr lang="en-US" err="1">
              <a:latin typeface="TW Cen MT"/>
            </a:rPr>
            <a:t>Vaccum</a:t>
          </a:r>
          <a:r>
            <a:rPr lang="en-US">
              <a:latin typeface="TW Cen MT"/>
            </a:rPr>
            <a:t> Tube</a:t>
          </a:r>
        </a:p>
      </dgm:t>
    </dgm:pt>
    <dgm:pt modelId="{F653BAAC-46E4-40D9-B771-C8F51B880C8C}" type="parTrans" cxnId="{F6B2FD3F-C1C2-4ECB-9EC0-DB16B4B65DC0}">
      <dgm:prSet/>
      <dgm:spPr/>
    </dgm:pt>
    <dgm:pt modelId="{BAAA780F-07D1-4B43-B1D4-8AD3AF1DF879}" type="sibTrans" cxnId="{F6B2FD3F-C1C2-4ECB-9EC0-DB16B4B65DC0}">
      <dgm:prSet/>
      <dgm:spPr/>
    </dgm:pt>
    <dgm:pt modelId="{800BC4EC-2200-415E-BF72-C3A70A6E74A3}">
      <dgm:prSet phldr="0"/>
      <dgm:spPr/>
      <dgm:t>
        <a:bodyPr/>
        <a:lstStyle/>
        <a:p>
          <a:pPr>
            <a:defRPr b="1"/>
          </a:pPr>
          <a:r>
            <a:rPr lang="en-US" sz="2200" b="0">
              <a:latin typeface="TW Cen MT"/>
            </a:rPr>
            <a:t>1958</a:t>
          </a:r>
        </a:p>
      </dgm:t>
    </dgm:pt>
    <dgm:pt modelId="{A64DFF79-6B79-4B72-BEAD-751CA7B5BD33}" type="parTrans" cxnId="{8C864663-B631-4AA0-B66A-480ACA5E619B}">
      <dgm:prSet/>
      <dgm:spPr/>
    </dgm:pt>
    <dgm:pt modelId="{CA913052-2B34-4C66-98E7-29265B6615C7}" type="sibTrans" cxnId="{8C864663-B631-4AA0-B66A-480ACA5E619B}">
      <dgm:prSet/>
      <dgm:spPr/>
    </dgm:pt>
    <dgm:pt modelId="{CDD2B394-0661-417A-A86C-00E72B22EC87}">
      <dgm:prSet phldr="0"/>
      <dgm:spPr/>
      <dgm:t>
        <a:bodyPr/>
        <a:lstStyle/>
        <a:p>
          <a:r>
            <a:rPr lang="en-US" sz="1800" b="0">
              <a:latin typeface="TW Cen MT"/>
            </a:rPr>
            <a:t>Development of First Integrated Circuit</a:t>
          </a:r>
        </a:p>
      </dgm:t>
    </dgm:pt>
    <dgm:pt modelId="{E640E8F5-E96A-4C94-9153-2D6C26156648}" type="parTrans" cxnId="{0383FD68-2274-4BA4-A54F-BB2560715960}">
      <dgm:prSet/>
      <dgm:spPr/>
    </dgm:pt>
    <dgm:pt modelId="{C49A9EF0-879D-4FA5-BAA0-9F1D4FC52186}" type="sibTrans" cxnId="{0383FD68-2274-4BA4-A54F-BB2560715960}">
      <dgm:prSet/>
      <dgm:spPr/>
    </dgm:pt>
    <dgm:pt modelId="{A68047CC-C217-479D-B979-8778344F4692}">
      <dgm:prSet phldr="0"/>
      <dgm:spPr/>
      <dgm:t>
        <a:bodyPr/>
        <a:lstStyle/>
        <a:p>
          <a:pPr>
            <a:defRPr b="1"/>
          </a:pPr>
          <a:r>
            <a:rPr lang="en-US" sz="1100" b="0">
              <a:solidFill>
                <a:srgbClr val="444444"/>
              </a:solidFill>
              <a:latin typeface="TW Cen MT"/>
              <a:ea typeface="Calibri"/>
              <a:cs typeface="Calibri"/>
            </a:rPr>
            <a:t>1956</a:t>
          </a:r>
        </a:p>
      </dgm:t>
    </dgm:pt>
    <dgm:pt modelId="{5B90ABA4-C3E4-46B9-90AC-CB453F720837}" type="parTrans" cxnId="{5BC0CDD8-9FAC-4B9B-8B97-132355706B42}">
      <dgm:prSet/>
      <dgm:spPr/>
    </dgm:pt>
    <dgm:pt modelId="{A7FF19C2-F294-4EF8-87E1-ED649519CAE3}" type="sibTrans" cxnId="{5BC0CDD8-9FAC-4B9B-8B97-132355706B42}">
      <dgm:prSet/>
      <dgm:spPr/>
    </dgm:pt>
    <dgm:pt modelId="{B24EC8D2-9ECB-48F0-9A29-2CCF17AD85A4}">
      <dgm:prSet phldr="0"/>
      <dgm:spPr/>
      <dgm:t>
        <a:bodyPr/>
        <a:lstStyle/>
        <a:p>
          <a:r>
            <a:rPr lang="en-US" sz="1100" b="0">
              <a:solidFill>
                <a:srgbClr val="444444"/>
              </a:solidFill>
              <a:latin typeface="TW Cen MT"/>
              <a:ea typeface="Calibri"/>
              <a:cs typeface="Calibri"/>
            </a:rPr>
            <a:t>Design of Insulated-Gate Field Effect Transistor (aka MOSFET)</a:t>
          </a:r>
        </a:p>
      </dgm:t>
    </dgm:pt>
    <dgm:pt modelId="{EFFF2732-8581-4490-8912-C1C0A31B3B5B}" type="parTrans" cxnId="{E9D494D9-7DC4-431F-B83A-CD8B1550828F}">
      <dgm:prSet/>
      <dgm:spPr/>
    </dgm:pt>
    <dgm:pt modelId="{5C57376F-0A63-4550-94B1-179BBCB0960E}" type="sibTrans" cxnId="{E9D494D9-7DC4-431F-B83A-CD8B1550828F}">
      <dgm:prSet/>
      <dgm:spPr/>
    </dgm:pt>
    <dgm:pt modelId="{E51C6B58-1DBA-4295-943C-5592F64DBA19}">
      <dgm:prSet phldr="0"/>
      <dgm:spPr/>
      <dgm:t>
        <a:bodyPr/>
        <a:lstStyle/>
        <a:p>
          <a:r>
            <a:rPr lang="en-US" sz="1100" b="0">
              <a:solidFill>
                <a:srgbClr val="444444"/>
              </a:solidFill>
              <a:latin typeface="TW Cen MT"/>
              <a:ea typeface="Calibri"/>
              <a:cs typeface="Calibri"/>
            </a:rPr>
            <a:t>Fabrication of first quasi planar FinFET device</a:t>
          </a:r>
          <a:endParaRPr lang="en-US">
            <a:latin typeface="TW Cen MT"/>
          </a:endParaRPr>
        </a:p>
      </dgm:t>
    </dgm:pt>
    <dgm:pt modelId="{FADB33F3-88BA-40F1-A0EE-3DBB924FE289}" type="parTrans" cxnId="{66F1EAEC-2FB4-4A33-BD92-F62A2729FCFF}">
      <dgm:prSet/>
      <dgm:spPr/>
    </dgm:pt>
    <dgm:pt modelId="{479DDE3B-695C-471A-9152-CBA24DF57368}" type="sibTrans" cxnId="{66F1EAEC-2FB4-4A33-BD92-F62A2729FCFF}">
      <dgm:prSet/>
      <dgm:spPr/>
    </dgm:pt>
    <dgm:pt modelId="{AFA697A2-F68F-4DE3-9638-953D0D6064F2}">
      <dgm:prSet phldr="0"/>
      <dgm:spPr/>
      <dgm:t>
        <a:bodyPr/>
        <a:lstStyle/>
        <a:p>
          <a:pPr>
            <a:defRPr b="1"/>
          </a:pPr>
          <a:r>
            <a:rPr lang="en-US" sz="1100" b="0">
              <a:solidFill>
                <a:srgbClr val="444444"/>
              </a:solidFill>
              <a:latin typeface="TW Cen MT"/>
              <a:ea typeface="Calibri"/>
              <a:cs typeface="Calibri"/>
            </a:rPr>
            <a:t>2001</a:t>
          </a:r>
        </a:p>
      </dgm:t>
    </dgm:pt>
    <dgm:pt modelId="{2926FB96-1D1F-472D-BEFC-132C9DE299DF}" type="parTrans" cxnId="{E2511B31-B1D7-495C-B9AC-772CE91337D9}">
      <dgm:prSet/>
      <dgm:spPr/>
    </dgm:pt>
    <dgm:pt modelId="{B154E069-397D-4F20-8ED6-D8432D6CA5C0}" type="sibTrans" cxnId="{E2511B31-B1D7-495C-B9AC-772CE91337D9}">
      <dgm:prSet/>
      <dgm:spPr/>
    </dgm:pt>
    <dgm:pt modelId="{4F9129E5-3DBC-4688-B695-02BB8C1B2480}">
      <dgm:prSet phldr="0"/>
      <dgm:spPr/>
      <dgm:t>
        <a:bodyPr/>
        <a:lstStyle/>
        <a:p>
          <a:pPr>
            <a:defRPr b="1"/>
          </a:pPr>
          <a:r>
            <a:rPr lang="en-US" sz="2200" b="0">
              <a:latin typeface="TW Cen MT"/>
            </a:rPr>
            <a:t>1948</a:t>
          </a:r>
        </a:p>
      </dgm:t>
    </dgm:pt>
    <dgm:pt modelId="{3ACA8171-0694-45DE-AA4D-B4D5A5AB842F}" type="parTrans" cxnId="{64227516-3F5C-4F7B-BCF6-A09439A8B082}">
      <dgm:prSet/>
      <dgm:spPr/>
    </dgm:pt>
    <dgm:pt modelId="{5F3051CF-5E28-4E1B-B5BC-4816D5E7A3BA}" type="sibTrans" cxnId="{64227516-3F5C-4F7B-BCF6-A09439A8B082}">
      <dgm:prSet/>
      <dgm:spPr/>
    </dgm:pt>
    <dgm:pt modelId="{2F0310EC-0AA3-486B-A6A4-FF75A91E6597}" type="pres">
      <dgm:prSet presAssocID="{984CF80D-8E7B-4AA7-8B1D-AAB6A53429DF}" presName="root" presStyleCnt="0">
        <dgm:presLayoutVars>
          <dgm:chMax/>
          <dgm:chPref/>
          <dgm:animLvl val="lvl"/>
        </dgm:presLayoutVars>
      </dgm:prSet>
      <dgm:spPr/>
    </dgm:pt>
    <dgm:pt modelId="{32998EAB-729E-444D-BBA4-17687F290ED2}" type="pres">
      <dgm:prSet presAssocID="{984CF80D-8E7B-4AA7-8B1D-AAB6A53429DF}" presName="divider" presStyleLbl="fgAccFollowNode1" presStyleIdx="0" presStyleCnt="1"/>
      <dgm:spPr>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tailEnd type="triangle" w="lg" len="lg"/>
        </a:ln>
        <a:effectLst/>
      </dgm:spPr>
    </dgm:pt>
    <dgm:pt modelId="{F51AE796-8E2D-491F-AA4B-501C647BDE1C}" type="pres">
      <dgm:prSet presAssocID="{984CF80D-8E7B-4AA7-8B1D-AAB6A53429DF}" presName="nodes" presStyleCnt="0">
        <dgm:presLayoutVars>
          <dgm:chMax/>
          <dgm:chPref/>
          <dgm:animLvl val="lvl"/>
        </dgm:presLayoutVars>
      </dgm:prSet>
      <dgm:spPr/>
    </dgm:pt>
    <dgm:pt modelId="{2C976AC5-48A3-4F25-82B0-92C34E168A2C}" type="pres">
      <dgm:prSet presAssocID="{E45D9FE5-713E-4C7C-B41E-4A27DA82F951}" presName="composite" presStyleCnt="0"/>
      <dgm:spPr/>
    </dgm:pt>
    <dgm:pt modelId="{B8242E6D-05CE-4014-A495-8ACBEB26B19F}" type="pres">
      <dgm:prSet presAssocID="{E45D9FE5-713E-4C7C-B41E-4A27DA82F951}" presName="L1TextContainer" presStyleLbl="revTx" presStyleIdx="0" presStyleCnt="5">
        <dgm:presLayoutVars>
          <dgm:chMax val="1"/>
          <dgm:chPref val="1"/>
          <dgm:bulletEnabled val="1"/>
        </dgm:presLayoutVars>
      </dgm:prSet>
      <dgm:spPr/>
    </dgm:pt>
    <dgm:pt modelId="{8F3857B9-2AD0-4D46-BEDD-B0C2D6876BC5}" type="pres">
      <dgm:prSet presAssocID="{E45D9FE5-713E-4C7C-B41E-4A27DA82F951}" presName="L2TextContainerWrapper" presStyleCnt="0">
        <dgm:presLayoutVars>
          <dgm:chMax val="0"/>
          <dgm:chPref val="0"/>
          <dgm:bulletEnabled val="1"/>
        </dgm:presLayoutVars>
      </dgm:prSet>
      <dgm:spPr/>
    </dgm:pt>
    <dgm:pt modelId="{2680B25F-E199-4169-B23E-04A0BF771FC3}" type="pres">
      <dgm:prSet presAssocID="{E45D9FE5-713E-4C7C-B41E-4A27DA82F951}" presName="L2TextContainer" presStyleLbl="bgAcc1" presStyleIdx="0" presStyleCnt="5"/>
      <dgm:spPr/>
    </dgm:pt>
    <dgm:pt modelId="{B5A32650-B6AE-4D80-B45D-F5042C8FDFEC}" type="pres">
      <dgm:prSet presAssocID="{E45D9FE5-713E-4C7C-B41E-4A27DA82F951}" presName="FlexibleEmptyPlaceHolder" presStyleCnt="0"/>
      <dgm:spPr/>
    </dgm:pt>
    <dgm:pt modelId="{3138EC16-9211-4AD1-84FA-3B983520366F}" type="pres">
      <dgm:prSet presAssocID="{E45D9FE5-713E-4C7C-B41E-4A27DA82F951}" presName="ConnectLine" presStyleLbl="sibTrans1D1" presStyleIdx="0" presStyleCnt="5"/>
      <dgm:spPr>
        <a:noFill/>
        <a:ln w="12700" cap="flat" cmpd="sng" algn="ctr">
          <a:solidFill>
            <a:schemeClr val="accent1">
              <a:hueOff val="0"/>
              <a:satOff val="0"/>
              <a:lumOff val="0"/>
              <a:alphaOff val="0"/>
            </a:schemeClr>
          </a:solidFill>
          <a:prstDash val="dash"/>
          <a:miter lim="800000"/>
        </a:ln>
        <a:effectLst/>
      </dgm:spPr>
    </dgm:pt>
    <dgm:pt modelId="{9922CB79-A130-4ACF-8221-18539BB7C81B}" type="pres">
      <dgm:prSet presAssocID="{E45D9FE5-713E-4C7C-B41E-4A27DA82F951}" presName="ConnectorPoint" presStyleLbl="alignNode1" presStyleIdx="0" presStyleCnt="5"/>
      <dgm:spPr/>
    </dgm:pt>
    <dgm:pt modelId="{00ED1D5C-803D-4868-B352-7A028020C963}" type="pres">
      <dgm:prSet presAssocID="{E45D9FE5-713E-4C7C-B41E-4A27DA82F951}" presName="EmptyPlaceHolder" presStyleCnt="0"/>
      <dgm:spPr/>
    </dgm:pt>
    <dgm:pt modelId="{E74D46E2-C24E-42C9-8639-0781DCFAB1BA}" type="pres">
      <dgm:prSet presAssocID="{7339D626-F113-46D8-B897-DB0CF6E5F3F8}" presName="spaceBetweenRectangles" presStyleCnt="0"/>
      <dgm:spPr/>
    </dgm:pt>
    <dgm:pt modelId="{319D50DB-F14D-4ECF-9064-680F180B5573}" type="pres">
      <dgm:prSet presAssocID="{4F9129E5-3DBC-4688-B695-02BB8C1B2480}" presName="composite" presStyleCnt="0"/>
      <dgm:spPr/>
    </dgm:pt>
    <dgm:pt modelId="{06E87424-99C9-4275-9AA9-75F52AEF6713}" type="pres">
      <dgm:prSet presAssocID="{4F9129E5-3DBC-4688-B695-02BB8C1B2480}" presName="L1TextContainer" presStyleLbl="revTx" presStyleIdx="1" presStyleCnt="5">
        <dgm:presLayoutVars>
          <dgm:chMax val="1"/>
          <dgm:chPref val="1"/>
          <dgm:bulletEnabled val="1"/>
        </dgm:presLayoutVars>
      </dgm:prSet>
      <dgm:spPr/>
    </dgm:pt>
    <dgm:pt modelId="{D3C03F97-1D7F-4996-A638-8DD82CAD6A5F}" type="pres">
      <dgm:prSet presAssocID="{4F9129E5-3DBC-4688-B695-02BB8C1B2480}" presName="L2TextContainerWrapper" presStyleCnt="0">
        <dgm:presLayoutVars>
          <dgm:chMax val="0"/>
          <dgm:chPref val="0"/>
          <dgm:bulletEnabled val="1"/>
        </dgm:presLayoutVars>
      </dgm:prSet>
      <dgm:spPr/>
    </dgm:pt>
    <dgm:pt modelId="{07371123-BF7C-4E5E-AEC3-92054126EC62}" type="pres">
      <dgm:prSet presAssocID="{4F9129E5-3DBC-4688-B695-02BB8C1B2480}" presName="L2TextContainer" presStyleLbl="bgAcc1" presStyleIdx="1" presStyleCnt="5"/>
      <dgm:spPr/>
    </dgm:pt>
    <dgm:pt modelId="{0E710BAA-3281-4AF2-BCFA-A8BBD249AA2A}" type="pres">
      <dgm:prSet presAssocID="{4F9129E5-3DBC-4688-B695-02BB8C1B2480}" presName="FlexibleEmptyPlaceHolder" presStyleCnt="0"/>
      <dgm:spPr/>
    </dgm:pt>
    <dgm:pt modelId="{41189D32-E84B-44E1-980B-ACA829204A09}" type="pres">
      <dgm:prSet presAssocID="{4F9129E5-3DBC-4688-B695-02BB8C1B2480}" presName="ConnectLine" presStyleLbl="sibTrans1D1" presStyleIdx="1" presStyleCnt="5"/>
      <dgm:spPr>
        <a:noFill/>
        <a:ln w="12700" cap="flat" cmpd="sng" algn="ctr">
          <a:solidFill>
            <a:schemeClr val="accent1">
              <a:hueOff val="0"/>
              <a:satOff val="0"/>
              <a:lumOff val="0"/>
              <a:alphaOff val="0"/>
            </a:schemeClr>
          </a:solidFill>
          <a:prstDash val="dash"/>
          <a:miter lim="800000"/>
        </a:ln>
        <a:effectLst/>
      </dgm:spPr>
    </dgm:pt>
    <dgm:pt modelId="{2AF9FA4C-8192-4892-93B5-287D280B148F}" type="pres">
      <dgm:prSet presAssocID="{4F9129E5-3DBC-4688-B695-02BB8C1B2480}" presName="ConnectorPoint" presStyleLbl="alignNode1" presStyleIdx="1" presStyleCnt="5"/>
      <dgm:spPr/>
    </dgm:pt>
    <dgm:pt modelId="{6DF24017-B9D7-4C8A-A855-58A5363A8A6D}" type="pres">
      <dgm:prSet presAssocID="{4F9129E5-3DBC-4688-B695-02BB8C1B2480}" presName="EmptyPlaceHolder" presStyleCnt="0"/>
      <dgm:spPr/>
    </dgm:pt>
    <dgm:pt modelId="{D5034C84-964F-49B2-A124-A907739B6554}" type="pres">
      <dgm:prSet presAssocID="{5F3051CF-5E28-4E1B-B5BC-4816D5E7A3BA}" presName="spaceBetweenRectangles" presStyleCnt="0"/>
      <dgm:spPr/>
    </dgm:pt>
    <dgm:pt modelId="{3FA22922-801B-4972-B99D-783AB86870FA}" type="pres">
      <dgm:prSet presAssocID="{A68047CC-C217-479D-B979-8778344F4692}" presName="composite" presStyleCnt="0"/>
      <dgm:spPr/>
    </dgm:pt>
    <dgm:pt modelId="{4937B66C-A78B-4F47-9051-B4753AEF9CAB}" type="pres">
      <dgm:prSet presAssocID="{A68047CC-C217-479D-B979-8778344F4692}" presName="L1TextContainer" presStyleLbl="revTx" presStyleIdx="2" presStyleCnt="5">
        <dgm:presLayoutVars>
          <dgm:chMax val="1"/>
          <dgm:chPref val="1"/>
          <dgm:bulletEnabled val="1"/>
        </dgm:presLayoutVars>
      </dgm:prSet>
      <dgm:spPr/>
    </dgm:pt>
    <dgm:pt modelId="{9FCE8B04-145A-4E6E-B736-D22723C03D93}" type="pres">
      <dgm:prSet presAssocID="{A68047CC-C217-479D-B979-8778344F4692}" presName="L2TextContainerWrapper" presStyleCnt="0">
        <dgm:presLayoutVars>
          <dgm:chMax val="0"/>
          <dgm:chPref val="0"/>
          <dgm:bulletEnabled val="1"/>
        </dgm:presLayoutVars>
      </dgm:prSet>
      <dgm:spPr/>
    </dgm:pt>
    <dgm:pt modelId="{9D449C6B-6999-4587-951B-BAC16E7A9209}" type="pres">
      <dgm:prSet presAssocID="{A68047CC-C217-479D-B979-8778344F4692}" presName="L2TextContainer" presStyleLbl="bgAcc1" presStyleIdx="2" presStyleCnt="5"/>
      <dgm:spPr/>
    </dgm:pt>
    <dgm:pt modelId="{F46B161D-F4EF-4194-A034-8A181C92AAAC}" type="pres">
      <dgm:prSet presAssocID="{A68047CC-C217-479D-B979-8778344F4692}" presName="FlexibleEmptyPlaceHolder" presStyleCnt="0"/>
      <dgm:spPr/>
    </dgm:pt>
    <dgm:pt modelId="{6A9EC936-9BA9-49D5-A61E-EEF257ACE04E}" type="pres">
      <dgm:prSet presAssocID="{A68047CC-C217-479D-B979-8778344F4692}" presName="ConnectLine" presStyleLbl="sibTrans1D1" presStyleIdx="2" presStyleCnt="5"/>
      <dgm:spPr>
        <a:noFill/>
        <a:ln w="12700" cap="flat" cmpd="sng" algn="ctr">
          <a:solidFill>
            <a:schemeClr val="accent1">
              <a:hueOff val="0"/>
              <a:satOff val="0"/>
              <a:lumOff val="0"/>
              <a:alphaOff val="0"/>
            </a:schemeClr>
          </a:solidFill>
          <a:prstDash val="dash"/>
          <a:miter lim="800000"/>
        </a:ln>
        <a:effectLst/>
      </dgm:spPr>
    </dgm:pt>
    <dgm:pt modelId="{BECCE2AC-685C-409A-8C51-B58174082995}" type="pres">
      <dgm:prSet presAssocID="{A68047CC-C217-479D-B979-8778344F4692}" presName="ConnectorPoint" presStyleLbl="alignNode1" presStyleIdx="2" presStyleCnt="5"/>
      <dgm:spPr/>
    </dgm:pt>
    <dgm:pt modelId="{08B17AD1-7AE4-4FC1-AC07-429677BDC2AA}" type="pres">
      <dgm:prSet presAssocID="{A68047CC-C217-479D-B979-8778344F4692}" presName="EmptyPlaceHolder" presStyleCnt="0"/>
      <dgm:spPr/>
    </dgm:pt>
    <dgm:pt modelId="{0B869E4A-1A8A-49C2-A303-859C27666E6C}" type="pres">
      <dgm:prSet presAssocID="{A7FF19C2-F294-4EF8-87E1-ED649519CAE3}" presName="spaceBetweenRectangles" presStyleCnt="0"/>
      <dgm:spPr/>
    </dgm:pt>
    <dgm:pt modelId="{982D1A72-5A8B-4431-886F-7ABABEBD8FE1}" type="pres">
      <dgm:prSet presAssocID="{800BC4EC-2200-415E-BF72-C3A70A6E74A3}" presName="composite" presStyleCnt="0"/>
      <dgm:spPr/>
    </dgm:pt>
    <dgm:pt modelId="{D4683EE8-C863-406B-863B-7E7F71F4EB38}" type="pres">
      <dgm:prSet presAssocID="{800BC4EC-2200-415E-BF72-C3A70A6E74A3}" presName="L1TextContainer" presStyleLbl="revTx" presStyleIdx="3" presStyleCnt="5">
        <dgm:presLayoutVars>
          <dgm:chMax val="1"/>
          <dgm:chPref val="1"/>
          <dgm:bulletEnabled val="1"/>
        </dgm:presLayoutVars>
      </dgm:prSet>
      <dgm:spPr/>
    </dgm:pt>
    <dgm:pt modelId="{1117D10B-D3F5-4B42-912F-975C9A81691C}" type="pres">
      <dgm:prSet presAssocID="{800BC4EC-2200-415E-BF72-C3A70A6E74A3}" presName="L2TextContainerWrapper" presStyleCnt="0">
        <dgm:presLayoutVars>
          <dgm:chMax val="0"/>
          <dgm:chPref val="0"/>
          <dgm:bulletEnabled val="1"/>
        </dgm:presLayoutVars>
      </dgm:prSet>
      <dgm:spPr/>
    </dgm:pt>
    <dgm:pt modelId="{0C09BD60-B8D8-4DF8-A9AE-49DA921CB78A}" type="pres">
      <dgm:prSet presAssocID="{800BC4EC-2200-415E-BF72-C3A70A6E74A3}" presName="L2TextContainer" presStyleLbl="bgAcc1" presStyleIdx="3" presStyleCnt="5"/>
      <dgm:spPr/>
    </dgm:pt>
    <dgm:pt modelId="{C72F72B7-0948-4445-BF6A-F2F7F72F4500}" type="pres">
      <dgm:prSet presAssocID="{800BC4EC-2200-415E-BF72-C3A70A6E74A3}" presName="FlexibleEmptyPlaceHolder" presStyleCnt="0"/>
      <dgm:spPr/>
    </dgm:pt>
    <dgm:pt modelId="{35F16744-5992-4C2F-BC3F-C5B52694A5E5}" type="pres">
      <dgm:prSet presAssocID="{800BC4EC-2200-415E-BF72-C3A70A6E74A3}" presName="ConnectLine" presStyleLbl="sibTrans1D1" presStyleIdx="3" presStyleCnt="5"/>
      <dgm:spPr>
        <a:noFill/>
        <a:ln w="12700" cap="flat" cmpd="sng" algn="ctr">
          <a:solidFill>
            <a:schemeClr val="accent1">
              <a:hueOff val="0"/>
              <a:satOff val="0"/>
              <a:lumOff val="0"/>
              <a:alphaOff val="0"/>
            </a:schemeClr>
          </a:solidFill>
          <a:prstDash val="dash"/>
          <a:miter lim="800000"/>
        </a:ln>
        <a:effectLst/>
      </dgm:spPr>
    </dgm:pt>
    <dgm:pt modelId="{3FB0BAA7-90D5-49A7-A7D1-82D6451F0EB1}" type="pres">
      <dgm:prSet presAssocID="{800BC4EC-2200-415E-BF72-C3A70A6E74A3}" presName="ConnectorPoint" presStyleLbl="alignNode1" presStyleIdx="3" presStyleCnt="5"/>
      <dgm:spPr/>
    </dgm:pt>
    <dgm:pt modelId="{26C822C9-3A24-4F54-8B27-2D27D9686CA3}" type="pres">
      <dgm:prSet presAssocID="{800BC4EC-2200-415E-BF72-C3A70A6E74A3}" presName="EmptyPlaceHolder" presStyleCnt="0"/>
      <dgm:spPr/>
    </dgm:pt>
    <dgm:pt modelId="{29E6E0EE-07B0-41C4-841B-4407D2541156}" type="pres">
      <dgm:prSet presAssocID="{CA913052-2B34-4C66-98E7-29265B6615C7}" presName="spaceBetweenRectangles" presStyleCnt="0"/>
      <dgm:spPr/>
    </dgm:pt>
    <dgm:pt modelId="{6E6ADE6D-935F-4882-A69C-24F0BD783680}" type="pres">
      <dgm:prSet presAssocID="{AFA697A2-F68F-4DE3-9638-953D0D6064F2}" presName="composite" presStyleCnt="0"/>
      <dgm:spPr/>
    </dgm:pt>
    <dgm:pt modelId="{A14977B5-0964-4826-BC6D-819DBAE9DFF1}" type="pres">
      <dgm:prSet presAssocID="{AFA697A2-F68F-4DE3-9638-953D0D6064F2}" presName="L1TextContainer" presStyleLbl="revTx" presStyleIdx="4" presStyleCnt="5">
        <dgm:presLayoutVars>
          <dgm:chMax val="1"/>
          <dgm:chPref val="1"/>
          <dgm:bulletEnabled val="1"/>
        </dgm:presLayoutVars>
      </dgm:prSet>
      <dgm:spPr/>
    </dgm:pt>
    <dgm:pt modelId="{10023758-65DD-4EE7-B2CC-DE00538DCE62}" type="pres">
      <dgm:prSet presAssocID="{AFA697A2-F68F-4DE3-9638-953D0D6064F2}" presName="L2TextContainerWrapper" presStyleCnt="0">
        <dgm:presLayoutVars>
          <dgm:chMax val="0"/>
          <dgm:chPref val="0"/>
          <dgm:bulletEnabled val="1"/>
        </dgm:presLayoutVars>
      </dgm:prSet>
      <dgm:spPr/>
    </dgm:pt>
    <dgm:pt modelId="{BE04902E-EA00-4852-8FA1-17DD0F5A3070}" type="pres">
      <dgm:prSet presAssocID="{AFA697A2-F68F-4DE3-9638-953D0D6064F2}" presName="L2TextContainer" presStyleLbl="bgAcc1" presStyleIdx="4" presStyleCnt="5"/>
      <dgm:spPr/>
    </dgm:pt>
    <dgm:pt modelId="{C086B5AC-83B0-469C-9BC6-E8526DF548DA}" type="pres">
      <dgm:prSet presAssocID="{AFA697A2-F68F-4DE3-9638-953D0D6064F2}" presName="FlexibleEmptyPlaceHolder" presStyleCnt="0"/>
      <dgm:spPr/>
    </dgm:pt>
    <dgm:pt modelId="{A6D7E20B-BBB6-4A66-879C-3BDA64B66363}" type="pres">
      <dgm:prSet presAssocID="{AFA697A2-F68F-4DE3-9638-953D0D6064F2}" presName="ConnectLine" presStyleLbl="sibTrans1D1" presStyleIdx="4" presStyleCnt="5"/>
      <dgm:spPr>
        <a:noFill/>
        <a:ln w="12700" cap="flat" cmpd="sng" algn="ctr">
          <a:solidFill>
            <a:schemeClr val="accent1">
              <a:hueOff val="0"/>
              <a:satOff val="0"/>
              <a:lumOff val="0"/>
              <a:alphaOff val="0"/>
            </a:schemeClr>
          </a:solidFill>
          <a:prstDash val="dash"/>
          <a:miter lim="800000"/>
        </a:ln>
        <a:effectLst/>
      </dgm:spPr>
    </dgm:pt>
    <dgm:pt modelId="{2177799F-9277-4F15-AF03-B1862C74AA5C}" type="pres">
      <dgm:prSet presAssocID="{AFA697A2-F68F-4DE3-9638-953D0D6064F2}" presName="ConnectorPoint" presStyleLbl="alignNode1" presStyleIdx="4" presStyleCnt="5"/>
      <dgm:spPr/>
    </dgm:pt>
    <dgm:pt modelId="{B39715CA-E10F-4989-9A68-57F9F53129A9}" type="pres">
      <dgm:prSet presAssocID="{AFA697A2-F68F-4DE3-9638-953D0D6064F2}" presName="EmptyPlaceHolder" presStyleCnt="0"/>
      <dgm:spPr/>
    </dgm:pt>
  </dgm:ptLst>
  <dgm:cxnLst>
    <dgm:cxn modelId="{64227516-3F5C-4F7B-BCF6-A09439A8B082}" srcId="{984CF80D-8E7B-4AA7-8B1D-AAB6A53429DF}" destId="{4F9129E5-3DBC-4688-B695-02BB8C1B2480}" srcOrd="1" destOrd="0" parTransId="{3ACA8171-0694-45DE-AA4D-B4D5A5AB842F}" sibTransId="{5F3051CF-5E28-4E1B-B5BC-4816D5E7A3BA}"/>
    <dgm:cxn modelId="{8FCF5C25-727D-4C66-A37F-B846ED368B4A}" type="presOf" srcId="{E45D9FE5-713E-4C7C-B41E-4A27DA82F951}" destId="{B8242E6D-05CE-4014-A495-8ACBEB26B19F}" srcOrd="0" destOrd="0" presId="urn:microsoft.com/office/officeart/2016/7/layout/BasicTimeline"/>
    <dgm:cxn modelId="{77E9872C-1E24-4DFF-9B13-8D2C7CA9ECD2}" type="presOf" srcId="{A68047CC-C217-479D-B979-8778344F4692}" destId="{4937B66C-A78B-4F47-9051-B4753AEF9CAB}" srcOrd="0" destOrd="0" presId="urn:microsoft.com/office/officeart/2016/7/layout/BasicTimeline"/>
    <dgm:cxn modelId="{E2511B31-B1D7-495C-B9AC-772CE91337D9}" srcId="{984CF80D-8E7B-4AA7-8B1D-AAB6A53429DF}" destId="{AFA697A2-F68F-4DE3-9638-953D0D6064F2}" srcOrd="4" destOrd="0" parTransId="{2926FB96-1D1F-472D-BEFC-132C9DE299DF}" sibTransId="{B154E069-397D-4F20-8ED6-D8432D6CA5C0}"/>
    <dgm:cxn modelId="{F6B2FD3F-C1C2-4ECB-9EC0-DB16B4B65DC0}" srcId="{E45D9FE5-713E-4C7C-B41E-4A27DA82F951}" destId="{C6F74828-4A63-4487-8E21-97E129C47399}" srcOrd="0" destOrd="0" parTransId="{F653BAAC-46E4-40D9-B771-C8F51B880C8C}" sibTransId="{BAAA780F-07D1-4B43-B1D4-8AD3AF1DF879}"/>
    <dgm:cxn modelId="{8C864663-B631-4AA0-B66A-480ACA5E619B}" srcId="{984CF80D-8E7B-4AA7-8B1D-AAB6A53429DF}" destId="{800BC4EC-2200-415E-BF72-C3A70A6E74A3}" srcOrd="3" destOrd="0" parTransId="{A64DFF79-6B79-4B72-BEAD-751CA7B5BD33}" sibTransId="{CA913052-2B34-4C66-98E7-29265B6615C7}"/>
    <dgm:cxn modelId="{0383FD68-2274-4BA4-A54F-BB2560715960}" srcId="{800BC4EC-2200-415E-BF72-C3A70A6E74A3}" destId="{CDD2B394-0661-417A-A86C-00E72B22EC87}" srcOrd="0" destOrd="0" parTransId="{E640E8F5-E96A-4C94-9153-2D6C26156648}" sibTransId="{C49A9EF0-879D-4FA5-BAA0-9F1D4FC52186}"/>
    <dgm:cxn modelId="{4D2C094D-8323-4B6B-92EB-0E097529419A}" type="presOf" srcId="{B24EC8D2-9ECB-48F0-9A29-2CCF17AD85A4}" destId="{9D449C6B-6999-4587-951B-BAC16E7A9209}" srcOrd="0" destOrd="0" presId="urn:microsoft.com/office/officeart/2016/7/layout/BasicTimeline"/>
    <dgm:cxn modelId="{75C93874-0528-413B-B046-B08F355EF682}" type="presOf" srcId="{800BC4EC-2200-415E-BF72-C3A70A6E74A3}" destId="{D4683EE8-C863-406B-863B-7E7F71F4EB38}" srcOrd="0" destOrd="0" presId="urn:microsoft.com/office/officeart/2016/7/layout/BasicTimeline"/>
    <dgm:cxn modelId="{65F73B54-EFA0-49D4-94C3-F1EFB3B84C29}" srcId="{984CF80D-8E7B-4AA7-8B1D-AAB6A53429DF}" destId="{E45D9FE5-713E-4C7C-B41E-4A27DA82F951}" srcOrd="0" destOrd="0" parTransId="{949ACA9B-0EEE-4E81-B566-100A8B4E56E2}" sibTransId="{7339D626-F113-46D8-B897-DB0CF6E5F3F8}"/>
    <dgm:cxn modelId="{845E1D91-B06A-4215-9D04-82102F01C204}" type="presOf" srcId="{CDD2B394-0661-417A-A86C-00E72B22EC87}" destId="{0C09BD60-B8D8-4DF8-A9AE-49DA921CB78A}" srcOrd="0" destOrd="0" presId="urn:microsoft.com/office/officeart/2016/7/layout/BasicTimeline"/>
    <dgm:cxn modelId="{76A19C9C-CDB0-4A33-B42B-1EE98B000843}" type="presOf" srcId="{E51C6B58-1DBA-4295-943C-5592F64DBA19}" destId="{BE04902E-EA00-4852-8FA1-17DD0F5A3070}" srcOrd="0" destOrd="0" presId="urn:microsoft.com/office/officeart/2016/7/layout/BasicTimeline"/>
    <dgm:cxn modelId="{648C91A0-2E1B-4F21-9519-85A54DF85303}" type="presOf" srcId="{4F9129E5-3DBC-4688-B695-02BB8C1B2480}" destId="{06E87424-99C9-4275-9AA9-75F52AEF6713}" srcOrd="0" destOrd="0" presId="urn:microsoft.com/office/officeart/2016/7/layout/BasicTimeline"/>
    <dgm:cxn modelId="{097051A1-2AC1-4300-874D-3813685D9E31}" type="presOf" srcId="{C6F74828-4A63-4487-8E21-97E129C47399}" destId="{2680B25F-E199-4169-B23E-04A0BF771FC3}" srcOrd="0" destOrd="0" presId="urn:microsoft.com/office/officeart/2016/7/layout/BasicTimeline"/>
    <dgm:cxn modelId="{4D8ADDB8-6107-4234-B07E-82EF4796A07B}" type="presOf" srcId="{984CF80D-8E7B-4AA7-8B1D-AAB6A53429DF}" destId="{2F0310EC-0AA3-486B-A6A4-FF75A91E6597}" srcOrd="0" destOrd="0" presId="urn:microsoft.com/office/officeart/2016/7/layout/BasicTimeline"/>
    <dgm:cxn modelId="{E5DAE1C1-506C-4139-81D7-C8A0F2DF0F10}" srcId="{4F9129E5-3DBC-4688-B695-02BB8C1B2480}" destId="{C774CB1A-CA30-4DDC-80FE-23C94CE01A34}" srcOrd="0" destOrd="0" parTransId="{1B50872A-DD66-47BE-9AF4-9301E2532C01}" sibTransId="{B9017190-944C-43C0-844F-4F3F864B40A4}"/>
    <dgm:cxn modelId="{5BC0CDD8-9FAC-4B9B-8B97-132355706B42}" srcId="{984CF80D-8E7B-4AA7-8B1D-AAB6A53429DF}" destId="{A68047CC-C217-479D-B979-8778344F4692}" srcOrd="2" destOrd="0" parTransId="{5B90ABA4-C3E4-46B9-90AC-CB453F720837}" sibTransId="{A7FF19C2-F294-4EF8-87E1-ED649519CAE3}"/>
    <dgm:cxn modelId="{E9D494D9-7DC4-431F-B83A-CD8B1550828F}" srcId="{A68047CC-C217-479D-B979-8778344F4692}" destId="{B24EC8D2-9ECB-48F0-9A29-2CCF17AD85A4}" srcOrd="0" destOrd="0" parTransId="{EFFF2732-8581-4490-8912-C1C0A31B3B5B}" sibTransId="{5C57376F-0A63-4550-94B1-179BBCB0960E}"/>
    <dgm:cxn modelId="{B148BDDB-D794-4111-A6D5-E7E42E20B7BB}" type="presOf" srcId="{C774CB1A-CA30-4DDC-80FE-23C94CE01A34}" destId="{07371123-BF7C-4E5E-AEC3-92054126EC62}" srcOrd="0" destOrd="0" presId="urn:microsoft.com/office/officeart/2016/7/layout/BasicTimeline"/>
    <dgm:cxn modelId="{66F1EAEC-2FB4-4A33-BD92-F62A2729FCFF}" srcId="{AFA697A2-F68F-4DE3-9638-953D0D6064F2}" destId="{E51C6B58-1DBA-4295-943C-5592F64DBA19}" srcOrd="0" destOrd="0" parTransId="{FADB33F3-88BA-40F1-A0EE-3DBB924FE289}" sibTransId="{479DDE3B-695C-471A-9152-CBA24DF57368}"/>
    <dgm:cxn modelId="{1B5BFEEF-2CC4-446E-A470-CAD8EEC785F7}" type="presOf" srcId="{AFA697A2-F68F-4DE3-9638-953D0D6064F2}" destId="{A14977B5-0964-4826-BC6D-819DBAE9DFF1}" srcOrd="0" destOrd="0" presId="urn:microsoft.com/office/officeart/2016/7/layout/BasicTimeline"/>
    <dgm:cxn modelId="{B13AE315-363B-4BAB-ACFC-127A25317867}" type="presParOf" srcId="{2F0310EC-0AA3-486B-A6A4-FF75A91E6597}" destId="{32998EAB-729E-444D-BBA4-17687F290ED2}" srcOrd="0" destOrd="0" presId="urn:microsoft.com/office/officeart/2016/7/layout/BasicTimeline"/>
    <dgm:cxn modelId="{0EDF809C-7AAB-47EE-AD35-D6A9BA69458C}" type="presParOf" srcId="{2F0310EC-0AA3-486B-A6A4-FF75A91E6597}" destId="{F51AE796-8E2D-491F-AA4B-501C647BDE1C}" srcOrd="1" destOrd="0" presId="urn:microsoft.com/office/officeart/2016/7/layout/BasicTimeline"/>
    <dgm:cxn modelId="{99123351-CD17-4F1A-898E-BC24CD089D34}" type="presParOf" srcId="{F51AE796-8E2D-491F-AA4B-501C647BDE1C}" destId="{2C976AC5-48A3-4F25-82B0-92C34E168A2C}" srcOrd="0" destOrd="0" presId="urn:microsoft.com/office/officeart/2016/7/layout/BasicTimeline"/>
    <dgm:cxn modelId="{9EBC7AF4-208F-4958-9F7E-D5991247AB68}" type="presParOf" srcId="{2C976AC5-48A3-4F25-82B0-92C34E168A2C}" destId="{B8242E6D-05CE-4014-A495-8ACBEB26B19F}" srcOrd="0" destOrd="0" presId="urn:microsoft.com/office/officeart/2016/7/layout/BasicTimeline"/>
    <dgm:cxn modelId="{9ED00E42-8DB9-4424-84D4-451CF85F1215}" type="presParOf" srcId="{2C976AC5-48A3-4F25-82B0-92C34E168A2C}" destId="{8F3857B9-2AD0-4D46-BEDD-B0C2D6876BC5}" srcOrd="1" destOrd="0" presId="urn:microsoft.com/office/officeart/2016/7/layout/BasicTimeline"/>
    <dgm:cxn modelId="{59E175DF-FFBD-4866-92FD-489A2960FFD4}" type="presParOf" srcId="{8F3857B9-2AD0-4D46-BEDD-B0C2D6876BC5}" destId="{2680B25F-E199-4169-B23E-04A0BF771FC3}" srcOrd="0" destOrd="0" presId="urn:microsoft.com/office/officeart/2016/7/layout/BasicTimeline"/>
    <dgm:cxn modelId="{AAF9B9F4-7A37-4A65-8BCF-D116CEECBFDC}" type="presParOf" srcId="{8F3857B9-2AD0-4D46-BEDD-B0C2D6876BC5}" destId="{B5A32650-B6AE-4D80-B45D-F5042C8FDFEC}" srcOrd="1" destOrd="0" presId="urn:microsoft.com/office/officeart/2016/7/layout/BasicTimeline"/>
    <dgm:cxn modelId="{8C3DA8DB-EF63-4475-A7A7-2ECB61ABA6FA}" type="presParOf" srcId="{2C976AC5-48A3-4F25-82B0-92C34E168A2C}" destId="{3138EC16-9211-4AD1-84FA-3B983520366F}" srcOrd="2" destOrd="0" presId="urn:microsoft.com/office/officeart/2016/7/layout/BasicTimeline"/>
    <dgm:cxn modelId="{33A044A6-0249-4B91-A44A-BCE48633253B}" type="presParOf" srcId="{2C976AC5-48A3-4F25-82B0-92C34E168A2C}" destId="{9922CB79-A130-4ACF-8221-18539BB7C81B}" srcOrd="3" destOrd="0" presId="urn:microsoft.com/office/officeart/2016/7/layout/BasicTimeline"/>
    <dgm:cxn modelId="{712B0B8B-FD55-4911-BB8C-0482538C69A5}" type="presParOf" srcId="{2C976AC5-48A3-4F25-82B0-92C34E168A2C}" destId="{00ED1D5C-803D-4868-B352-7A028020C963}" srcOrd="4" destOrd="0" presId="urn:microsoft.com/office/officeart/2016/7/layout/BasicTimeline"/>
    <dgm:cxn modelId="{EC0A8082-0032-446D-B83E-AF9F2A12E57C}" type="presParOf" srcId="{F51AE796-8E2D-491F-AA4B-501C647BDE1C}" destId="{E74D46E2-C24E-42C9-8639-0781DCFAB1BA}" srcOrd="1" destOrd="0" presId="urn:microsoft.com/office/officeart/2016/7/layout/BasicTimeline"/>
    <dgm:cxn modelId="{D94CF542-4214-4EE3-A543-5A1BDA2DFE5D}" type="presParOf" srcId="{F51AE796-8E2D-491F-AA4B-501C647BDE1C}" destId="{319D50DB-F14D-4ECF-9064-680F180B5573}" srcOrd="2" destOrd="0" presId="urn:microsoft.com/office/officeart/2016/7/layout/BasicTimeline"/>
    <dgm:cxn modelId="{A6FEFDDD-BF2E-4FF5-9167-32CB841A1145}" type="presParOf" srcId="{319D50DB-F14D-4ECF-9064-680F180B5573}" destId="{06E87424-99C9-4275-9AA9-75F52AEF6713}" srcOrd="0" destOrd="0" presId="urn:microsoft.com/office/officeart/2016/7/layout/BasicTimeline"/>
    <dgm:cxn modelId="{491D68E6-1C47-4735-9BE2-85E6543812F6}" type="presParOf" srcId="{319D50DB-F14D-4ECF-9064-680F180B5573}" destId="{D3C03F97-1D7F-4996-A638-8DD82CAD6A5F}" srcOrd="1" destOrd="0" presId="urn:microsoft.com/office/officeart/2016/7/layout/BasicTimeline"/>
    <dgm:cxn modelId="{BBA68DB5-3FCD-444A-8768-1DF0C90AAC94}" type="presParOf" srcId="{D3C03F97-1D7F-4996-A638-8DD82CAD6A5F}" destId="{07371123-BF7C-4E5E-AEC3-92054126EC62}" srcOrd="0" destOrd="0" presId="urn:microsoft.com/office/officeart/2016/7/layout/BasicTimeline"/>
    <dgm:cxn modelId="{DEE527BF-2B2D-4801-AFB0-9DCF336B08D1}" type="presParOf" srcId="{D3C03F97-1D7F-4996-A638-8DD82CAD6A5F}" destId="{0E710BAA-3281-4AF2-BCFA-A8BBD249AA2A}" srcOrd="1" destOrd="0" presId="urn:microsoft.com/office/officeart/2016/7/layout/BasicTimeline"/>
    <dgm:cxn modelId="{0198F153-3351-4D83-9B08-4145D3173A41}" type="presParOf" srcId="{319D50DB-F14D-4ECF-9064-680F180B5573}" destId="{41189D32-E84B-44E1-980B-ACA829204A09}" srcOrd="2" destOrd="0" presId="urn:microsoft.com/office/officeart/2016/7/layout/BasicTimeline"/>
    <dgm:cxn modelId="{A051E11A-66ED-491C-B5EA-A78E20065A0D}" type="presParOf" srcId="{319D50DB-F14D-4ECF-9064-680F180B5573}" destId="{2AF9FA4C-8192-4892-93B5-287D280B148F}" srcOrd="3" destOrd="0" presId="urn:microsoft.com/office/officeart/2016/7/layout/BasicTimeline"/>
    <dgm:cxn modelId="{26DBEA79-8F75-4F45-8439-E35BB677224E}" type="presParOf" srcId="{319D50DB-F14D-4ECF-9064-680F180B5573}" destId="{6DF24017-B9D7-4C8A-A855-58A5363A8A6D}" srcOrd="4" destOrd="0" presId="urn:microsoft.com/office/officeart/2016/7/layout/BasicTimeline"/>
    <dgm:cxn modelId="{2E20AA60-4560-4EDD-B5EF-007D01B38F2D}" type="presParOf" srcId="{F51AE796-8E2D-491F-AA4B-501C647BDE1C}" destId="{D5034C84-964F-49B2-A124-A907739B6554}" srcOrd="3" destOrd="0" presId="urn:microsoft.com/office/officeart/2016/7/layout/BasicTimeline"/>
    <dgm:cxn modelId="{A2DB279D-DD34-4B22-9B18-0324111D1A12}" type="presParOf" srcId="{F51AE796-8E2D-491F-AA4B-501C647BDE1C}" destId="{3FA22922-801B-4972-B99D-783AB86870FA}" srcOrd="4" destOrd="0" presId="urn:microsoft.com/office/officeart/2016/7/layout/BasicTimeline"/>
    <dgm:cxn modelId="{B756A273-8C58-414C-AD58-7CA33B72ACBF}" type="presParOf" srcId="{3FA22922-801B-4972-B99D-783AB86870FA}" destId="{4937B66C-A78B-4F47-9051-B4753AEF9CAB}" srcOrd="0" destOrd="0" presId="urn:microsoft.com/office/officeart/2016/7/layout/BasicTimeline"/>
    <dgm:cxn modelId="{4D53641B-BBB2-4C60-A3BA-E1A290A401FF}" type="presParOf" srcId="{3FA22922-801B-4972-B99D-783AB86870FA}" destId="{9FCE8B04-145A-4E6E-B736-D22723C03D93}" srcOrd="1" destOrd="0" presId="urn:microsoft.com/office/officeart/2016/7/layout/BasicTimeline"/>
    <dgm:cxn modelId="{314A306D-8FDD-414E-901B-D0237915D187}" type="presParOf" srcId="{9FCE8B04-145A-4E6E-B736-D22723C03D93}" destId="{9D449C6B-6999-4587-951B-BAC16E7A9209}" srcOrd="0" destOrd="0" presId="urn:microsoft.com/office/officeart/2016/7/layout/BasicTimeline"/>
    <dgm:cxn modelId="{B99457A7-3C4B-4078-8894-7277876BBC39}" type="presParOf" srcId="{9FCE8B04-145A-4E6E-B736-D22723C03D93}" destId="{F46B161D-F4EF-4194-A034-8A181C92AAAC}" srcOrd="1" destOrd="0" presId="urn:microsoft.com/office/officeart/2016/7/layout/BasicTimeline"/>
    <dgm:cxn modelId="{41D084B6-E10E-4712-A37C-298D73279FF2}" type="presParOf" srcId="{3FA22922-801B-4972-B99D-783AB86870FA}" destId="{6A9EC936-9BA9-49D5-A61E-EEF257ACE04E}" srcOrd="2" destOrd="0" presId="urn:microsoft.com/office/officeart/2016/7/layout/BasicTimeline"/>
    <dgm:cxn modelId="{6C4BB801-5517-4633-8E95-339D21AB7A65}" type="presParOf" srcId="{3FA22922-801B-4972-B99D-783AB86870FA}" destId="{BECCE2AC-685C-409A-8C51-B58174082995}" srcOrd="3" destOrd="0" presId="urn:microsoft.com/office/officeart/2016/7/layout/BasicTimeline"/>
    <dgm:cxn modelId="{2E1D7077-8068-41E7-BFF2-E79E9A5928ED}" type="presParOf" srcId="{3FA22922-801B-4972-B99D-783AB86870FA}" destId="{08B17AD1-7AE4-4FC1-AC07-429677BDC2AA}" srcOrd="4" destOrd="0" presId="urn:microsoft.com/office/officeart/2016/7/layout/BasicTimeline"/>
    <dgm:cxn modelId="{5ED03959-FF24-46C5-BD18-E3B1C650054B}" type="presParOf" srcId="{F51AE796-8E2D-491F-AA4B-501C647BDE1C}" destId="{0B869E4A-1A8A-49C2-A303-859C27666E6C}" srcOrd="5" destOrd="0" presId="urn:microsoft.com/office/officeart/2016/7/layout/BasicTimeline"/>
    <dgm:cxn modelId="{87815BE3-F5E2-4083-A0B0-B74658571F7B}" type="presParOf" srcId="{F51AE796-8E2D-491F-AA4B-501C647BDE1C}" destId="{982D1A72-5A8B-4431-886F-7ABABEBD8FE1}" srcOrd="6" destOrd="0" presId="urn:microsoft.com/office/officeart/2016/7/layout/BasicTimeline"/>
    <dgm:cxn modelId="{BDCCCF14-D6B7-4CFA-AEE4-1C614EEECEF1}" type="presParOf" srcId="{982D1A72-5A8B-4431-886F-7ABABEBD8FE1}" destId="{D4683EE8-C863-406B-863B-7E7F71F4EB38}" srcOrd="0" destOrd="0" presId="urn:microsoft.com/office/officeart/2016/7/layout/BasicTimeline"/>
    <dgm:cxn modelId="{B41FADB0-6193-4A0B-851F-54C409A2F263}" type="presParOf" srcId="{982D1A72-5A8B-4431-886F-7ABABEBD8FE1}" destId="{1117D10B-D3F5-4B42-912F-975C9A81691C}" srcOrd="1" destOrd="0" presId="urn:microsoft.com/office/officeart/2016/7/layout/BasicTimeline"/>
    <dgm:cxn modelId="{FAA0E216-0615-4B3C-9083-8D5BBCA246AB}" type="presParOf" srcId="{1117D10B-D3F5-4B42-912F-975C9A81691C}" destId="{0C09BD60-B8D8-4DF8-A9AE-49DA921CB78A}" srcOrd="0" destOrd="0" presId="urn:microsoft.com/office/officeart/2016/7/layout/BasicTimeline"/>
    <dgm:cxn modelId="{6912AFA1-747A-4818-B235-13C59D504B63}" type="presParOf" srcId="{1117D10B-D3F5-4B42-912F-975C9A81691C}" destId="{C72F72B7-0948-4445-BF6A-F2F7F72F4500}" srcOrd="1" destOrd="0" presId="urn:microsoft.com/office/officeart/2016/7/layout/BasicTimeline"/>
    <dgm:cxn modelId="{1E89A6F5-4B7F-461D-8A45-B0F464F282A8}" type="presParOf" srcId="{982D1A72-5A8B-4431-886F-7ABABEBD8FE1}" destId="{35F16744-5992-4C2F-BC3F-C5B52694A5E5}" srcOrd="2" destOrd="0" presId="urn:microsoft.com/office/officeart/2016/7/layout/BasicTimeline"/>
    <dgm:cxn modelId="{B8D2256B-496E-48F9-B9A1-1B058CD23535}" type="presParOf" srcId="{982D1A72-5A8B-4431-886F-7ABABEBD8FE1}" destId="{3FB0BAA7-90D5-49A7-A7D1-82D6451F0EB1}" srcOrd="3" destOrd="0" presId="urn:microsoft.com/office/officeart/2016/7/layout/BasicTimeline"/>
    <dgm:cxn modelId="{D92A52EB-F968-492B-B176-26AAFADDF9A0}" type="presParOf" srcId="{982D1A72-5A8B-4431-886F-7ABABEBD8FE1}" destId="{26C822C9-3A24-4F54-8B27-2D27D9686CA3}" srcOrd="4" destOrd="0" presId="urn:microsoft.com/office/officeart/2016/7/layout/BasicTimeline"/>
    <dgm:cxn modelId="{1BCE6F8A-DB64-494B-BBC3-E0A7797A2B30}" type="presParOf" srcId="{F51AE796-8E2D-491F-AA4B-501C647BDE1C}" destId="{29E6E0EE-07B0-41C4-841B-4407D2541156}" srcOrd="7" destOrd="0" presId="urn:microsoft.com/office/officeart/2016/7/layout/BasicTimeline"/>
    <dgm:cxn modelId="{1EAD467E-7FDD-47B3-B6F4-74E4E610356C}" type="presParOf" srcId="{F51AE796-8E2D-491F-AA4B-501C647BDE1C}" destId="{6E6ADE6D-935F-4882-A69C-24F0BD783680}" srcOrd="8" destOrd="0" presId="urn:microsoft.com/office/officeart/2016/7/layout/BasicTimeline"/>
    <dgm:cxn modelId="{568BBD1B-A738-410F-B928-586E001A33A9}" type="presParOf" srcId="{6E6ADE6D-935F-4882-A69C-24F0BD783680}" destId="{A14977B5-0964-4826-BC6D-819DBAE9DFF1}" srcOrd="0" destOrd="0" presId="urn:microsoft.com/office/officeart/2016/7/layout/BasicTimeline"/>
    <dgm:cxn modelId="{B41837A6-8320-4533-8A6C-57959E9F7847}" type="presParOf" srcId="{6E6ADE6D-935F-4882-A69C-24F0BD783680}" destId="{10023758-65DD-4EE7-B2CC-DE00538DCE62}" srcOrd="1" destOrd="0" presId="urn:microsoft.com/office/officeart/2016/7/layout/BasicTimeline"/>
    <dgm:cxn modelId="{2E646AFF-6C79-4D0E-9661-893728184AEE}" type="presParOf" srcId="{10023758-65DD-4EE7-B2CC-DE00538DCE62}" destId="{BE04902E-EA00-4852-8FA1-17DD0F5A3070}" srcOrd="0" destOrd="0" presId="urn:microsoft.com/office/officeart/2016/7/layout/BasicTimeline"/>
    <dgm:cxn modelId="{C2B1C4AD-D9B0-4E37-887C-9D5FD18BC670}" type="presParOf" srcId="{10023758-65DD-4EE7-B2CC-DE00538DCE62}" destId="{C086B5AC-83B0-469C-9BC6-E8526DF548DA}" srcOrd="1" destOrd="0" presId="urn:microsoft.com/office/officeart/2016/7/layout/BasicTimeline"/>
    <dgm:cxn modelId="{CE133E28-857E-4A4A-AE6C-4F1893531693}" type="presParOf" srcId="{6E6ADE6D-935F-4882-A69C-24F0BD783680}" destId="{A6D7E20B-BBB6-4A66-879C-3BDA64B66363}" srcOrd="2" destOrd="0" presId="urn:microsoft.com/office/officeart/2016/7/layout/BasicTimeline"/>
    <dgm:cxn modelId="{F2A69FED-67B4-4086-9047-B85BB80073EF}" type="presParOf" srcId="{6E6ADE6D-935F-4882-A69C-24F0BD783680}" destId="{2177799F-9277-4F15-AF03-B1862C74AA5C}" srcOrd="3" destOrd="0" presId="urn:microsoft.com/office/officeart/2016/7/layout/BasicTimeline"/>
    <dgm:cxn modelId="{5DDC541B-F9E7-4CC0-9768-CE8482979A2F}" type="presParOf" srcId="{6E6ADE6D-935F-4882-A69C-24F0BD783680}" destId="{B39715CA-E10F-4989-9A68-57F9F53129A9}"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998EAB-729E-444D-BBA4-17687F290ED2}">
      <dsp:nvSpPr>
        <dsp:cNvPr id="0" name=""/>
        <dsp:cNvSpPr/>
      </dsp:nvSpPr>
      <dsp:spPr>
        <a:xfrm>
          <a:off x="0" y="1828800"/>
          <a:ext cx="10036340" cy="0"/>
        </a:xfrm>
        <a:prstGeom prst="line">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B8242E6D-05CE-4014-A495-8ACBEB26B19F}">
      <dsp:nvSpPr>
        <dsp:cNvPr id="0" name=""/>
        <dsp:cNvSpPr/>
      </dsp:nvSpPr>
      <dsp:spPr>
        <a:xfrm>
          <a:off x="188181" y="1964131"/>
          <a:ext cx="2656494"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66750">
            <a:lnSpc>
              <a:spcPct val="90000"/>
            </a:lnSpc>
            <a:spcBef>
              <a:spcPct val="0"/>
            </a:spcBef>
            <a:spcAft>
              <a:spcPct val="35000"/>
            </a:spcAft>
            <a:buNone/>
            <a:defRPr b="1"/>
          </a:pPr>
          <a:r>
            <a:rPr lang="en-US" sz="1500" b="0" kern="1200">
              <a:latin typeface="TW Cen MT"/>
            </a:rPr>
            <a:t>1904</a:t>
          </a:r>
        </a:p>
      </dsp:txBody>
      <dsp:txXfrm>
        <a:off x="188181" y="1964131"/>
        <a:ext cx="2656494" cy="413308"/>
      </dsp:txXfrm>
    </dsp:sp>
    <dsp:sp modelId="{2680B25F-E199-4169-B23E-04A0BF771FC3}">
      <dsp:nvSpPr>
        <dsp:cNvPr id="0" name=""/>
        <dsp:cNvSpPr/>
      </dsp:nvSpPr>
      <dsp:spPr>
        <a:xfrm>
          <a:off x="7056" y="510235"/>
          <a:ext cx="3018743" cy="623620"/>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5570" tIns="115570" rIns="115570" bIns="115570" numCol="1" spcCol="1270" anchor="ctr" anchorCtr="0">
          <a:noAutofit/>
        </a:bodyPr>
        <a:lstStyle/>
        <a:p>
          <a:pPr marL="0" lvl="0" indent="0" algn="l" defTabSz="577850">
            <a:lnSpc>
              <a:spcPct val="90000"/>
            </a:lnSpc>
            <a:spcBef>
              <a:spcPct val="0"/>
            </a:spcBef>
            <a:spcAft>
              <a:spcPct val="35000"/>
            </a:spcAft>
            <a:buNone/>
          </a:pPr>
          <a:r>
            <a:rPr lang="en-US" sz="1300" kern="1200" err="1">
              <a:latin typeface="TW Cen MT"/>
            </a:rPr>
            <a:t>Vaccum</a:t>
          </a:r>
          <a:r>
            <a:rPr lang="en-US" sz="1300" kern="1200">
              <a:latin typeface="TW Cen MT"/>
            </a:rPr>
            <a:t> Tube</a:t>
          </a:r>
        </a:p>
      </dsp:txBody>
      <dsp:txXfrm>
        <a:off x="37499" y="540678"/>
        <a:ext cx="2957857" cy="562734"/>
      </dsp:txXfrm>
    </dsp:sp>
    <dsp:sp modelId="{3138EC16-9211-4AD1-84FA-3B983520366F}">
      <dsp:nvSpPr>
        <dsp:cNvPr id="0" name=""/>
        <dsp:cNvSpPr/>
      </dsp:nvSpPr>
      <dsp:spPr>
        <a:xfrm>
          <a:off x="1516428" y="1133855"/>
          <a:ext cx="0" cy="694944"/>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6E87424-99C9-4275-9AA9-75F52AEF6713}">
      <dsp:nvSpPr>
        <dsp:cNvPr id="0" name=""/>
        <dsp:cNvSpPr/>
      </dsp:nvSpPr>
      <dsp:spPr>
        <a:xfrm>
          <a:off x="1939052" y="1280159"/>
          <a:ext cx="2656494"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66750">
            <a:lnSpc>
              <a:spcPct val="90000"/>
            </a:lnSpc>
            <a:spcBef>
              <a:spcPct val="0"/>
            </a:spcBef>
            <a:spcAft>
              <a:spcPct val="35000"/>
            </a:spcAft>
            <a:buNone/>
            <a:defRPr b="1"/>
          </a:pPr>
          <a:r>
            <a:rPr lang="en-US" sz="1500" b="0" kern="1200">
              <a:latin typeface="TW Cen MT"/>
            </a:rPr>
            <a:t>1948</a:t>
          </a:r>
        </a:p>
      </dsp:txBody>
      <dsp:txXfrm>
        <a:off x="1939052" y="1280159"/>
        <a:ext cx="2656494" cy="413308"/>
      </dsp:txXfrm>
    </dsp:sp>
    <dsp:sp modelId="{9922CB79-A130-4ACF-8221-18539BB7C81B}">
      <dsp:nvSpPr>
        <dsp:cNvPr id="0" name=""/>
        <dsp:cNvSpPr/>
      </dsp:nvSpPr>
      <dsp:spPr>
        <a:xfrm>
          <a:off x="1488996" y="1801367"/>
          <a:ext cx="54864" cy="54864"/>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371123-BF7C-4E5E-AEC3-92054126EC62}">
      <dsp:nvSpPr>
        <dsp:cNvPr id="0" name=""/>
        <dsp:cNvSpPr/>
      </dsp:nvSpPr>
      <dsp:spPr>
        <a:xfrm>
          <a:off x="1757927" y="2523744"/>
          <a:ext cx="3018743" cy="623620"/>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5570" tIns="115570" rIns="115570" bIns="115570" numCol="1" spcCol="1270" anchor="ctr" anchorCtr="0">
          <a:noAutofit/>
        </a:bodyPr>
        <a:lstStyle/>
        <a:p>
          <a:pPr marL="0" lvl="0" indent="0" algn="l" defTabSz="577850">
            <a:lnSpc>
              <a:spcPct val="90000"/>
            </a:lnSpc>
            <a:spcBef>
              <a:spcPct val="0"/>
            </a:spcBef>
            <a:spcAft>
              <a:spcPct val="35000"/>
            </a:spcAft>
            <a:buNone/>
          </a:pPr>
          <a:r>
            <a:rPr lang="en-US" sz="1300" kern="1200">
              <a:latin typeface="TW Cen MT"/>
            </a:rPr>
            <a:t>Invention of Bipolar Junction Transistor</a:t>
          </a:r>
        </a:p>
      </dsp:txBody>
      <dsp:txXfrm>
        <a:off x="1788370" y="2554187"/>
        <a:ext cx="2957857" cy="562734"/>
      </dsp:txXfrm>
    </dsp:sp>
    <dsp:sp modelId="{41189D32-E84B-44E1-980B-ACA829204A09}">
      <dsp:nvSpPr>
        <dsp:cNvPr id="0" name=""/>
        <dsp:cNvSpPr/>
      </dsp:nvSpPr>
      <dsp:spPr>
        <a:xfrm>
          <a:off x="3267299" y="1828799"/>
          <a:ext cx="0" cy="694944"/>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4937B66C-A78B-4F47-9051-B4753AEF9CAB}">
      <dsp:nvSpPr>
        <dsp:cNvPr id="0" name=""/>
        <dsp:cNvSpPr/>
      </dsp:nvSpPr>
      <dsp:spPr>
        <a:xfrm>
          <a:off x="3689923" y="1964131"/>
          <a:ext cx="2656494"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66750">
            <a:lnSpc>
              <a:spcPct val="90000"/>
            </a:lnSpc>
            <a:spcBef>
              <a:spcPct val="0"/>
            </a:spcBef>
            <a:spcAft>
              <a:spcPct val="35000"/>
            </a:spcAft>
            <a:buNone/>
            <a:defRPr b="1"/>
          </a:pPr>
          <a:r>
            <a:rPr lang="en-US" sz="1500" b="0" kern="1200">
              <a:solidFill>
                <a:srgbClr val="444444"/>
              </a:solidFill>
              <a:latin typeface="TW Cen MT"/>
              <a:ea typeface="Calibri"/>
              <a:cs typeface="Calibri"/>
            </a:rPr>
            <a:t>1956</a:t>
          </a:r>
        </a:p>
      </dsp:txBody>
      <dsp:txXfrm>
        <a:off x="3689923" y="1964131"/>
        <a:ext cx="2656494" cy="413308"/>
      </dsp:txXfrm>
    </dsp:sp>
    <dsp:sp modelId="{2AF9FA4C-8192-4892-93B5-287D280B148F}">
      <dsp:nvSpPr>
        <dsp:cNvPr id="0" name=""/>
        <dsp:cNvSpPr/>
      </dsp:nvSpPr>
      <dsp:spPr>
        <a:xfrm>
          <a:off x="3239867" y="1801367"/>
          <a:ext cx="54864" cy="54864"/>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449C6B-6999-4587-951B-BAC16E7A9209}">
      <dsp:nvSpPr>
        <dsp:cNvPr id="0" name=""/>
        <dsp:cNvSpPr/>
      </dsp:nvSpPr>
      <dsp:spPr>
        <a:xfrm>
          <a:off x="3508798" y="510235"/>
          <a:ext cx="3018743" cy="623620"/>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5570" tIns="115570" rIns="115570" bIns="115570" numCol="1" spcCol="1270" anchor="ctr" anchorCtr="0">
          <a:noAutofit/>
        </a:bodyPr>
        <a:lstStyle/>
        <a:p>
          <a:pPr marL="0" lvl="0" indent="0" algn="l" defTabSz="577850">
            <a:lnSpc>
              <a:spcPct val="90000"/>
            </a:lnSpc>
            <a:spcBef>
              <a:spcPct val="0"/>
            </a:spcBef>
            <a:spcAft>
              <a:spcPct val="35000"/>
            </a:spcAft>
            <a:buNone/>
          </a:pPr>
          <a:r>
            <a:rPr lang="en-US" sz="1300" b="0" kern="1200">
              <a:solidFill>
                <a:srgbClr val="444444"/>
              </a:solidFill>
              <a:latin typeface="TW Cen MT"/>
              <a:ea typeface="Calibri"/>
              <a:cs typeface="Calibri"/>
            </a:rPr>
            <a:t>Design of Insulated-Gate Field Effect Transistor (aka MOSFET)</a:t>
          </a:r>
        </a:p>
      </dsp:txBody>
      <dsp:txXfrm>
        <a:off x="3539241" y="540678"/>
        <a:ext cx="2957857" cy="562734"/>
      </dsp:txXfrm>
    </dsp:sp>
    <dsp:sp modelId="{6A9EC936-9BA9-49D5-A61E-EEF257ACE04E}">
      <dsp:nvSpPr>
        <dsp:cNvPr id="0" name=""/>
        <dsp:cNvSpPr/>
      </dsp:nvSpPr>
      <dsp:spPr>
        <a:xfrm>
          <a:off x="5018170" y="1133855"/>
          <a:ext cx="0" cy="694944"/>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D4683EE8-C863-406B-863B-7E7F71F4EB38}">
      <dsp:nvSpPr>
        <dsp:cNvPr id="0" name=""/>
        <dsp:cNvSpPr/>
      </dsp:nvSpPr>
      <dsp:spPr>
        <a:xfrm>
          <a:off x="5440794" y="1280159"/>
          <a:ext cx="2656494"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66750">
            <a:lnSpc>
              <a:spcPct val="90000"/>
            </a:lnSpc>
            <a:spcBef>
              <a:spcPct val="0"/>
            </a:spcBef>
            <a:spcAft>
              <a:spcPct val="35000"/>
            </a:spcAft>
            <a:buNone/>
            <a:defRPr b="1"/>
          </a:pPr>
          <a:r>
            <a:rPr lang="en-US" sz="1500" b="0" kern="1200">
              <a:latin typeface="TW Cen MT"/>
            </a:rPr>
            <a:t>1958</a:t>
          </a:r>
        </a:p>
      </dsp:txBody>
      <dsp:txXfrm>
        <a:off x="5440794" y="1280159"/>
        <a:ext cx="2656494" cy="413308"/>
      </dsp:txXfrm>
    </dsp:sp>
    <dsp:sp modelId="{BECCE2AC-685C-409A-8C51-B58174082995}">
      <dsp:nvSpPr>
        <dsp:cNvPr id="0" name=""/>
        <dsp:cNvSpPr/>
      </dsp:nvSpPr>
      <dsp:spPr>
        <a:xfrm>
          <a:off x="4990738" y="1801367"/>
          <a:ext cx="54864" cy="54864"/>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09BD60-B8D8-4DF8-A9AE-49DA921CB78A}">
      <dsp:nvSpPr>
        <dsp:cNvPr id="0" name=""/>
        <dsp:cNvSpPr/>
      </dsp:nvSpPr>
      <dsp:spPr>
        <a:xfrm>
          <a:off x="5259669" y="2523744"/>
          <a:ext cx="3018743" cy="623620"/>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5570" tIns="115570" rIns="115570" bIns="115570" numCol="1" spcCol="1270" anchor="ctr" anchorCtr="0">
          <a:noAutofit/>
        </a:bodyPr>
        <a:lstStyle/>
        <a:p>
          <a:pPr marL="0" lvl="0" indent="0" algn="l" defTabSz="577850">
            <a:lnSpc>
              <a:spcPct val="90000"/>
            </a:lnSpc>
            <a:spcBef>
              <a:spcPct val="0"/>
            </a:spcBef>
            <a:spcAft>
              <a:spcPct val="35000"/>
            </a:spcAft>
            <a:buNone/>
          </a:pPr>
          <a:r>
            <a:rPr lang="en-US" sz="1300" b="0" kern="1200">
              <a:latin typeface="TW Cen MT"/>
            </a:rPr>
            <a:t>Development of First Integrated Circuit</a:t>
          </a:r>
        </a:p>
      </dsp:txBody>
      <dsp:txXfrm>
        <a:off x="5290112" y="2554187"/>
        <a:ext cx="2957857" cy="562734"/>
      </dsp:txXfrm>
    </dsp:sp>
    <dsp:sp modelId="{35F16744-5992-4C2F-BC3F-C5B52694A5E5}">
      <dsp:nvSpPr>
        <dsp:cNvPr id="0" name=""/>
        <dsp:cNvSpPr/>
      </dsp:nvSpPr>
      <dsp:spPr>
        <a:xfrm>
          <a:off x="6769041" y="1828799"/>
          <a:ext cx="0" cy="694944"/>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A14977B5-0964-4826-BC6D-819DBAE9DFF1}">
      <dsp:nvSpPr>
        <dsp:cNvPr id="0" name=""/>
        <dsp:cNvSpPr/>
      </dsp:nvSpPr>
      <dsp:spPr>
        <a:xfrm>
          <a:off x="7191665" y="1964131"/>
          <a:ext cx="2656494" cy="413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66750">
            <a:lnSpc>
              <a:spcPct val="90000"/>
            </a:lnSpc>
            <a:spcBef>
              <a:spcPct val="0"/>
            </a:spcBef>
            <a:spcAft>
              <a:spcPct val="35000"/>
            </a:spcAft>
            <a:buNone/>
            <a:defRPr b="1"/>
          </a:pPr>
          <a:r>
            <a:rPr lang="en-US" sz="1500" b="0" kern="1200">
              <a:solidFill>
                <a:srgbClr val="444444"/>
              </a:solidFill>
              <a:latin typeface="TW Cen MT"/>
              <a:ea typeface="Calibri"/>
              <a:cs typeface="Calibri"/>
            </a:rPr>
            <a:t>2001</a:t>
          </a:r>
        </a:p>
      </dsp:txBody>
      <dsp:txXfrm>
        <a:off x="7191665" y="1964131"/>
        <a:ext cx="2656494" cy="413308"/>
      </dsp:txXfrm>
    </dsp:sp>
    <dsp:sp modelId="{3FB0BAA7-90D5-49A7-A7D1-82D6451F0EB1}">
      <dsp:nvSpPr>
        <dsp:cNvPr id="0" name=""/>
        <dsp:cNvSpPr/>
      </dsp:nvSpPr>
      <dsp:spPr>
        <a:xfrm>
          <a:off x="6741609" y="1801367"/>
          <a:ext cx="54864" cy="54864"/>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04902E-EA00-4852-8FA1-17DD0F5A3070}">
      <dsp:nvSpPr>
        <dsp:cNvPr id="0" name=""/>
        <dsp:cNvSpPr/>
      </dsp:nvSpPr>
      <dsp:spPr>
        <a:xfrm>
          <a:off x="7010541" y="510235"/>
          <a:ext cx="3018743" cy="623620"/>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5570" tIns="115570" rIns="115570" bIns="115570" numCol="1" spcCol="1270" anchor="ctr" anchorCtr="0">
          <a:noAutofit/>
        </a:bodyPr>
        <a:lstStyle/>
        <a:p>
          <a:pPr marL="0" lvl="0" indent="0" algn="l" defTabSz="577850">
            <a:lnSpc>
              <a:spcPct val="90000"/>
            </a:lnSpc>
            <a:spcBef>
              <a:spcPct val="0"/>
            </a:spcBef>
            <a:spcAft>
              <a:spcPct val="35000"/>
            </a:spcAft>
            <a:buNone/>
          </a:pPr>
          <a:r>
            <a:rPr lang="en-US" sz="1300" b="0" kern="1200">
              <a:solidFill>
                <a:srgbClr val="444444"/>
              </a:solidFill>
              <a:latin typeface="TW Cen MT"/>
              <a:ea typeface="Calibri"/>
              <a:cs typeface="Calibri"/>
            </a:rPr>
            <a:t>Fabrication of first quasi planar FinFET device</a:t>
          </a:r>
          <a:endParaRPr lang="en-US" sz="1300" kern="1200">
            <a:latin typeface="TW Cen MT"/>
          </a:endParaRPr>
        </a:p>
      </dsp:txBody>
      <dsp:txXfrm>
        <a:off x="7040984" y="540678"/>
        <a:ext cx="2957857" cy="562734"/>
      </dsp:txXfrm>
    </dsp:sp>
    <dsp:sp modelId="{A6D7E20B-BBB6-4A66-879C-3BDA64B66363}">
      <dsp:nvSpPr>
        <dsp:cNvPr id="0" name=""/>
        <dsp:cNvSpPr/>
      </dsp:nvSpPr>
      <dsp:spPr>
        <a:xfrm>
          <a:off x="8519912" y="1133855"/>
          <a:ext cx="0" cy="694944"/>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2177799F-9277-4F15-AF03-B1862C74AA5C}">
      <dsp:nvSpPr>
        <dsp:cNvPr id="0" name=""/>
        <dsp:cNvSpPr/>
      </dsp:nvSpPr>
      <dsp:spPr>
        <a:xfrm>
          <a:off x="8492480" y="1801367"/>
          <a:ext cx="54864" cy="54864"/>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793A41-8440-3645-7AED-BD59B93B3623}"/>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19DD6A3-4FF5-2B8D-203B-26A0725AB121}"/>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CAB957F7-F5B5-46D2-8511-01B148AA0D62}" type="datetimeFigureOut">
              <a:rPr lang="en-US" smtClean="0"/>
              <a:t>14-Dec-25</a:t>
            </a:fld>
            <a:endParaRPr lang="en-US"/>
          </a:p>
        </p:txBody>
      </p:sp>
      <p:sp>
        <p:nvSpPr>
          <p:cNvPr id="4" name="Footer Placeholder 3">
            <a:extLst>
              <a:ext uri="{FF2B5EF4-FFF2-40B4-BE49-F238E27FC236}">
                <a16:creationId xmlns:a16="http://schemas.microsoft.com/office/drawing/2014/main" id="{614A6083-5A88-6DB6-0241-3943672AB03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4DB3976-BF98-B62B-4B2E-E9091AF19C1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0EE7511-5C50-46E3-90BE-31448123A871}" type="slidenum">
              <a:rPr lang="en-US" smtClean="0"/>
              <a:t>‹#›</a:t>
            </a:fld>
            <a:endParaRPr lang="en-US"/>
          </a:p>
        </p:txBody>
      </p:sp>
    </p:spTree>
    <p:extLst>
      <p:ext uri="{BB962C8B-B14F-4D97-AF65-F5344CB8AC3E}">
        <p14:creationId xmlns:p14="http://schemas.microsoft.com/office/powerpoint/2010/main" val="928605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b="1"/>
            </a:lvl1pPr>
          </a:lstStyle>
          <a:p>
            <a:r>
              <a:rPr lang="en-US"/>
              <a:t>[116] Design of VLSI Systems</a:t>
            </a:r>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b="1"/>
            </a:lvl1pPr>
          </a:lstStyle>
          <a:p>
            <a:r>
              <a:rPr lang="en-US"/>
              <a:t>24 October 2025</a:t>
            </a: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1"/>
            </a:lvl1pPr>
          </a:lstStyle>
          <a:p>
            <a:r>
              <a:rPr lang="en-US"/>
              <a:t>Group 02: Kapetanios et Papadopoulos</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1"/>
            </a:lvl1pPr>
          </a:lstStyle>
          <a:p>
            <a:fld id="{F44D2838-C2F3-46B3-ABD5-36E1AA433AB8}" type="slidenum">
              <a:rPr lang="en-US" smtClean="0"/>
              <a:pPr/>
              <a:t>‹#›</a:t>
            </a:fld>
            <a:endParaRPr lang="en-US"/>
          </a:p>
        </p:txBody>
      </p:sp>
    </p:spTree>
    <p:extLst>
      <p:ext uri="{BB962C8B-B14F-4D97-AF65-F5344CB8AC3E}">
        <p14:creationId xmlns:p14="http://schemas.microsoft.com/office/powerpoint/2010/main" val="3476570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44D2838-C2F3-46B3-ABD5-36E1AA433AB8}" type="slidenum">
              <a:rPr lang="en-US" smtClean="0"/>
              <a:t>1</a:t>
            </a:fld>
            <a:endParaRPr lang="en-US"/>
          </a:p>
        </p:txBody>
      </p:sp>
    </p:spTree>
    <p:extLst>
      <p:ext uri="{BB962C8B-B14F-4D97-AF65-F5344CB8AC3E}">
        <p14:creationId xmlns:p14="http://schemas.microsoft.com/office/powerpoint/2010/main" val="316700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666A8-7C7B-3952-ABCD-C2F1D5F08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9CF5BB-A6B7-8F3F-BD1D-FB4718D9D9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AE0D68-3511-F231-5F87-4ED8E84DFF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4A5379F-F368-F561-F352-5AAA93B124CB}"/>
              </a:ext>
            </a:extLst>
          </p:cNvPr>
          <p:cNvSpPr>
            <a:spLocks noGrp="1"/>
          </p:cNvSpPr>
          <p:nvPr>
            <p:ph type="sldNum" sz="quarter" idx="5"/>
          </p:nvPr>
        </p:nvSpPr>
        <p:spPr/>
        <p:txBody>
          <a:bodyPr/>
          <a:lstStyle/>
          <a:p>
            <a:fld id="{F44D2838-C2F3-46B3-ABD5-36E1AA433AB8}" type="slidenum">
              <a:rPr lang="en-US" smtClean="0"/>
              <a:pPr/>
              <a:t>4</a:t>
            </a:fld>
            <a:endParaRPr lang="en-US"/>
          </a:p>
        </p:txBody>
      </p:sp>
    </p:spTree>
    <p:extLst>
      <p:ext uri="{BB962C8B-B14F-4D97-AF65-F5344CB8AC3E}">
        <p14:creationId xmlns:p14="http://schemas.microsoft.com/office/powerpoint/2010/main" val="3482150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BE677-0233-111B-C588-A7EB5E7010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AFCC18-13A9-8AEE-F569-6C463A4FA5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44BB57-5DDF-9C73-33EC-006AD0D127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7ACBDE0-4B6B-4E7D-67EE-82810B2296CA}"/>
              </a:ext>
            </a:extLst>
          </p:cNvPr>
          <p:cNvSpPr>
            <a:spLocks noGrp="1"/>
          </p:cNvSpPr>
          <p:nvPr>
            <p:ph type="sldNum" sz="quarter" idx="5"/>
          </p:nvPr>
        </p:nvSpPr>
        <p:spPr/>
        <p:txBody>
          <a:bodyPr/>
          <a:lstStyle/>
          <a:p>
            <a:fld id="{F44D2838-C2F3-46B3-ABD5-36E1AA433AB8}" type="slidenum">
              <a:rPr lang="en-US" smtClean="0"/>
              <a:pPr/>
              <a:t>5</a:t>
            </a:fld>
            <a:endParaRPr lang="en-US"/>
          </a:p>
        </p:txBody>
      </p:sp>
    </p:spTree>
    <p:extLst>
      <p:ext uri="{BB962C8B-B14F-4D97-AF65-F5344CB8AC3E}">
        <p14:creationId xmlns:p14="http://schemas.microsoft.com/office/powerpoint/2010/main" val="602400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C0E40-9377-29A3-7554-969E175E05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FBB675-EF1A-47E7-A1A8-0B805F0272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C4EE3F-D7E2-CDD7-61EE-26523A0FB0F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62DA58-2BED-8B7E-7502-F4DB5CD9B890}"/>
              </a:ext>
            </a:extLst>
          </p:cNvPr>
          <p:cNvSpPr>
            <a:spLocks noGrp="1"/>
          </p:cNvSpPr>
          <p:nvPr>
            <p:ph type="sldNum" sz="quarter" idx="5"/>
          </p:nvPr>
        </p:nvSpPr>
        <p:spPr/>
        <p:txBody>
          <a:bodyPr/>
          <a:lstStyle/>
          <a:p>
            <a:fld id="{F44D2838-C2F3-46B3-ABD5-36E1AA433AB8}" type="slidenum">
              <a:rPr lang="en-US" smtClean="0"/>
              <a:pPr/>
              <a:t>7</a:t>
            </a:fld>
            <a:endParaRPr lang="en-US"/>
          </a:p>
        </p:txBody>
      </p:sp>
    </p:spTree>
    <p:extLst>
      <p:ext uri="{BB962C8B-B14F-4D97-AF65-F5344CB8AC3E}">
        <p14:creationId xmlns:p14="http://schemas.microsoft.com/office/powerpoint/2010/main" val="2502880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E4C64-76B8-4D5E-E21A-741BF15C04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4285E0-2A43-904D-7185-2968CA1B75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403AEF-16D3-0B1A-2A36-6E9358684D4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76C192-639A-6E32-CAD6-7B254C670087}"/>
              </a:ext>
            </a:extLst>
          </p:cNvPr>
          <p:cNvSpPr>
            <a:spLocks noGrp="1"/>
          </p:cNvSpPr>
          <p:nvPr>
            <p:ph type="sldNum" sz="quarter" idx="5"/>
          </p:nvPr>
        </p:nvSpPr>
        <p:spPr/>
        <p:txBody>
          <a:bodyPr/>
          <a:lstStyle/>
          <a:p>
            <a:fld id="{F44D2838-C2F3-46B3-ABD5-36E1AA433AB8}" type="slidenum">
              <a:rPr lang="en-US" smtClean="0"/>
              <a:pPr/>
              <a:t>8</a:t>
            </a:fld>
            <a:endParaRPr lang="en-US"/>
          </a:p>
        </p:txBody>
      </p:sp>
    </p:spTree>
    <p:extLst>
      <p:ext uri="{BB962C8B-B14F-4D97-AF65-F5344CB8AC3E}">
        <p14:creationId xmlns:p14="http://schemas.microsoft.com/office/powerpoint/2010/main" val="184687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D5B9E-DFCF-BD6A-E0A8-152F15F5B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FCA148-9219-D487-7661-EDE278A555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007CDF-9CCB-BE0A-89EA-1539F09CF97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303BF22-120B-C564-BC52-6DED568837EF}"/>
              </a:ext>
            </a:extLst>
          </p:cNvPr>
          <p:cNvSpPr>
            <a:spLocks noGrp="1"/>
          </p:cNvSpPr>
          <p:nvPr>
            <p:ph type="sldNum" sz="quarter" idx="5"/>
          </p:nvPr>
        </p:nvSpPr>
        <p:spPr/>
        <p:txBody>
          <a:bodyPr/>
          <a:lstStyle/>
          <a:p>
            <a:fld id="{F44D2838-C2F3-46B3-ABD5-36E1AA433AB8}" type="slidenum">
              <a:rPr lang="en-US" smtClean="0"/>
              <a:pPr/>
              <a:t>9</a:t>
            </a:fld>
            <a:endParaRPr lang="en-US"/>
          </a:p>
        </p:txBody>
      </p:sp>
    </p:spTree>
    <p:extLst>
      <p:ext uri="{BB962C8B-B14F-4D97-AF65-F5344CB8AC3E}">
        <p14:creationId xmlns:p14="http://schemas.microsoft.com/office/powerpoint/2010/main" val="790169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B1EE2-F1EB-1CAF-825F-E7BB1A7862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B1AD40-C910-452C-A9FB-B9B3CEAF52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A42A13-EAAA-260B-8A6C-C8D64E6A3F9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F3AB2B3-0699-F407-FE2F-59E71A3BC207}"/>
              </a:ext>
            </a:extLst>
          </p:cNvPr>
          <p:cNvSpPr>
            <a:spLocks noGrp="1"/>
          </p:cNvSpPr>
          <p:nvPr>
            <p:ph type="sldNum" sz="quarter" idx="5"/>
          </p:nvPr>
        </p:nvSpPr>
        <p:spPr/>
        <p:txBody>
          <a:bodyPr/>
          <a:lstStyle/>
          <a:p>
            <a:fld id="{F44D2838-C2F3-46B3-ABD5-36E1AA433AB8}" type="slidenum">
              <a:rPr lang="en-US" smtClean="0"/>
              <a:pPr/>
              <a:t>10</a:t>
            </a:fld>
            <a:endParaRPr lang="en-US"/>
          </a:p>
        </p:txBody>
      </p:sp>
    </p:spTree>
    <p:extLst>
      <p:ext uri="{BB962C8B-B14F-4D97-AF65-F5344CB8AC3E}">
        <p14:creationId xmlns:p14="http://schemas.microsoft.com/office/powerpoint/2010/main" val="615750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601CF-6655-5407-07B9-DF619BB82C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D3D4F6-21EA-D2F1-67A1-990BB126CA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7ACF85-C0DC-60BB-B764-B1DC5EF57FF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DF5EAFC-28F1-7747-33AE-72D5B9F02449}"/>
              </a:ext>
            </a:extLst>
          </p:cNvPr>
          <p:cNvSpPr>
            <a:spLocks noGrp="1"/>
          </p:cNvSpPr>
          <p:nvPr>
            <p:ph type="sldNum" sz="quarter" idx="5"/>
          </p:nvPr>
        </p:nvSpPr>
        <p:spPr/>
        <p:txBody>
          <a:bodyPr/>
          <a:lstStyle/>
          <a:p>
            <a:fld id="{F44D2838-C2F3-46B3-ABD5-36E1AA433AB8}" type="slidenum">
              <a:rPr lang="en-US" smtClean="0"/>
              <a:pPr/>
              <a:t>12</a:t>
            </a:fld>
            <a:endParaRPr lang="en-US"/>
          </a:p>
        </p:txBody>
      </p:sp>
    </p:spTree>
    <p:extLst>
      <p:ext uri="{BB962C8B-B14F-4D97-AF65-F5344CB8AC3E}">
        <p14:creationId xmlns:p14="http://schemas.microsoft.com/office/powerpoint/2010/main" val="1697599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A716A-1447-1025-EBCA-2C0B49E72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08EFA-9C8B-FB2D-E256-E412750B52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9FE88E-0008-2D56-F006-FC6D956E9F1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84BFCE-4043-B033-B95E-B35FFDAEF98D}"/>
              </a:ext>
            </a:extLst>
          </p:cNvPr>
          <p:cNvSpPr>
            <a:spLocks noGrp="1"/>
          </p:cNvSpPr>
          <p:nvPr>
            <p:ph type="sldNum" sz="quarter" idx="5"/>
          </p:nvPr>
        </p:nvSpPr>
        <p:spPr/>
        <p:txBody>
          <a:bodyPr/>
          <a:lstStyle/>
          <a:p>
            <a:fld id="{F44D2838-C2F3-46B3-ABD5-36E1AA433AB8}" type="slidenum">
              <a:rPr lang="en-US" smtClean="0"/>
              <a:pPr/>
              <a:t>13</a:t>
            </a:fld>
            <a:endParaRPr lang="en-US"/>
          </a:p>
        </p:txBody>
      </p:sp>
    </p:spTree>
    <p:extLst>
      <p:ext uri="{BB962C8B-B14F-4D97-AF65-F5344CB8AC3E}">
        <p14:creationId xmlns:p14="http://schemas.microsoft.com/office/powerpoint/2010/main" val="13815285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8D07D-0286-E597-C04B-58DB46D265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2D98FD-0433-5AB3-317B-A0E7793837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C6DF4B-C259-F038-F542-C02B7B0ED95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337699-B2EE-D92A-7D28-21125EFB64AE}"/>
              </a:ext>
            </a:extLst>
          </p:cNvPr>
          <p:cNvSpPr>
            <a:spLocks noGrp="1"/>
          </p:cNvSpPr>
          <p:nvPr>
            <p:ph type="sldNum" sz="quarter" idx="5"/>
          </p:nvPr>
        </p:nvSpPr>
        <p:spPr/>
        <p:txBody>
          <a:bodyPr/>
          <a:lstStyle/>
          <a:p>
            <a:fld id="{F44D2838-C2F3-46B3-ABD5-36E1AA433AB8}" type="slidenum">
              <a:rPr lang="en-US" smtClean="0"/>
              <a:pPr/>
              <a:t>14</a:t>
            </a:fld>
            <a:endParaRPr lang="en-US"/>
          </a:p>
        </p:txBody>
      </p:sp>
    </p:spTree>
    <p:extLst>
      <p:ext uri="{BB962C8B-B14F-4D97-AF65-F5344CB8AC3E}">
        <p14:creationId xmlns:p14="http://schemas.microsoft.com/office/powerpoint/2010/main" val="4086217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E88B7-436C-E654-33F4-D13B6C444C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EF7DF5-4F43-0D36-82E8-37BF631C3F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5AB31D-06E2-5D18-2F9C-EBE9E9B76A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00CF4E7-9A39-CE69-EA43-46834AE70249}"/>
              </a:ext>
            </a:extLst>
          </p:cNvPr>
          <p:cNvSpPr>
            <a:spLocks noGrp="1"/>
          </p:cNvSpPr>
          <p:nvPr>
            <p:ph type="sldNum" sz="quarter" idx="5"/>
          </p:nvPr>
        </p:nvSpPr>
        <p:spPr/>
        <p:txBody>
          <a:bodyPr/>
          <a:lstStyle/>
          <a:p>
            <a:fld id="{F44D2838-C2F3-46B3-ABD5-36E1AA433AB8}" type="slidenum">
              <a:rPr lang="en-US" smtClean="0"/>
              <a:pPr/>
              <a:t>15</a:t>
            </a:fld>
            <a:endParaRPr lang="en-US"/>
          </a:p>
        </p:txBody>
      </p:sp>
    </p:spTree>
    <p:extLst>
      <p:ext uri="{BB962C8B-B14F-4D97-AF65-F5344CB8AC3E}">
        <p14:creationId xmlns:p14="http://schemas.microsoft.com/office/powerpoint/2010/main" val="8516405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645F1-EA8B-4A89-2E1C-D9971BB30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57DA47-953B-DB8C-2309-3650371C45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CF25A4-6749-1F9E-E538-1EE526E4FE13}"/>
              </a:ext>
            </a:extLst>
          </p:cNvPr>
          <p:cNvSpPr>
            <a:spLocks noGrp="1"/>
          </p:cNvSpPr>
          <p:nvPr>
            <p:ph type="body" idx="1"/>
          </p:nvPr>
        </p:nvSpPr>
        <p:spPr/>
        <p:txBody>
          <a:bodyPr/>
          <a:lstStyle/>
          <a:p>
            <a:pPr marL="0" indent="0">
              <a:buFont typeface="Arial" panose="020B0604020202020204" pitchFamily="34" charset="0"/>
              <a:buNone/>
            </a:pPr>
            <a:endParaRPr lang="en-GB" sz="1400" b="0"/>
          </a:p>
        </p:txBody>
      </p:sp>
      <p:sp>
        <p:nvSpPr>
          <p:cNvPr id="4" name="Slide Number Placeholder 3">
            <a:extLst>
              <a:ext uri="{FF2B5EF4-FFF2-40B4-BE49-F238E27FC236}">
                <a16:creationId xmlns:a16="http://schemas.microsoft.com/office/drawing/2014/main" id="{1D0154BE-FF94-62F7-567C-7C020C706804}"/>
              </a:ext>
            </a:extLst>
          </p:cNvPr>
          <p:cNvSpPr>
            <a:spLocks noGrp="1"/>
          </p:cNvSpPr>
          <p:nvPr>
            <p:ph type="sldNum" sz="quarter" idx="5"/>
          </p:nvPr>
        </p:nvSpPr>
        <p:spPr/>
        <p:txBody>
          <a:bodyPr/>
          <a:lstStyle/>
          <a:p>
            <a:fld id="{F44D2838-C2F3-46B3-ABD5-36E1AA433AB8}" type="slidenum">
              <a:rPr lang="en-US" smtClean="0"/>
              <a:pPr/>
              <a:t>17</a:t>
            </a:fld>
            <a:endParaRPr lang="en-US"/>
          </a:p>
        </p:txBody>
      </p:sp>
    </p:spTree>
    <p:extLst>
      <p:ext uri="{BB962C8B-B14F-4D97-AF65-F5344CB8AC3E}">
        <p14:creationId xmlns:p14="http://schemas.microsoft.com/office/powerpoint/2010/main" val="11970208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60588-946E-7C0D-8880-F60B93A85A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58E660-7F4D-E1E8-F5F6-2672BD8799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0DBB5A-86BB-32EF-92E7-458CE7273296}"/>
              </a:ext>
            </a:extLst>
          </p:cNvPr>
          <p:cNvSpPr>
            <a:spLocks noGrp="1"/>
          </p:cNvSpPr>
          <p:nvPr>
            <p:ph type="body" idx="1"/>
          </p:nvPr>
        </p:nvSpPr>
        <p:spPr/>
        <p:txBody>
          <a:bodyPr/>
          <a:lstStyle/>
          <a:p>
            <a:pPr marL="0" indent="0">
              <a:buFont typeface="Arial" panose="020B0604020202020204" pitchFamily="34" charset="0"/>
              <a:buNone/>
            </a:pPr>
            <a:endParaRPr lang="el-GR"/>
          </a:p>
        </p:txBody>
      </p:sp>
      <p:sp>
        <p:nvSpPr>
          <p:cNvPr id="4" name="Slide Number Placeholder 3">
            <a:extLst>
              <a:ext uri="{FF2B5EF4-FFF2-40B4-BE49-F238E27FC236}">
                <a16:creationId xmlns:a16="http://schemas.microsoft.com/office/drawing/2014/main" id="{904105B5-9817-B4D0-DA28-349218EE3960}"/>
              </a:ext>
            </a:extLst>
          </p:cNvPr>
          <p:cNvSpPr>
            <a:spLocks noGrp="1"/>
          </p:cNvSpPr>
          <p:nvPr>
            <p:ph type="sldNum" sz="quarter" idx="5"/>
          </p:nvPr>
        </p:nvSpPr>
        <p:spPr/>
        <p:txBody>
          <a:bodyPr/>
          <a:lstStyle/>
          <a:p>
            <a:fld id="{F44D2838-C2F3-46B3-ABD5-36E1AA433AB8}" type="slidenum">
              <a:rPr lang="en-US" smtClean="0"/>
              <a:pPr/>
              <a:t>19</a:t>
            </a:fld>
            <a:endParaRPr lang="en-US"/>
          </a:p>
        </p:txBody>
      </p:sp>
    </p:spTree>
    <p:extLst>
      <p:ext uri="{BB962C8B-B14F-4D97-AF65-F5344CB8AC3E}">
        <p14:creationId xmlns:p14="http://schemas.microsoft.com/office/powerpoint/2010/main" val="23713891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6A454-F583-A609-4B3E-8BEABBAADF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2C0077-7F4B-3E61-D9BF-204D88010B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C2D79-19AC-09D9-C513-B039799DEFB5}"/>
              </a:ext>
            </a:extLst>
          </p:cNvPr>
          <p:cNvSpPr>
            <a:spLocks noGrp="1"/>
          </p:cNvSpPr>
          <p:nvPr>
            <p:ph type="body" idx="1"/>
          </p:nvPr>
        </p:nvSpPr>
        <p:spPr/>
        <p:txBody>
          <a:bodyPr/>
          <a:lstStyle/>
          <a:p>
            <a:pPr marL="0" indent="0">
              <a:buFont typeface="Arial" panose="020B0604020202020204" pitchFamily="34" charset="0"/>
              <a:buNone/>
            </a:pPr>
            <a:endParaRPr lang="el-GR"/>
          </a:p>
        </p:txBody>
      </p:sp>
      <p:sp>
        <p:nvSpPr>
          <p:cNvPr id="4" name="Slide Number Placeholder 3">
            <a:extLst>
              <a:ext uri="{FF2B5EF4-FFF2-40B4-BE49-F238E27FC236}">
                <a16:creationId xmlns:a16="http://schemas.microsoft.com/office/drawing/2014/main" id="{7711D2B2-DCB7-3547-6C81-0E23886A2A69}"/>
              </a:ext>
            </a:extLst>
          </p:cNvPr>
          <p:cNvSpPr>
            <a:spLocks noGrp="1"/>
          </p:cNvSpPr>
          <p:nvPr>
            <p:ph type="sldNum" sz="quarter" idx="5"/>
          </p:nvPr>
        </p:nvSpPr>
        <p:spPr/>
        <p:txBody>
          <a:bodyPr/>
          <a:lstStyle/>
          <a:p>
            <a:fld id="{F44D2838-C2F3-46B3-ABD5-36E1AA433AB8}" type="slidenum">
              <a:rPr lang="en-US" smtClean="0"/>
              <a:pPr/>
              <a:t>21</a:t>
            </a:fld>
            <a:endParaRPr lang="en-US"/>
          </a:p>
        </p:txBody>
      </p:sp>
    </p:spTree>
    <p:extLst>
      <p:ext uri="{BB962C8B-B14F-4D97-AF65-F5344CB8AC3E}">
        <p14:creationId xmlns:p14="http://schemas.microsoft.com/office/powerpoint/2010/main" val="14495969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7C267-8F6E-A147-0DBC-F70AAE6988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35FCB6-2DC1-30C6-7F2B-1C2BA568C8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703702-0BFC-ED7F-79D3-4FE18874B82E}"/>
              </a:ext>
            </a:extLst>
          </p:cNvPr>
          <p:cNvSpPr>
            <a:spLocks noGrp="1"/>
          </p:cNvSpPr>
          <p:nvPr>
            <p:ph type="body" idx="1"/>
          </p:nvPr>
        </p:nvSpPr>
        <p:spPr/>
        <p:txBody>
          <a:bodyPr/>
          <a:lstStyle/>
          <a:p>
            <a:pPr marL="0" indent="0">
              <a:buFont typeface="Arial" panose="020B0604020202020204" pitchFamily="34" charset="0"/>
              <a:buNone/>
            </a:pPr>
            <a:endParaRPr lang="el-GR"/>
          </a:p>
        </p:txBody>
      </p:sp>
      <p:sp>
        <p:nvSpPr>
          <p:cNvPr id="4" name="Slide Number Placeholder 3">
            <a:extLst>
              <a:ext uri="{FF2B5EF4-FFF2-40B4-BE49-F238E27FC236}">
                <a16:creationId xmlns:a16="http://schemas.microsoft.com/office/drawing/2014/main" id="{8D814656-23B5-FD3E-D06A-5A1332D4083F}"/>
              </a:ext>
            </a:extLst>
          </p:cNvPr>
          <p:cNvSpPr>
            <a:spLocks noGrp="1"/>
          </p:cNvSpPr>
          <p:nvPr>
            <p:ph type="sldNum" sz="quarter" idx="5"/>
          </p:nvPr>
        </p:nvSpPr>
        <p:spPr/>
        <p:txBody>
          <a:bodyPr/>
          <a:lstStyle/>
          <a:p>
            <a:fld id="{F44D2838-C2F3-46B3-ABD5-36E1AA433AB8}" type="slidenum">
              <a:rPr lang="en-US" smtClean="0"/>
              <a:pPr/>
              <a:t>22</a:t>
            </a:fld>
            <a:endParaRPr lang="en-US"/>
          </a:p>
        </p:txBody>
      </p:sp>
    </p:spTree>
    <p:extLst>
      <p:ext uri="{BB962C8B-B14F-4D97-AF65-F5344CB8AC3E}">
        <p14:creationId xmlns:p14="http://schemas.microsoft.com/office/powerpoint/2010/main" val="22097041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2079F-7EBB-13A3-72DE-22998F5F62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2912B-16A2-4496-FEC4-ECBE6CB8E4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987D1C-1096-001C-62F4-C1932B9FB3A3}"/>
              </a:ext>
            </a:extLst>
          </p:cNvPr>
          <p:cNvSpPr>
            <a:spLocks noGrp="1"/>
          </p:cNvSpPr>
          <p:nvPr>
            <p:ph type="body" idx="1"/>
          </p:nvPr>
        </p:nvSpPr>
        <p:spPr/>
        <p:txBody>
          <a:bodyPr/>
          <a:lstStyle/>
          <a:p>
            <a:pPr marL="0" indent="0">
              <a:buFont typeface="Arial" panose="020B0604020202020204" pitchFamily="34" charset="0"/>
              <a:buNone/>
            </a:pPr>
            <a:endParaRPr lang="el-GR"/>
          </a:p>
        </p:txBody>
      </p:sp>
      <p:sp>
        <p:nvSpPr>
          <p:cNvPr id="4" name="Slide Number Placeholder 3">
            <a:extLst>
              <a:ext uri="{FF2B5EF4-FFF2-40B4-BE49-F238E27FC236}">
                <a16:creationId xmlns:a16="http://schemas.microsoft.com/office/drawing/2014/main" id="{FC724510-5E3A-7CED-4B4F-A6CAE2B32C56}"/>
              </a:ext>
            </a:extLst>
          </p:cNvPr>
          <p:cNvSpPr>
            <a:spLocks noGrp="1"/>
          </p:cNvSpPr>
          <p:nvPr>
            <p:ph type="sldNum" sz="quarter" idx="5"/>
          </p:nvPr>
        </p:nvSpPr>
        <p:spPr/>
        <p:txBody>
          <a:bodyPr/>
          <a:lstStyle/>
          <a:p>
            <a:fld id="{F44D2838-C2F3-46B3-ABD5-36E1AA433AB8}" type="slidenum">
              <a:rPr lang="en-US" smtClean="0"/>
              <a:pPr/>
              <a:t>23</a:t>
            </a:fld>
            <a:endParaRPr lang="en-US"/>
          </a:p>
        </p:txBody>
      </p:sp>
    </p:spTree>
    <p:extLst>
      <p:ext uri="{BB962C8B-B14F-4D97-AF65-F5344CB8AC3E}">
        <p14:creationId xmlns:p14="http://schemas.microsoft.com/office/powerpoint/2010/main" val="11886348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17AF5-A65F-C162-64EC-06B48A3741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3291B6-6D7D-BC66-A888-16DB3C7163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851135-1B61-D59B-54B0-11CBF0025553}"/>
              </a:ext>
            </a:extLst>
          </p:cNvPr>
          <p:cNvSpPr>
            <a:spLocks noGrp="1"/>
          </p:cNvSpPr>
          <p:nvPr>
            <p:ph type="body" idx="1"/>
          </p:nvPr>
        </p:nvSpPr>
        <p:spPr/>
        <p:txBody>
          <a:bodyPr/>
          <a:lstStyle/>
          <a:p>
            <a:pPr marL="0" indent="0">
              <a:buFont typeface="Arial" panose="020B0604020202020204" pitchFamily="34" charset="0"/>
              <a:buNone/>
            </a:pPr>
            <a:endParaRPr lang="el-GR"/>
          </a:p>
        </p:txBody>
      </p:sp>
      <p:sp>
        <p:nvSpPr>
          <p:cNvPr id="4" name="Slide Number Placeholder 3">
            <a:extLst>
              <a:ext uri="{FF2B5EF4-FFF2-40B4-BE49-F238E27FC236}">
                <a16:creationId xmlns:a16="http://schemas.microsoft.com/office/drawing/2014/main" id="{99FBA820-B9BD-4A59-5956-B3AC5C7741F2}"/>
              </a:ext>
            </a:extLst>
          </p:cNvPr>
          <p:cNvSpPr>
            <a:spLocks noGrp="1"/>
          </p:cNvSpPr>
          <p:nvPr>
            <p:ph type="sldNum" sz="quarter" idx="5"/>
          </p:nvPr>
        </p:nvSpPr>
        <p:spPr/>
        <p:txBody>
          <a:bodyPr/>
          <a:lstStyle/>
          <a:p>
            <a:fld id="{F44D2838-C2F3-46B3-ABD5-36E1AA433AB8}" type="slidenum">
              <a:rPr lang="en-US" smtClean="0"/>
              <a:pPr/>
              <a:t>24</a:t>
            </a:fld>
            <a:endParaRPr lang="en-US"/>
          </a:p>
        </p:txBody>
      </p:sp>
    </p:spTree>
    <p:extLst>
      <p:ext uri="{BB962C8B-B14F-4D97-AF65-F5344CB8AC3E}">
        <p14:creationId xmlns:p14="http://schemas.microsoft.com/office/powerpoint/2010/main" val="1774795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C6754-0CBB-16AA-2710-91E817A2B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89C8FA-0FAC-8474-06CE-B9A1AE3941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9CE262-59DA-9870-86C7-841536731B13}"/>
              </a:ext>
            </a:extLst>
          </p:cNvPr>
          <p:cNvSpPr>
            <a:spLocks noGrp="1"/>
          </p:cNvSpPr>
          <p:nvPr>
            <p:ph type="body" idx="1"/>
          </p:nvPr>
        </p:nvSpPr>
        <p:spPr/>
        <p:txBody>
          <a:bodyPr/>
          <a:lstStyle/>
          <a:p>
            <a:pPr marL="0" indent="0">
              <a:buFont typeface="Arial" panose="020B0604020202020204" pitchFamily="34" charset="0"/>
              <a:buNone/>
            </a:pPr>
            <a:endParaRPr lang="el-GR"/>
          </a:p>
        </p:txBody>
      </p:sp>
      <p:sp>
        <p:nvSpPr>
          <p:cNvPr id="4" name="Slide Number Placeholder 3">
            <a:extLst>
              <a:ext uri="{FF2B5EF4-FFF2-40B4-BE49-F238E27FC236}">
                <a16:creationId xmlns:a16="http://schemas.microsoft.com/office/drawing/2014/main" id="{DF15706D-3202-A8EC-BD97-C01A509CE7AE}"/>
              </a:ext>
            </a:extLst>
          </p:cNvPr>
          <p:cNvSpPr>
            <a:spLocks noGrp="1"/>
          </p:cNvSpPr>
          <p:nvPr>
            <p:ph type="sldNum" sz="quarter" idx="5"/>
          </p:nvPr>
        </p:nvSpPr>
        <p:spPr/>
        <p:txBody>
          <a:bodyPr/>
          <a:lstStyle/>
          <a:p>
            <a:fld id="{F44D2838-C2F3-46B3-ABD5-36E1AA433AB8}" type="slidenum">
              <a:rPr lang="en-US" smtClean="0"/>
              <a:pPr/>
              <a:t>25</a:t>
            </a:fld>
            <a:endParaRPr lang="en-US"/>
          </a:p>
        </p:txBody>
      </p:sp>
    </p:spTree>
    <p:extLst>
      <p:ext uri="{BB962C8B-B14F-4D97-AF65-F5344CB8AC3E}">
        <p14:creationId xmlns:p14="http://schemas.microsoft.com/office/powerpoint/2010/main" val="1687697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6F9A6-0997-E027-05C2-490193E539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DA720CC-CCD8-6AD7-B1A4-5E5D3E30DF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171DA58-8F08-4602-0ED3-6FD3F034DE8B}"/>
              </a:ext>
            </a:extLst>
          </p:cNvPr>
          <p:cNvSpPr>
            <a:spLocks noGrp="1"/>
          </p:cNvSpPr>
          <p:nvPr>
            <p:ph type="dt" sz="half" idx="10"/>
          </p:nvPr>
        </p:nvSpPr>
        <p:spPr/>
        <p:txBody>
          <a:bodyPr/>
          <a:lstStyle/>
          <a:p>
            <a:fld id="{E66F9A3F-3243-46F9-A8DB-69D86D12F629}" type="datetime3">
              <a:rPr lang="en-US" smtClean="0"/>
              <a:t>14 December 2025</a:t>
            </a:fld>
            <a:endParaRPr lang="en-US"/>
          </a:p>
        </p:txBody>
      </p:sp>
      <p:sp>
        <p:nvSpPr>
          <p:cNvPr id="5" name="Footer Placeholder 4">
            <a:extLst>
              <a:ext uri="{FF2B5EF4-FFF2-40B4-BE49-F238E27FC236}">
                <a16:creationId xmlns:a16="http://schemas.microsoft.com/office/drawing/2014/main" id="{46D98C9E-444D-9555-DB9F-D7B6FB3918A4}"/>
              </a:ext>
            </a:extLst>
          </p:cNvPr>
          <p:cNvSpPr>
            <a:spLocks noGrp="1"/>
          </p:cNvSpPr>
          <p:nvPr>
            <p:ph type="ftr" sz="quarter" idx="11"/>
          </p:nvPr>
        </p:nvSpPr>
        <p:spPr/>
        <p:txBody>
          <a:bodyPr/>
          <a:lstStyle/>
          <a:p>
            <a:r>
              <a:rPr lang="en-GB"/>
              <a:t>[116] Design of VLSI Systems ┃ Group 02</a:t>
            </a:r>
            <a:endParaRPr lang="en-US"/>
          </a:p>
        </p:txBody>
      </p:sp>
      <p:sp>
        <p:nvSpPr>
          <p:cNvPr id="6" name="Slide Number Placeholder 5">
            <a:extLst>
              <a:ext uri="{FF2B5EF4-FFF2-40B4-BE49-F238E27FC236}">
                <a16:creationId xmlns:a16="http://schemas.microsoft.com/office/drawing/2014/main" id="{953E36B3-E297-F50A-2902-E0FB882A1ACC}"/>
              </a:ext>
            </a:extLst>
          </p:cNvPr>
          <p:cNvSpPr>
            <a:spLocks noGrp="1"/>
          </p:cNvSpPr>
          <p:nvPr>
            <p:ph type="sldNum" sz="quarter" idx="12"/>
          </p:nvPr>
        </p:nvSpPr>
        <p:spPr/>
        <p:txBody>
          <a:bodyPr/>
          <a:lstStyle/>
          <a:p>
            <a:fld id="{57CA127F-6BC0-40BB-9B02-66AE29583F1C}" type="slidenum">
              <a:rPr lang="en-US" smtClean="0"/>
              <a:t>‹#›</a:t>
            </a:fld>
            <a:endParaRPr lang="en-US"/>
          </a:p>
        </p:txBody>
      </p:sp>
    </p:spTree>
    <p:extLst>
      <p:ext uri="{BB962C8B-B14F-4D97-AF65-F5344CB8AC3E}">
        <p14:creationId xmlns:p14="http://schemas.microsoft.com/office/powerpoint/2010/main" val="4092326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50D1B-BE87-FE51-8056-D26A2D1D60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947DE2-A9E2-4BD2-C64C-C1FA91B652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3E61A6-1F64-A30A-817B-EB296BDACE6B}"/>
              </a:ext>
            </a:extLst>
          </p:cNvPr>
          <p:cNvSpPr>
            <a:spLocks noGrp="1"/>
          </p:cNvSpPr>
          <p:nvPr>
            <p:ph type="dt" sz="half" idx="10"/>
          </p:nvPr>
        </p:nvSpPr>
        <p:spPr/>
        <p:txBody>
          <a:bodyPr/>
          <a:lstStyle/>
          <a:p>
            <a:fld id="{11AB84F1-F1A8-4D9C-8F5F-1B1D3AB2F7E6}" type="datetime3">
              <a:rPr lang="en-US" smtClean="0"/>
              <a:t>14 December 2025</a:t>
            </a:fld>
            <a:endParaRPr lang="en-US"/>
          </a:p>
        </p:txBody>
      </p:sp>
      <p:sp>
        <p:nvSpPr>
          <p:cNvPr id="5" name="Footer Placeholder 4">
            <a:extLst>
              <a:ext uri="{FF2B5EF4-FFF2-40B4-BE49-F238E27FC236}">
                <a16:creationId xmlns:a16="http://schemas.microsoft.com/office/drawing/2014/main" id="{E0D12CA6-3C70-2D73-A4F6-7319DF810E8B}"/>
              </a:ext>
            </a:extLst>
          </p:cNvPr>
          <p:cNvSpPr>
            <a:spLocks noGrp="1"/>
          </p:cNvSpPr>
          <p:nvPr>
            <p:ph type="ftr" sz="quarter" idx="11"/>
          </p:nvPr>
        </p:nvSpPr>
        <p:spPr/>
        <p:txBody>
          <a:bodyPr/>
          <a:lstStyle/>
          <a:p>
            <a:r>
              <a:rPr lang="en-GB"/>
              <a:t>[116] Design of VLSI Systems ┃ Group 02</a:t>
            </a:r>
            <a:endParaRPr lang="en-US"/>
          </a:p>
        </p:txBody>
      </p:sp>
      <p:sp>
        <p:nvSpPr>
          <p:cNvPr id="6" name="Slide Number Placeholder 5">
            <a:extLst>
              <a:ext uri="{FF2B5EF4-FFF2-40B4-BE49-F238E27FC236}">
                <a16:creationId xmlns:a16="http://schemas.microsoft.com/office/drawing/2014/main" id="{C7F19F40-15D2-8A47-23D1-EA542C364933}"/>
              </a:ext>
            </a:extLst>
          </p:cNvPr>
          <p:cNvSpPr>
            <a:spLocks noGrp="1"/>
          </p:cNvSpPr>
          <p:nvPr>
            <p:ph type="sldNum" sz="quarter" idx="12"/>
          </p:nvPr>
        </p:nvSpPr>
        <p:spPr/>
        <p:txBody>
          <a:bodyPr/>
          <a:lstStyle/>
          <a:p>
            <a:fld id="{57CA127F-6BC0-40BB-9B02-66AE29583F1C}" type="slidenum">
              <a:rPr lang="en-US" smtClean="0"/>
              <a:t>‹#›</a:t>
            </a:fld>
            <a:endParaRPr lang="en-US"/>
          </a:p>
        </p:txBody>
      </p:sp>
    </p:spTree>
    <p:extLst>
      <p:ext uri="{BB962C8B-B14F-4D97-AF65-F5344CB8AC3E}">
        <p14:creationId xmlns:p14="http://schemas.microsoft.com/office/powerpoint/2010/main" val="1536849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E9E3E-40B6-A15C-1AF7-1C5544881526}"/>
              </a:ext>
            </a:extLst>
          </p:cNvPr>
          <p:cNvSpPr>
            <a:spLocks noGrp="1"/>
          </p:cNvSpPr>
          <p:nvPr>
            <p:ph type="title"/>
          </p:nvPr>
        </p:nvSpPr>
        <p:spPr>
          <a:xfrm>
            <a:off x="831850" y="1709739"/>
            <a:ext cx="10515600" cy="2476500"/>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54DA26-9CE1-3E27-6C2E-EC841E16705F}"/>
              </a:ext>
            </a:extLst>
          </p:cNvPr>
          <p:cNvSpPr>
            <a:spLocks noGrp="1"/>
          </p:cNvSpPr>
          <p:nvPr>
            <p:ph type="body" idx="1"/>
          </p:nvPr>
        </p:nvSpPr>
        <p:spPr>
          <a:xfrm>
            <a:off x="831850" y="4186239"/>
            <a:ext cx="10515600" cy="1903411"/>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AD3FA4-B10C-5989-747A-BE4556425832}"/>
              </a:ext>
            </a:extLst>
          </p:cNvPr>
          <p:cNvSpPr>
            <a:spLocks noGrp="1"/>
          </p:cNvSpPr>
          <p:nvPr>
            <p:ph type="dt" sz="half" idx="10"/>
          </p:nvPr>
        </p:nvSpPr>
        <p:spPr/>
        <p:txBody>
          <a:bodyPr/>
          <a:lstStyle/>
          <a:p>
            <a:fld id="{A295475F-ED84-417E-89DD-8B710B7A0232}" type="datetime3">
              <a:rPr lang="en-US" smtClean="0"/>
              <a:t>14 December 2025</a:t>
            </a:fld>
            <a:endParaRPr lang="en-US"/>
          </a:p>
        </p:txBody>
      </p:sp>
      <p:sp>
        <p:nvSpPr>
          <p:cNvPr id="5" name="Footer Placeholder 4">
            <a:extLst>
              <a:ext uri="{FF2B5EF4-FFF2-40B4-BE49-F238E27FC236}">
                <a16:creationId xmlns:a16="http://schemas.microsoft.com/office/drawing/2014/main" id="{B983D210-830F-2619-4353-35EB9931F923}"/>
              </a:ext>
            </a:extLst>
          </p:cNvPr>
          <p:cNvSpPr>
            <a:spLocks noGrp="1"/>
          </p:cNvSpPr>
          <p:nvPr>
            <p:ph type="ftr" sz="quarter" idx="11"/>
          </p:nvPr>
        </p:nvSpPr>
        <p:spPr/>
        <p:txBody>
          <a:bodyPr/>
          <a:lstStyle/>
          <a:p>
            <a:r>
              <a:rPr lang="en-GB"/>
              <a:t>[116] Design of VLSI Systems ┃ Group 02</a:t>
            </a:r>
            <a:endParaRPr lang="en-US"/>
          </a:p>
        </p:txBody>
      </p:sp>
      <p:sp>
        <p:nvSpPr>
          <p:cNvPr id="6" name="Slide Number Placeholder 5">
            <a:extLst>
              <a:ext uri="{FF2B5EF4-FFF2-40B4-BE49-F238E27FC236}">
                <a16:creationId xmlns:a16="http://schemas.microsoft.com/office/drawing/2014/main" id="{915C1A6B-4AB6-60E2-4DEB-EF408CC13094}"/>
              </a:ext>
            </a:extLst>
          </p:cNvPr>
          <p:cNvSpPr>
            <a:spLocks noGrp="1"/>
          </p:cNvSpPr>
          <p:nvPr>
            <p:ph type="sldNum" sz="quarter" idx="12"/>
          </p:nvPr>
        </p:nvSpPr>
        <p:spPr/>
        <p:txBody>
          <a:bodyPr/>
          <a:lstStyle/>
          <a:p>
            <a:fld id="{57CA127F-6BC0-40BB-9B02-66AE29583F1C}" type="slidenum">
              <a:rPr lang="en-US" smtClean="0"/>
              <a:t>‹#›</a:t>
            </a:fld>
            <a:endParaRPr lang="en-US"/>
          </a:p>
        </p:txBody>
      </p:sp>
    </p:spTree>
    <p:extLst>
      <p:ext uri="{BB962C8B-B14F-4D97-AF65-F5344CB8AC3E}">
        <p14:creationId xmlns:p14="http://schemas.microsoft.com/office/powerpoint/2010/main" val="1893732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E93EC-994B-2DCF-24EF-1A25C621D0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C22DB9-FAA1-13E9-ACEF-154D9F6AB7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7254C0-1D56-A03C-FC2A-4808738DD2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459EF9-1A45-C486-0F30-B3524CD0D122}"/>
              </a:ext>
            </a:extLst>
          </p:cNvPr>
          <p:cNvSpPr>
            <a:spLocks noGrp="1"/>
          </p:cNvSpPr>
          <p:nvPr>
            <p:ph type="dt" sz="half" idx="10"/>
          </p:nvPr>
        </p:nvSpPr>
        <p:spPr/>
        <p:txBody>
          <a:bodyPr/>
          <a:lstStyle/>
          <a:p>
            <a:fld id="{0E53D1C4-5FEF-464B-AFAA-A733CD43D057}" type="datetime3">
              <a:rPr lang="en-US" smtClean="0"/>
              <a:t>14 December 2025</a:t>
            </a:fld>
            <a:endParaRPr lang="en-US"/>
          </a:p>
        </p:txBody>
      </p:sp>
      <p:sp>
        <p:nvSpPr>
          <p:cNvPr id="6" name="Footer Placeholder 5">
            <a:extLst>
              <a:ext uri="{FF2B5EF4-FFF2-40B4-BE49-F238E27FC236}">
                <a16:creationId xmlns:a16="http://schemas.microsoft.com/office/drawing/2014/main" id="{208568D3-EFCA-8BA8-9D81-A6432C4C0181}"/>
              </a:ext>
            </a:extLst>
          </p:cNvPr>
          <p:cNvSpPr>
            <a:spLocks noGrp="1"/>
          </p:cNvSpPr>
          <p:nvPr>
            <p:ph type="ftr" sz="quarter" idx="11"/>
          </p:nvPr>
        </p:nvSpPr>
        <p:spPr/>
        <p:txBody>
          <a:bodyPr/>
          <a:lstStyle/>
          <a:p>
            <a:r>
              <a:rPr lang="en-GB"/>
              <a:t>[116] Design of VLSI Systems ┃ Group 02</a:t>
            </a:r>
            <a:endParaRPr lang="en-US"/>
          </a:p>
        </p:txBody>
      </p:sp>
      <p:sp>
        <p:nvSpPr>
          <p:cNvPr id="7" name="Slide Number Placeholder 6">
            <a:extLst>
              <a:ext uri="{FF2B5EF4-FFF2-40B4-BE49-F238E27FC236}">
                <a16:creationId xmlns:a16="http://schemas.microsoft.com/office/drawing/2014/main" id="{CDC9584C-480B-202E-4334-00F3ADB8F581}"/>
              </a:ext>
            </a:extLst>
          </p:cNvPr>
          <p:cNvSpPr>
            <a:spLocks noGrp="1"/>
          </p:cNvSpPr>
          <p:nvPr>
            <p:ph type="sldNum" sz="quarter" idx="12"/>
          </p:nvPr>
        </p:nvSpPr>
        <p:spPr/>
        <p:txBody>
          <a:bodyPr/>
          <a:lstStyle/>
          <a:p>
            <a:fld id="{57CA127F-6BC0-40BB-9B02-66AE29583F1C}" type="slidenum">
              <a:rPr lang="en-US" smtClean="0"/>
              <a:t>‹#›</a:t>
            </a:fld>
            <a:endParaRPr lang="en-US"/>
          </a:p>
        </p:txBody>
      </p:sp>
    </p:spTree>
    <p:extLst>
      <p:ext uri="{BB962C8B-B14F-4D97-AF65-F5344CB8AC3E}">
        <p14:creationId xmlns:p14="http://schemas.microsoft.com/office/powerpoint/2010/main" val="1625714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43F02-4493-4B2A-DBB7-B07A4941FC6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1FF14F5-7E6B-675B-4979-E026A3E073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470628-38A2-4377-D177-82D3BA2642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76E495-8987-B043-1B00-135124767D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06FF41-BE01-E1F8-32B9-206A25D481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2CF690-806E-7BF8-FAF7-EBE6D2456439}"/>
              </a:ext>
            </a:extLst>
          </p:cNvPr>
          <p:cNvSpPr>
            <a:spLocks noGrp="1"/>
          </p:cNvSpPr>
          <p:nvPr>
            <p:ph type="dt" sz="half" idx="10"/>
          </p:nvPr>
        </p:nvSpPr>
        <p:spPr/>
        <p:txBody>
          <a:bodyPr/>
          <a:lstStyle/>
          <a:p>
            <a:fld id="{25786A82-72EC-41E0-BE36-8A4D925F42E2}" type="datetime3">
              <a:rPr lang="en-US" smtClean="0"/>
              <a:t>14 December 2025</a:t>
            </a:fld>
            <a:endParaRPr lang="en-US"/>
          </a:p>
        </p:txBody>
      </p:sp>
      <p:sp>
        <p:nvSpPr>
          <p:cNvPr id="8" name="Footer Placeholder 7">
            <a:extLst>
              <a:ext uri="{FF2B5EF4-FFF2-40B4-BE49-F238E27FC236}">
                <a16:creationId xmlns:a16="http://schemas.microsoft.com/office/drawing/2014/main" id="{13EA8A7E-442B-2628-C539-F3B611E69BEB}"/>
              </a:ext>
            </a:extLst>
          </p:cNvPr>
          <p:cNvSpPr>
            <a:spLocks noGrp="1"/>
          </p:cNvSpPr>
          <p:nvPr>
            <p:ph type="ftr" sz="quarter" idx="11"/>
          </p:nvPr>
        </p:nvSpPr>
        <p:spPr/>
        <p:txBody>
          <a:bodyPr/>
          <a:lstStyle/>
          <a:p>
            <a:r>
              <a:rPr lang="en-GB"/>
              <a:t>[116] Design of VLSI Systems ┃ Group 02</a:t>
            </a:r>
            <a:endParaRPr lang="en-US"/>
          </a:p>
        </p:txBody>
      </p:sp>
      <p:sp>
        <p:nvSpPr>
          <p:cNvPr id="9" name="Slide Number Placeholder 8">
            <a:extLst>
              <a:ext uri="{FF2B5EF4-FFF2-40B4-BE49-F238E27FC236}">
                <a16:creationId xmlns:a16="http://schemas.microsoft.com/office/drawing/2014/main" id="{0F08F354-72FD-F571-CC46-C1462D54159A}"/>
              </a:ext>
            </a:extLst>
          </p:cNvPr>
          <p:cNvSpPr>
            <a:spLocks noGrp="1"/>
          </p:cNvSpPr>
          <p:nvPr>
            <p:ph type="sldNum" sz="quarter" idx="12"/>
          </p:nvPr>
        </p:nvSpPr>
        <p:spPr/>
        <p:txBody>
          <a:bodyPr/>
          <a:lstStyle/>
          <a:p>
            <a:fld id="{57CA127F-6BC0-40BB-9B02-66AE29583F1C}" type="slidenum">
              <a:rPr lang="en-US" smtClean="0"/>
              <a:t>‹#›</a:t>
            </a:fld>
            <a:endParaRPr lang="en-US"/>
          </a:p>
        </p:txBody>
      </p:sp>
    </p:spTree>
    <p:extLst>
      <p:ext uri="{BB962C8B-B14F-4D97-AF65-F5344CB8AC3E}">
        <p14:creationId xmlns:p14="http://schemas.microsoft.com/office/powerpoint/2010/main" val="3425998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B09F1-64E4-775E-8BCF-56144AADA7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E56AA2-972D-466A-58B0-C53CFB477CD0}"/>
              </a:ext>
            </a:extLst>
          </p:cNvPr>
          <p:cNvSpPr>
            <a:spLocks noGrp="1"/>
          </p:cNvSpPr>
          <p:nvPr>
            <p:ph type="dt" sz="half" idx="10"/>
          </p:nvPr>
        </p:nvSpPr>
        <p:spPr/>
        <p:txBody>
          <a:bodyPr/>
          <a:lstStyle/>
          <a:p>
            <a:fld id="{2FF09127-95CA-46F7-A02C-BEBCC3F295FA}" type="datetime3">
              <a:rPr lang="en-US" smtClean="0"/>
              <a:t>14 December 2025</a:t>
            </a:fld>
            <a:endParaRPr lang="en-US"/>
          </a:p>
        </p:txBody>
      </p:sp>
      <p:sp>
        <p:nvSpPr>
          <p:cNvPr id="4" name="Footer Placeholder 3">
            <a:extLst>
              <a:ext uri="{FF2B5EF4-FFF2-40B4-BE49-F238E27FC236}">
                <a16:creationId xmlns:a16="http://schemas.microsoft.com/office/drawing/2014/main" id="{F3C32A85-8A87-6ED3-373E-B3F4E181E62A}"/>
              </a:ext>
            </a:extLst>
          </p:cNvPr>
          <p:cNvSpPr>
            <a:spLocks noGrp="1"/>
          </p:cNvSpPr>
          <p:nvPr>
            <p:ph type="ftr" sz="quarter" idx="11"/>
          </p:nvPr>
        </p:nvSpPr>
        <p:spPr/>
        <p:txBody>
          <a:bodyPr/>
          <a:lstStyle/>
          <a:p>
            <a:r>
              <a:rPr lang="en-GB"/>
              <a:t>[116] Design of VLSI Systems ┃ Group 02</a:t>
            </a:r>
            <a:endParaRPr lang="en-US"/>
          </a:p>
        </p:txBody>
      </p:sp>
      <p:sp>
        <p:nvSpPr>
          <p:cNvPr id="5" name="Slide Number Placeholder 4">
            <a:extLst>
              <a:ext uri="{FF2B5EF4-FFF2-40B4-BE49-F238E27FC236}">
                <a16:creationId xmlns:a16="http://schemas.microsoft.com/office/drawing/2014/main" id="{7F32B9C1-B2BF-ACB7-BEA0-4D7DB84A6D15}"/>
              </a:ext>
            </a:extLst>
          </p:cNvPr>
          <p:cNvSpPr>
            <a:spLocks noGrp="1"/>
          </p:cNvSpPr>
          <p:nvPr>
            <p:ph type="sldNum" sz="quarter" idx="12"/>
          </p:nvPr>
        </p:nvSpPr>
        <p:spPr/>
        <p:txBody>
          <a:bodyPr/>
          <a:lstStyle/>
          <a:p>
            <a:fld id="{57CA127F-6BC0-40BB-9B02-66AE29583F1C}" type="slidenum">
              <a:rPr lang="en-US" smtClean="0"/>
              <a:t>‹#›</a:t>
            </a:fld>
            <a:endParaRPr lang="en-US"/>
          </a:p>
        </p:txBody>
      </p:sp>
    </p:spTree>
    <p:extLst>
      <p:ext uri="{BB962C8B-B14F-4D97-AF65-F5344CB8AC3E}">
        <p14:creationId xmlns:p14="http://schemas.microsoft.com/office/powerpoint/2010/main" val="226563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3F5917-65D0-2802-677D-35327644BFB9}"/>
              </a:ext>
            </a:extLst>
          </p:cNvPr>
          <p:cNvSpPr>
            <a:spLocks noGrp="1"/>
          </p:cNvSpPr>
          <p:nvPr>
            <p:ph type="dt" sz="half" idx="10"/>
          </p:nvPr>
        </p:nvSpPr>
        <p:spPr/>
        <p:txBody>
          <a:bodyPr/>
          <a:lstStyle/>
          <a:p>
            <a:fld id="{44ECC1A5-5812-4BC6-98DC-9185528B9D98}" type="datetime3">
              <a:rPr lang="en-US" smtClean="0"/>
              <a:t>14 December 2025</a:t>
            </a:fld>
            <a:endParaRPr lang="en-US"/>
          </a:p>
        </p:txBody>
      </p:sp>
      <p:sp>
        <p:nvSpPr>
          <p:cNvPr id="3" name="Footer Placeholder 2">
            <a:extLst>
              <a:ext uri="{FF2B5EF4-FFF2-40B4-BE49-F238E27FC236}">
                <a16:creationId xmlns:a16="http://schemas.microsoft.com/office/drawing/2014/main" id="{79949004-3CFE-5137-8E65-AB83426B9D23}"/>
              </a:ext>
            </a:extLst>
          </p:cNvPr>
          <p:cNvSpPr>
            <a:spLocks noGrp="1"/>
          </p:cNvSpPr>
          <p:nvPr>
            <p:ph type="ftr" sz="quarter" idx="11"/>
          </p:nvPr>
        </p:nvSpPr>
        <p:spPr/>
        <p:txBody>
          <a:bodyPr/>
          <a:lstStyle/>
          <a:p>
            <a:r>
              <a:rPr lang="en-GB"/>
              <a:t>[116] Design of VLSI Systems ┃ Group 02</a:t>
            </a:r>
            <a:endParaRPr lang="en-US"/>
          </a:p>
        </p:txBody>
      </p:sp>
      <p:sp>
        <p:nvSpPr>
          <p:cNvPr id="4" name="Slide Number Placeholder 3">
            <a:extLst>
              <a:ext uri="{FF2B5EF4-FFF2-40B4-BE49-F238E27FC236}">
                <a16:creationId xmlns:a16="http://schemas.microsoft.com/office/drawing/2014/main" id="{75DA3018-A8D3-9E8A-1E87-1E4756CF1ABC}"/>
              </a:ext>
            </a:extLst>
          </p:cNvPr>
          <p:cNvSpPr>
            <a:spLocks noGrp="1"/>
          </p:cNvSpPr>
          <p:nvPr>
            <p:ph type="sldNum" sz="quarter" idx="12"/>
          </p:nvPr>
        </p:nvSpPr>
        <p:spPr/>
        <p:txBody>
          <a:bodyPr/>
          <a:lstStyle/>
          <a:p>
            <a:fld id="{57CA127F-6BC0-40BB-9B02-66AE29583F1C}" type="slidenum">
              <a:rPr lang="en-US" smtClean="0"/>
              <a:t>‹#›</a:t>
            </a:fld>
            <a:endParaRPr lang="en-US"/>
          </a:p>
        </p:txBody>
      </p:sp>
    </p:spTree>
    <p:extLst>
      <p:ext uri="{BB962C8B-B14F-4D97-AF65-F5344CB8AC3E}">
        <p14:creationId xmlns:p14="http://schemas.microsoft.com/office/powerpoint/2010/main" val="2466129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4934E-EA8D-A855-9ADF-35BC35AFB3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F683214-67DB-57C9-2327-48BD96C844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2BB5FE-BFFA-7B40-624D-6FAC5AA7E1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5516A3-7D4F-F135-16DE-75668158220F}"/>
              </a:ext>
            </a:extLst>
          </p:cNvPr>
          <p:cNvSpPr>
            <a:spLocks noGrp="1"/>
          </p:cNvSpPr>
          <p:nvPr>
            <p:ph type="dt" sz="half" idx="10"/>
          </p:nvPr>
        </p:nvSpPr>
        <p:spPr/>
        <p:txBody>
          <a:bodyPr/>
          <a:lstStyle/>
          <a:p>
            <a:fld id="{C446F35A-1B87-4EEC-BDB3-0EC814548BF7}" type="datetime3">
              <a:rPr lang="en-US" smtClean="0"/>
              <a:t>14 December 2025</a:t>
            </a:fld>
            <a:endParaRPr lang="en-US"/>
          </a:p>
        </p:txBody>
      </p:sp>
      <p:sp>
        <p:nvSpPr>
          <p:cNvPr id="6" name="Footer Placeholder 5">
            <a:extLst>
              <a:ext uri="{FF2B5EF4-FFF2-40B4-BE49-F238E27FC236}">
                <a16:creationId xmlns:a16="http://schemas.microsoft.com/office/drawing/2014/main" id="{9FE20743-ABF9-62E1-6381-090837E3C76A}"/>
              </a:ext>
            </a:extLst>
          </p:cNvPr>
          <p:cNvSpPr>
            <a:spLocks noGrp="1"/>
          </p:cNvSpPr>
          <p:nvPr>
            <p:ph type="ftr" sz="quarter" idx="11"/>
          </p:nvPr>
        </p:nvSpPr>
        <p:spPr/>
        <p:txBody>
          <a:bodyPr/>
          <a:lstStyle/>
          <a:p>
            <a:r>
              <a:rPr lang="en-GB"/>
              <a:t>[116] Design of VLSI Systems ┃ Group 02</a:t>
            </a:r>
            <a:endParaRPr lang="en-US"/>
          </a:p>
        </p:txBody>
      </p:sp>
      <p:sp>
        <p:nvSpPr>
          <p:cNvPr id="7" name="Slide Number Placeholder 6">
            <a:extLst>
              <a:ext uri="{FF2B5EF4-FFF2-40B4-BE49-F238E27FC236}">
                <a16:creationId xmlns:a16="http://schemas.microsoft.com/office/drawing/2014/main" id="{8A918644-5D27-EF64-19F9-C6606150BA9D}"/>
              </a:ext>
            </a:extLst>
          </p:cNvPr>
          <p:cNvSpPr>
            <a:spLocks noGrp="1"/>
          </p:cNvSpPr>
          <p:nvPr>
            <p:ph type="sldNum" sz="quarter" idx="12"/>
          </p:nvPr>
        </p:nvSpPr>
        <p:spPr/>
        <p:txBody>
          <a:bodyPr/>
          <a:lstStyle/>
          <a:p>
            <a:fld id="{57CA127F-6BC0-40BB-9B02-66AE29583F1C}" type="slidenum">
              <a:rPr lang="en-US" smtClean="0"/>
              <a:t>‹#›</a:t>
            </a:fld>
            <a:endParaRPr lang="en-US"/>
          </a:p>
        </p:txBody>
      </p:sp>
    </p:spTree>
    <p:extLst>
      <p:ext uri="{BB962C8B-B14F-4D97-AF65-F5344CB8AC3E}">
        <p14:creationId xmlns:p14="http://schemas.microsoft.com/office/powerpoint/2010/main" val="1365799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E2D33-0632-06EB-92B3-BF952F5DFB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2A4EE4-2F0B-0A37-87AF-B584341000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4AEF299-BDD9-C3FA-AD90-0EC4D598B7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C1171C-8419-3BC5-C45F-70D14F16F90B}"/>
              </a:ext>
            </a:extLst>
          </p:cNvPr>
          <p:cNvSpPr>
            <a:spLocks noGrp="1"/>
          </p:cNvSpPr>
          <p:nvPr>
            <p:ph type="dt" sz="half" idx="10"/>
          </p:nvPr>
        </p:nvSpPr>
        <p:spPr/>
        <p:txBody>
          <a:bodyPr/>
          <a:lstStyle/>
          <a:p>
            <a:fld id="{A4368001-75EB-4EDA-9E35-32861A71331C}" type="datetime3">
              <a:rPr lang="en-US" smtClean="0"/>
              <a:t>14 December 2025</a:t>
            </a:fld>
            <a:endParaRPr lang="en-US"/>
          </a:p>
        </p:txBody>
      </p:sp>
      <p:sp>
        <p:nvSpPr>
          <p:cNvPr id="6" name="Footer Placeholder 5">
            <a:extLst>
              <a:ext uri="{FF2B5EF4-FFF2-40B4-BE49-F238E27FC236}">
                <a16:creationId xmlns:a16="http://schemas.microsoft.com/office/drawing/2014/main" id="{B4778FF7-F1AE-2C4B-C7C7-0C164CD53469}"/>
              </a:ext>
            </a:extLst>
          </p:cNvPr>
          <p:cNvSpPr>
            <a:spLocks noGrp="1"/>
          </p:cNvSpPr>
          <p:nvPr>
            <p:ph type="ftr" sz="quarter" idx="11"/>
          </p:nvPr>
        </p:nvSpPr>
        <p:spPr/>
        <p:txBody>
          <a:bodyPr/>
          <a:lstStyle/>
          <a:p>
            <a:r>
              <a:rPr lang="en-GB"/>
              <a:t>[116] Design of VLSI Systems ┃ Group 02</a:t>
            </a:r>
            <a:endParaRPr lang="en-US"/>
          </a:p>
        </p:txBody>
      </p:sp>
      <p:sp>
        <p:nvSpPr>
          <p:cNvPr id="7" name="Slide Number Placeholder 6">
            <a:extLst>
              <a:ext uri="{FF2B5EF4-FFF2-40B4-BE49-F238E27FC236}">
                <a16:creationId xmlns:a16="http://schemas.microsoft.com/office/drawing/2014/main" id="{D2A2BBE3-DBA5-2B99-ED35-7932BD1EEFFA}"/>
              </a:ext>
            </a:extLst>
          </p:cNvPr>
          <p:cNvSpPr>
            <a:spLocks noGrp="1"/>
          </p:cNvSpPr>
          <p:nvPr>
            <p:ph type="sldNum" sz="quarter" idx="12"/>
          </p:nvPr>
        </p:nvSpPr>
        <p:spPr/>
        <p:txBody>
          <a:bodyPr/>
          <a:lstStyle/>
          <a:p>
            <a:fld id="{57CA127F-6BC0-40BB-9B02-66AE29583F1C}" type="slidenum">
              <a:rPr lang="en-US" smtClean="0"/>
              <a:t>‹#›</a:t>
            </a:fld>
            <a:endParaRPr lang="en-US"/>
          </a:p>
        </p:txBody>
      </p:sp>
    </p:spTree>
    <p:extLst>
      <p:ext uri="{BB962C8B-B14F-4D97-AF65-F5344CB8AC3E}">
        <p14:creationId xmlns:p14="http://schemas.microsoft.com/office/powerpoint/2010/main" val="1904091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FEF7D-E710-4FD2-C349-86E10FF8C6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63C65FC-4F28-6AD5-6ED4-674B91E65E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110248-16B4-5F7E-303E-B8F7C35CC252}"/>
              </a:ext>
            </a:extLst>
          </p:cNvPr>
          <p:cNvSpPr>
            <a:spLocks noGrp="1"/>
          </p:cNvSpPr>
          <p:nvPr>
            <p:ph type="dt" sz="half" idx="10"/>
          </p:nvPr>
        </p:nvSpPr>
        <p:spPr/>
        <p:txBody>
          <a:bodyPr/>
          <a:lstStyle/>
          <a:p>
            <a:fld id="{86BD13AD-AA1F-4EC5-909A-9C56066E14A8}" type="datetime3">
              <a:rPr lang="en-US" smtClean="0"/>
              <a:t>14 December 2025</a:t>
            </a:fld>
            <a:endParaRPr lang="en-US"/>
          </a:p>
        </p:txBody>
      </p:sp>
      <p:sp>
        <p:nvSpPr>
          <p:cNvPr id="5" name="Footer Placeholder 4">
            <a:extLst>
              <a:ext uri="{FF2B5EF4-FFF2-40B4-BE49-F238E27FC236}">
                <a16:creationId xmlns:a16="http://schemas.microsoft.com/office/drawing/2014/main" id="{B24353A4-5EA3-844F-DAFC-07DAD0CCF902}"/>
              </a:ext>
            </a:extLst>
          </p:cNvPr>
          <p:cNvSpPr>
            <a:spLocks noGrp="1"/>
          </p:cNvSpPr>
          <p:nvPr>
            <p:ph type="ftr" sz="quarter" idx="11"/>
          </p:nvPr>
        </p:nvSpPr>
        <p:spPr/>
        <p:txBody>
          <a:bodyPr/>
          <a:lstStyle/>
          <a:p>
            <a:r>
              <a:rPr lang="en-GB"/>
              <a:t>[116] Design of VLSI Systems ┃ Group 02</a:t>
            </a:r>
            <a:endParaRPr lang="en-US"/>
          </a:p>
        </p:txBody>
      </p:sp>
      <p:sp>
        <p:nvSpPr>
          <p:cNvPr id="6" name="Slide Number Placeholder 5">
            <a:extLst>
              <a:ext uri="{FF2B5EF4-FFF2-40B4-BE49-F238E27FC236}">
                <a16:creationId xmlns:a16="http://schemas.microsoft.com/office/drawing/2014/main" id="{29C27F26-C9AE-0483-E91F-88B21698878C}"/>
              </a:ext>
            </a:extLst>
          </p:cNvPr>
          <p:cNvSpPr>
            <a:spLocks noGrp="1"/>
          </p:cNvSpPr>
          <p:nvPr>
            <p:ph type="sldNum" sz="quarter" idx="12"/>
          </p:nvPr>
        </p:nvSpPr>
        <p:spPr/>
        <p:txBody>
          <a:bodyPr/>
          <a:lstStyle/>
          <a:p>
            <a:fld id="{57CA127F-6BC0-40BB-9B02-66AE29583F1C}" type="slidenum">
              <a:rPr lang="en-US" smtClean="0"/>
              <a:t>‹#›</a:t>
            </a:fld>
            <a:endParaRPr lang="en-US"/>
          </a:p>
        </p:txBody>
      </p:sp>
    </p:spTree>
    <p:extLst>
      <p:ext uri="{BB962C8B-B14F-4D97-AF65-F5344CB8AC3E}">
        <p14:creationId xmlns:p14="http://schemas.microsoft.com/office/powerpoint/2010/main" val="1903702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611807-754B-4386-EB12-4D1C5804A9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3A9E99-FE46-85DA-2347-B9941C1C2A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F77A7F-473C-57AF-245B-D6FB3D763D75}"/>
              </a:ext>
            </a:extLst>
          </p:cNvPr>
          <p:cNvSpPr>
            <a:spLocks noGrp="1"/>
          </p:cNvSpPr>
          <p:nvPr>
            <p:ph type="dt" sz="half" idx="10"/>
          </p:nvPr>
        </p:nvSpPr>
        <p:spPr/>
        <p:txBody>
          <a:bodyPr/>
          <a:lstStyle/>
          <a:p>
            <a:fld id="{DEF51F96-7834-4B7A-8507-4618EDBB167D}" type="datetime3">
              <a:rPr lang="en-US" smtClean="0"/>
              <a:t>14 December 2025</a:t>
            </a:fld>
            <a:endParaRPr lang="en-US"/>
          </a:p>
        </p:txBody>
      </p:sp>
      <p:sp>
        <p:nvSpPr>
          <p:cNvPr id="5" name="Footer Placeholder 4">
            <a:extLst>
              <a:ext uri="{FF2B5EF4-FFF2-40B4-BE49-F238E27FC236}">
                <a16:creationId xmlns:a16="http://schemas.microsoft.com/office/drawing/2014/main" id="{C72F6256-A5F9-B85A-99C4-3E3132F7722E}"/>
              </a:ext>
            </a:extLst>
          </p:cNvPr>
          <p:cNvSpPr>
            <a:spLocks noGrp="1"/>
          </p:cNvSpPr>
          <p:nvPr>
            <p:ph type="ftr" sz="quarter" idx="11"/>
          </p:nvPr>
        </p:nvSpPr>
        <p:spPr/>
        <p:txBody>
          <a:bodyPr/>
          <a:lstStyle/>
          <a:p>
            <a:r>
              <a:rPr lang="en-GB"/>
              <a:t>[116] Design of VLSI Systems ┃ Group 02</a:t>
            </a:r>
            <a:endParaRPr lang="en-US"/>
          </a:p>
        </p:txBody>
      </p:sp>
      <p:sp>
        <p:nvSpPr>
          <p:cNvPr id="6" name="Slide Number Placeholder 5">
            <a:extLst>
              <a:ext uri="{FF2B5EF4-FFF2-40B4-BE49-F238E27FC236}">
                <a16:creationId xmlns:a16="http://schemas.microsoft.com/office/drawing/2014/main" id="{5AF9C379-E76F-C79D-D276-0C69F35EC9B5}"/>
              </a:ext>
            </a:extLst>
          </p:cNvPr>
          <p:cNvSpPr>
            <a:spLocks noGrp="1"/>
          </p:cNvSpPr>
          <p:nvPr>
            <p:ph type="sldNum" sz="quarter" idx="12"/>
          </p:nvPr>
        </p:nvSpPr>
        <p:spPr/>
        <p:txBody>
          <a:bodyPr/>
          <a:lstStyle/>
          <a:p>
            <a:fld id="{57CA127F-6BC0-40BB-9B02-66AE29583F1C}" type="slidenum">
              <a:rPr lang="en-US" smtClean="0"/>
              <a:t>‹#›</a:t>
            </a:fld>
            <a:endParaRPr lang="en-US"/>
          </a:p>
        </p:txBody>
      </p:sp>
    </p:spTree>
    <p:extLst>
      <p:ext uri="{BB962C8B-B14F-4D97-AF65-F5344CB8AC3E}">
        <p14:creationId xmlns:p14="http://schemas.microsoft.com/office/powerpoint/2010/main" val="464578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3345138-3DBC-DFC3-6E7E-2A5DAB8A57AC}"/>
              </a:ext>
            </a:extLst>
          </p:cNvPr>
          <p:cNvSpPr/>
          <p:nvPr userDrawn="1"/>
        </p:nvSpPr>
        <p:spPr>
          <a:xfrm>
            <a:off x="0" y="6492875"/>
            <a:ext cx="12192000" cy="365124"/>
          </a:xfrm>
          <a:prstGeom prst="rect">
            <a:avLst/>
          </a:prstGeom>
          <a:solidFill>
            <a:srgbClr val="9534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E6A93F7C-3EA5-8F9F-1C79-D87194A274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123A83-6570-20F3-5D02-9306D02860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E75006-FEAA-D16F-FECD-AA758D2C1569}"/>
              </a:ext>
            </a:extLst>
          </p:cNvPr>
          <p:cNvSpPr>
            <a:spLocks noGrp="1"/>
          </p:cNvSpPr>
          <p:nvPr>
            <p:ph type="dt" sz="half" idx="2"/>
          </p:nvPr>
        </p:nvSpPr>
        <p:spPr>
          <a:xfrm>
            <a:off x="838200" y="6492875"/>
            <a:ext cx="2743200" cy="365125"/>
          </a:xfrm>
          <a:prstGeom prst="rect">
            <a:avLst/>
          </a:prstGeom>
        </p:spPr>
        <p:txBody>
          <a:bodyPr vert="horz" lIns="91440" tIns="45720" rIns="91440" bIns="45720" rtlCol="0" anchor="ctr"/>
          <a:lstStyle>
            <a:lvl1pPr algn="l">
              <a:defRPr sz="1200">
                <a:solidFill>
                  <a:schemeClr val="bg1"/>
                </a:solidFill>
              </a:defRPr>
            </a:lvl1pPr>
          </a:lstStyle>
          <a:p>
            <a:fld id="{2D27DBB0-F3A2-4548-B4AB-C72F5C815853}" type="datetime3">
              <a:rPr lang="en-US" smtClean="0"/>
              <a:t>14 December 2025</a:t>
            </a:fld>
            <a:endParaRPr lang="en-US"/>
          </a:p>
        </p:txBody>
      </p:sp>
      <p:sp>
        <p:nvSpPr>
          <p:cNvPr id="5" name="Footer Placeholder 4">
            <a:extLst>
              <a:ext uri="{FF2B5EF4-FFF2-40B4-BE49-F238E27FC236}">
                <a16:creationId xmlns:a16="http://schemas.microsoft.com/office/drawing/2014/main" id="{E1E4E808-BE04-BFBB-DE79-A8D69B2580FF}"/>
              </a:ext>
            </a:extLst>
          </p:cNvPr>
          <p:cNvSpPr>
            <a:spLocks noGrp="1"/>
          </p:cNvSpPr>
          <p:nvPr>
            <p:ph type="ftr" sz="quarter" idx="3"/>
          </p:nvPr>
        </p:nvSpPr>
        <p:spPr>
          <a:xfrm>
            <a:off x="4038600" y="6492875"/>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en-GB"/>
              <a:t>[116] Design of VLSI Systems ┃ Group 02</a:t>
            </a:r>
            <a:endParaRPr lang="en-US"/>
          </a:p>
        </p:txBody>
      </p:sp>
      <p:sp>
        <p:nvSpPr>
          <p:cNvPr id="6" name="Slide Number Placeholder 5">
            <a:extLst>
              <a:ext uri="{FF2B5EF4-FFF2-40B4-BE49-F238E27FC236}">
                <a16:creationId xmlns:a16="http://schemas.microsoft.com/office/drawing/2014/main" id="{9867F029-A1BC-7712-CFCF-ECAEC4561263}"/>
              </a:ext>
            </a:extLst>
          </p:cNvPr>
          <p:cNvSpPr>
            <a:spLocks noGrp="1"/>
          </p:cNvSpPr>
          <p:nvPr>
            <p:ph type="sldNum" sz="quarter" idx="4"/>
          </p:nvPr>
        </p:nvSpPr>
        <p:spPr>
          <a:xfrm>
            <a:off x="8610600" y="6492875"/>
            <a:ext cx="2743200" cy="365125"/>
          </a:xfrm>
          <a:prstGeom prst="rect">
            <a:avLst/>
          </a:prstGeom>
        </p:spPr>
        <p:txBody>
          <a:bodyPr vert="horz" lIns="91440" tIns="45720" rIns="91440" bIns="45720" rtlCol="0" anchor="ctr"/>
          <a:lstStyle>
            <a:lvl1pPr algn="r">
              <a:defRPr sz="1200">
                <a:solidFill>
                  <a:schemeClr val="bg1"/>
                </a:solidFill>
              </a:defRPr>
            </a:lvl1pPr>
          </a:lstStyle>
          <a:p>
            <a:fld id="{F66A2706-EF41-4146-9DE0-3464CB8E1618}" type="slidenum">
              <a:rPr lang="en-US" smtClean="0"/>
              <a:pPr/>
              <a:t>‹#›</a:t>
            </a:fld>
            <a:endParaRPr lang="en-US"/>
          </a:p>
        </p:txBody>
      </p:sp>
    </p:spTree>
    <p:extLst>
      <p:ext uri="{BB962C8B-B14F-4D97-AF65-F5344CB8AC3E}">
        <p14:creationId xmlns:p14="http://schemas.microsoft.com/office/powerpoint/2010/main" val="2367868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6.jpeg"/><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3.jpeg"/><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6.gif"/></Relationships>
</file>

<file path=ppt/slides/_rels/slide14.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hyperlink" Target="https://doi.org/10.1109/ACCESS.2024.3384428" TargetMode="External"/><Relationship Id="rId2" Type="http://schemas.openxmlformats.org/officeDocument/2006/relationships/hyperlink" Target="https://doi.org/10.3390/mi15101187" TargetMode="External"/><Relationship Id="rId1" Type="http://schemas.openxmlformats.org/officeDocument/2006/relationships/slideLayout" Target="../slideLayouts/slideLayout2.xml"/><Relationship Id="rId5" Type="http://schemas.openxmlformats.org/officeDocument/2006/relationships/hyperlink" Target="https://doi.org/10.1109/JSSC.2025.3552278" TargetMode="External"/><Relationship Id="rId4" Type="http://schemas.openxmlformats.org/officeDocument/2006/relationships/hyperlink" Target="https://doi.org/10.1109/LED.2025.3563988"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doi.org/10.1016/j.sse.2024.108947" TargetMode="External"/><Relationship Id="rId2" Type="http://schemas.openxmlformats.org/officeDocument/2006/relationships/hyperlink" Target="https://doi.org/10.1016/B978-0-12-822823-4.00002-9" TargetMode="External"/><Relationship Id="rId1" Type="http://schemas.openxmlformats.org/officeDocument/2006/relationships/slideLayout" Target="../slideLayouts/slideLayout2.xml"/><Relationship Id="rId5" Type="http://schemas.openxmlformats.org/officeDocument/2006/relationships/hyperlink" Target="https://doi.org/10.1109/VLSIT.2010.5556120" TargetMode="External"/><Relationship Id="rId4" Type="http://schemas.openxmlformats.org/officeDocument/2006/relationships/hyperlink" Target="https://www.doi.org/10.1109/TED.2006.883673"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tsmc.com/english/dedicatedFoundry/technology/logic" TargetMode="External"/><Relationship Id="rId2" Type="http://schemas.openxmlformats.org/officeDocument/2006/relationships/hyperlink" Target="https://semiconductor.samsung.com/processor/mobile-processor/" TargetMode="External"/><Relationship Id="rId1" Type="http://schemas.openxmlformats.org/officeDocument/2006/relationships/slideLayout" Target="../slideLayouts/slideLayout2.xml"/><Relationship Id="rId6" Type="http://schemas.openxmlformats.org/officeDocument/2006/relationships/hyperlink" Target="https://www.doi.org/10.1007/978-0-387-29218-2" TargetMode="External"/><Relationship Id="rId5" Type="http://schemas.openxmlformats.org/officeDocument/2006/relationships/hyperlink" Target="https://doi.org/10.1109/JSSC.2016.2545703" TargetMode="External"/><Relationship Id="rId4" Type="http://schemas.openxmlformats.org/officeDocument/2006/relationships/hyperlink" Target="https://www.intel.com/content/www/us/en/foundry/proces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37D40B-0EE0-3F8C-2061-175B05EE2B22}"/>
              </a:ext>
            </a:extLst>
          </p:cNvPr>
          <p:cNvSpPr>
            <a:spLocks noGrp="1"/>
          </p:cNvSpPr>
          <p:nvPr>
            <p:ph type="ctrTitle"/>
          </p:nvPr>
        </p:nvSpPr>
        <p:spPr>
          <a:xfrm>
            <a:off x="1192306" y="1122363"/>
            <a:ext cx="9807388" cy="2221472"/>
          </a:xfrm>
        </p:spPr>
        <p:txBody>
          <a:bodyPr/>
          <a:lstStyle/>
          <a:p>
            <a:r>
              <a:rPr lang="en-US" dirty="0" err="1"/>
              <a:t>FinFET</a:t>
            </a:r>
            <a:r>
              <a:rPr lang="en-US"/>
              <a:t> &amp; FD-SOI Technologies</a:t>
            </a:r>
          </a:p>
        </p:txBody>
      </p:sp>
      <p:sp>
        <p:nvSpPr>
          <p:cNvPr id="5" name="Subtitle 4">
            <a:extLst>
              <a:ext uri="{FF2B5EF4-FFF2-40B4-BE49-F238E27FC236}">
                <a16:creationId xmlns:a16="http://schemas.microsoft.com/office/drawing/2014/main" id="{83296807-3CFC-4478-DFBF-E57D431F6C44}"/>
              </a:ext>
            </a:extLst>
          </p:cNvPr>
          <p:cNvSpPr>
            <a:spLocks noGrp="1"/>
          </p:cNvSpPr>
          <p:nvPr>
            <p:ph type="subTitle" idx="1"/>
          </p:nvPr>
        </p:nvSpPr>
        <p:spPr>
          <a:xfrm>
            <a:off x="1192306" y="3343835"/>
            <a:ext cx="9807388" cy="1604684"/>
          </a:xfrm>
        </p:spPr>
        <p:txBody>
          <a:bodyPr anchor="ctr">
            <a:normAutofit/>
          </a:bodyPr>
          <a:lstStyle/>
          <a:p>
            <a:pPr>
              <a:lnSpc>
                <a:spcPct val="125000"/>
              </a:lnSpc>
            </a:pPr>
            <a:r>
              <a:rPr lang="el-GR" b="1" dirty="0"/>
              <a:t>[116] </a:t>
            </a:r>
            <a:r>
              <a:rPr lang="en-US" b="1" dirty="0"/>
              <a:t>Design of VLSI Systems</a:t>
            </a:r>
            <a:endParaRPr lang="el-GR" b="1" dirty="0"/>
          </a:p>
          <a:p>
            <a:pPr>
              <a:lnSpc>
                <a:spcPct val="125000"/>
              </a:lnSpc>
            </a:pPr>
            <a:r>
              <a:rPr lang="en-US" sz="2000" b="1" dirty="0"/>
              <a:t>Group 02</a:t>
            </a:r>
            <a:r>
              <a:rPr lang="en-US" sz="2000" kern="100" dirty="0"/>
              <a:t>:</a:t>
            </a:r>
            <a:r>
              <a:rPr lang="en-US" sz="2000" dirty="0"/>
              <a:t> Antonios KAPETANIOS </a:t>
            </a:r>
            <a:r>
              <a:rPr lang="en-US" sz="1600" dirty="0"/>
              <a:t>[10417] </a:t>
            </a:r>
            <a:r>
              <a:rPr lang="en-US" sz="2000" dirty="0"/>
              <a:t>and Panagiotis PAPADOPOULOS </a:t>
            </a:r>
            <a:r>
              <a:rPr lang="en-US" sz="1600" dirty="0"/>
              <a:t>[10697]</a:t>
            </a:r>
          </a:p>
          <a:p>
            <a:pPr>
              <a:lnSpc>
                <a:spcPct val="125000"/>
              </a:lnSpc>
            </a:pPr>
            <a:fld id="{98EB8CF3-7291-4732-AA02-E23093EEEB34}" type="datetime3">
              <a:rPr lang="en-US" sz="1600" smtClean="0"/>
              <a:t>14 December 2025</a:t>
            </a:fld>
            <a:endParaRPr lang="en-US" sz="1600" dirty="0"/>
          </a:p>
        </p:txBody>
      </p:sp>
      <p:grpSp>
        <p:nvGrpSpPr>
          <p:cNvPr id="3" name="Group 2">
            <a:extLst>
              <a:ext uri="{FF2B5EF4-FFF2-40B4-BE49-F238E27FC236}">
                <a16:creationId xmlns:a16="http://schemas.microsoft.com/office/drawing/2014/main" id="{9D304272-AFC5-531E-6374-B4444433F449}"/>
              </a:ext>
            </a:extLst>
          </p:cNvPr>
          <p:cNvGrpSpPr/>
          <p:nvPr/>
        </p:nvGrpSpPr>
        <p:grpSpPr>
          <a:xfrm>
            <a:off x="3161227" y="5191170"/>
            <a:ext cx="5869546" cy="1088933"/>
            <a:chOff x="4424167" y="5191170"/>
            <a:chExt cx="5869546" cy="1088933"/>
          </a:xfrm>
        </p:grpSpPr>
        <p:pic>
          <p:nvPicPr>
            <p:cNvPr id="9" name="Picture 8" descr="A black background with red text&#10;&#10;AI-generated content may be incorrect.">
              <a:extLst>
                <a:ext uri="{FF2B5EF4-FFF2-40B4-BE49-F238E27FC236}">
                  <a16:creationId xmlns:a16="http://schemas.microsoft.com/office/drawing/2014/main" id="{A146145A-ADE7-CB68-1160-047EDDE363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24167" y="5191170"/>
              <a:ext cx="3343665" cy="1088933"/>
            </a:xfrm>
            <a:prstGeom prst="rect">
              <a:avLst/>
            </a:prstGeom>
          </p:spPr>
        </p:pic>
        <p:pic>
          <p:nvPicPr>
            <p:cNvPr id="2" name="Picture 1">
              <a:extLst>
                <a:ext uri="{FF2B5EF4-FFF2-40B4-BE49-F238E27FC236}">
                  <a16:creationId xmlns:a16="http://schemas.microsoft.com/office/drawing/2014/main" id="{D5AB0AD2-B4BE-80E0-B1D8-12AEA505B4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190968" y="5239507"/>
              <a:ext cx="2102745" cy="992259"/>
            </a:xfrm>
            <a:prstGeom prst="rect">
              <a:avLst/>
            </a:prstGeom>
          </p:spPr>
        </p:pic>
      </p:grpSp>
    </p:spTree>
    <p:extLst>
      <p:ext uri="{BB962C8B-B14F-4D97-AF65-F5344CB8AC3E}">
        <p14:creationId xmlns:p14="http://schemas.microsoft.com/office/powerpoint/2010/main" val="1978751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878A9-49A4-1AAA-C6F3-3010A014AE42}"/>
              </a:ext>
            </a:extLst>
          </p:cNvPr>
          <p:cNvSpPr>
            <a:spLocks noGrp="1"/>
          </p:cNvSpPr>
          <p:nvPr>
            <p:ph type="title"/>
          </p:nvPr>
        </p:nvSpPr>
        <p:spPr/>
        <p:txBody>
          <a:bodyPr/>
          <a:lstStyle/>
          <a:p>
            <a:r>
              <a:rPr lang="en-US"/>
              <a:t>Contents</a:t>
            </a:r>
          </a:p>
        </p:txBody>
      </p:sp>
      <p:sp>
        <p:nvSpPr>
          <p:cNvPr id="3" name="Content Placeholder 2">
            <a:extLst>
              <a:ext uri="{FF2B5EF4-FFF2-40B4-BE49-F238E27FC236}">
                <a16:creationId xmlns:a16="http://schemas.microsoft.com/office/drawing/2014/main" id="{7D3D5ADB-00C4-71BA-945F-2CB949D37877}"/>
              </a:ext>
            </a:extLst>
          </p:cNvPr>
          <p:cNvSpPr>
            <a:spLocks noGrp="1"/>
          </p:cNvSpPr>
          <p:nvPr>
            <p:ph idx="1"/>
          </p:nvPr>
        </p:nvSpPr>
        <p:spPr/>
        <p:txBody>
          <a:bodyPr vert="horz" lIns="91440" tIns="45720" rIns="91440" bIns="45720" rtlCol="0" anchor="t">
            <a:normAutofit fontScale="92500" lnSpcReduction="10000"/>
          </a:bodyPr>
          <a:lstStyle/>
          <a:p>
            <a:r>
              <a:rPr lang="en-US" err="1"/>
              <a:t>FinFET</a:t>
            </a:r>
            <a:endParaRPr lang="en-US"/>
          </a:p>
          <a:p>
            <a:pPr marL="800100" lvl="1">
              <a:buFont typeface="Arial"/>
            </a:pPr>
            <a:r>
              <a:rPr lang="en-US"/>
              <a:t>Technology overview</a:t>
            </a:r>
          </a:p>
          <a:p>
            <a:pPr marL="800100" lvl="1">
              <a:buFont typeface="Arial"/>
            </a:pPr>
            <a:r>
              <a:rPr lang="en-GB"/>
              <a:t>“</a:t>
            </a:r>
            <a:r>
              <a:rPr lang="en-US"/>
              <a:t>Comprehensive Review of </a:t>
            </a:r>
            <a:r>
              <a:rPr lang="en-US" err="1"/>
              <a:t>FinFET</a:t>
            </a:r>
            <a:r>
              <a:rPr lang="en-US"/>
              <a:t> Technology: History, Structure, </a:t>
            </a:r>
            <a:r>
              <a:rPr lang="en-US" err="1"/>
              <a:t>Challenges,Innovations</a:t>
            </a:r>
            <a:r>
              <a:rPr lang="en-US"/>
              <a:t>, and Emerging Sensing Applications</a:t>
            </a:r>
            <a:r>
              <a:rPr lang="en-GB"/>
              <a:t>”, </a:t>
            </a:r>
            <a:r>
              <a:rPr lang="en-US"/>
              <a:t>K. Karimi et al. [1]</a:t>
            </a:r>
          </a:p>
          <a:p>
            <a:pPr marL="800100" lvl="1">
              <a:lnSpc>
                <a:spcPct val="80000"/>
              </a:lnSpc>
              <a:buFont typeface="Arial"/>
            </a:pPr>
            <a:r>
              <a:rPr lang="en-US"/>
              <a:t>“</a:t>
            </a:r>
            <a:r>
              <a:rPr lang="en-US" err="1"/>
              <a:t>FinFET</a:t>
            </a:r>
            <a:r>
              <a:rPr lang="en-US"/>
              <a:t> to GAA MBCFET: A Review and Insights</a:t>
            </a:r>
            <a:r>
              <a:rPr lang="en-GB"/>
              <a:t>”, </a:t>
            </a:r>
            <a:r>
              <a:rPr lang="en-US"/>
              <a:t>R. R. Das et al. [2]</a:t>
            </a:r>
          </a:p>
          <a:p>
            <a:r>
              <a:rPr lang="en-US"/>
              <a:t>FD-SOI</a:t>
            </a:r>
          </a:p>
          <a:p>
            <a:pPr lvl="1"/>
            <a:r>
              <a:rPr lang="en-US"/>
              <a:t>Technology overview</a:t>
            </a:r>
          </a:p>
          <a:p>
            <a:pPr lvl="1"/>
            <a:r>
              <a:rPr lang="en-GB"/>
              <a:t>“A Novel 1T-APS Using 22nm FD-SOI Technology With Record High </a:t>
            </a:r>
            <a:r>
              <a:rPr lang="en-GB" err="1"/>
              <a:t>Tunable</a:t>
            </a:r>
            <a:r>
              <a:rPr lang="en-GB"/>
              <a:t> Sensitivity Range”, H. Xie et al. </a:t>
            </a:r>
            <a:r>
              <a:rPr lang="en-GB">
                <a:solidFill>
                  <a:schemeClr val="tx1">
                    <a:lumMod val="50000"/>
                    <a:lumOff val="50000"/>
                  </a:schemeClr>
                </a:solidFill>
              </a:rPr>
              <a:t>[3]</a:t>
            </a:r>
          </a:p>
          <a:p>
            <a:pPr lvl="1"/>
            <a:r>
              <a:rPr lang="en-US"/>
              <a:t>“</a:t>
            </a:r>
            <a:r>
              <a:rPr lang="en-GB"/>
              <a:t>A Wideband Sub-6GHz Transceiver Front End for 5G Base Stations in 22-nm FD-SOI CMOS”, </a:t>
            </a:r>
            <a:r>
              <a:rPr lang="en-US"/>
              <a:t>C. Elgaard et al. </a:t>
            </a:r>
            <a:r>
              <a:rPr lang="en-US">
                <a:solidFill>
                  <a:schemeClr val="tx1">
                    <a:lumMod val="50000"/>
                    <a:lumOff val="50000"/>
                  </a:schemeClr>
                </a:solidFill>
              </a:rPr>
              <a:t>[4]</a:t>
            </a:r>
          </a:p>
          <a:p>
            <a:r>
              <a:rPr lang="en-US"/>
              <a:t>References</a:t>
            </a:r>
          </a:p>
        </p:txBody>
      </p:sp>
      <p:sp>
        <p:nvSpPr>
          <p:cNvPr id="4" name="Date Placeholder 3">
            <a:extLst>
              <a:ext uri="{FF2B5EF4-FFF2-40B4-BE49-F238E27FC236}">
                <a16:creationId xmlns:a16="http://schemas.microsoft.com/office/drawing/2014/main" id="{74A1EF13-556E-3D6E-B2A4-64423BBACA9E}"/>
              </a:ext>
            </a:extLst>
          </p:cNvPr>
          <p:cNvSpPr>
            <a:spLocks noGrp="1"/>
          </p:cNvSpPr>
          <p:nvPr>
            <p:ph type="dt" sz="half" idx="10"/>
          </p:nvPr>
        </p:nvSpPr>
        <p:spPr/>
        <p:txBody>
          <a:bodyPr/>
          <a:lstStyle/>
          <a:p>
            <a:fld id="{12F2CE6E-96FC-458C-B085-F5827CA03650}" type="datetime3">
              <a:rPr lang="en-US" smtClean="0"/>
              <a:t>14 December 2025</a:t>
            </a:fld>
            <a:endParaRPr lang="en-US"/>
          </a:p>
        </p:txBody>
      </p:sp>
      <p:sp>
        <p:nvSpPr>
          <p:cNvPr id="5" name="Slide Number Placeholder 4">
            <a:extLst>
              <a:ext uri="{FF2B5EF4-FFF2-40B4-BE49-F238E27FC236}">
                <a16:creationId xmlns:a16="http://schemas.microsoft.com/office/drawing/2014/main" id="{882D4579-156E-B109-34E8-FE07E9B32D43}"/>
              </a:ext>
            </a:extLst>
          </p:cNvPr>
          <p:cNvSpPr>
            <a:spLocks noGrp="1"/>
          </p:cNvSpPr>
          <p:nvPr>
            <p:ph type="sldNum" sz="quarter" idx="12"/>
          </p:nvPr>
        </p:nvSpPr>
        <p:spPr/>
        <p:txBody>
          <a:bodyPr/>
          <a:lstStyle/>
          <a:p>
            <a:fld id="{57CA127F-6BC0-40BB-9B02-66AE29583F1C}" type="slidenum">
              <a:rPr lang="en-US" smtClean="0"/>
              <a:t>2</a:t>
            </a:fld>
            <a:endParaRPr lang="en-US"/>
          </a:p>
        </p:txBody>
      </p:sp>
      <p:sp>
        <p:nvSpPr>
          <p:cNvPr id="7" name="Footer Placeholder 6">
            <a:extLst>
              <a:ext uri="{FF2B5EF4-FFF2-40B4-BE49-F238E27FC236}">
                <a16:creationId xmlns:a16="http://schemas.microsoft.com/office/drawing/2014/main" id="{697FCD6F-3649-71A7-C408-CC57EB9C84E2}"/>
              </a:ext>
            </a:extLst>
          </p:cNvPr>
          <p:cNvSpPr>
            <a:spLocks noGrp="1"/>
          </p:cNvSpPr>
          <p:nvPr>
            <p:ph type="ftr" sz="quarter" idx="11"/>
          </p:nvPr>
        </p:nvSpPr>
        <p:spPr/>
        <p:txBody>
          <a:bodyPr/>
          <a:lstStyle/>
          <a:p>
            <a:r>
              <a:rPr lang="en-GB"/>
              <a:t>[116] Design of VLSI Systems ┃ Group 02</a:t>
            </a:r>
            <a:endParaRPr lang="en-US"/>
          </a:p>
        </p:txBody>
      </p:sp>
    </p:spTree>
    <p:extLst>
      <p:ext uri="{BB962C8B-B14F-4D97-AF65-F5344CB8AC3E}">
        <p14:creationId xmlns:p14="http://schemas.microsoft.com/office/powerpoint/2010/main" val="1632494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C975D-CE38-DD67-362F-E8AA4E9AEE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481C59-2632-BCAD-911E-45221A2F6364}"/>
              </a:ext>
            </a:extLst>
          </p:cNvPr>
          <p:cNvSpPr>
            <a:spLocks noGrp="1"/>
          </p:cNvSpPr>
          <p:nvPr>
            <p:ph type="title"/>
          </p:nvPr>
        </p:nvSpPr>
        <p:spPr>
          <a:xfrm>
            <a:off x="841876" y="3153528"/>
            <a:ext cx="10515600" cy="1032711"/>
          </a:xfrm>
        </p:spPr>
        <p:txBody>
          <a:bodyPr/>
          <a:lstStyle/>
          <a:p>
            <a:r>
              <a:rPr lang="en-US" err="1"/>
              <a:t>FinFET</a:t>
            </a:r>
            <a:endParaRPr lang="en-US"/>
          </a:p>
        </p:txBody>
      </p:sp>
      <p:sp>
        <p:nvSpPr>
          <p:cNvPr id="4" name="Date Placeholder 3">
            <a:extLst>
              <a:ext uri="{FF2B5EF4-FFF2-40B4-BE49-F238E27FC236}">
                <a16:creationId xmlns:a16="http://schemas.microsoft.com/office/drawing/2014/main" id="{BAAB719B-2123-29EF-F6BF-A7F1C7A831D8}"/>
              </a:ext>
            </a:extLst>
          </p:cNvPr>
          <p:cNvSpPr>
            <a:spLocks noGrp="1"/>
          </p:cNvSpPr>
          <p:nvPr>
            <p:ph type="dt" sz="half" idx="10"/>
          </p:nvPr>
        </p:nvSpPr>
        <p:spPr/>
        <p:txBody>
          <a:bodyPr/>
          <a:lstStyle/>
          <a:p>
            <a:fld id="{14159C97-EF52-44ED-A894-5C4F3F930411}" type="datetime3">
              <a:rPr lang="en-US" smtClean="0"/>
              <a:t>14 December 2025</a:t>
            </a:fld>
            <a:endParaRPr lang="en-US"/>
          </a:p>
        </p:txBody>
      </p:sp>
      <p:sp>
        <p:nvSpPr>
          <p:cNvPr id="5" name="Slide Number Placeholder 4">
            <a:extLst>
              <a:ext uri="{FF2B5EF4-FFF2-40B4-BE49-F238E27FC236}">
                <a16:creationId xmlns:a16="http://schemas.microsoft.com/office/drawing/2014/main" id="{FF395993-4ED2-4BB0-2FBF-FDA5E6895557}"/>
              </a:ext>
            </a:extLst>
          </p:cNvPr>
          <p:cNvSpPr>
            <a:spLocks noGrp="1"/>
          </p:cNvSpPr>
          <p:nvPr>
            <p:ph type="sldNum" sz="quarter" idx="12"/>
          </p:nvPr>
        </p:nvSpPr>
        <p:spPr/>
        <p:txBody>
          <a:bodyPr/>
          <a:lstStyle/>
          <a:p>
            <a:fld id="{57CA127F-6BC0-40BB-9B02-66AE29583F1C}" type="slidenum">
              <a:rPr lang="en-US" smtClean="0"/>
              <a:t>3</a:t>
            </a:fld>
            <a:endParaRPr lang="en-US"/>
          </a:p>
        </p:txBody>
      </p:sp>
      <p:sp>
        <p:nvSpPr>
          <p:cNvPr id="7" name="Footer Placeholder 6">
            <a:extLst>
              <a:ext uri="{FF2B5EF4-FFF2-40B4-BE49-F238E27FC236}">
                <a16:creationId xmlns:a16="http://schemas.microsoft.com/office/drawing/2014/main" id="{15270E56-5FE3-B9A4-8EB7-70621A705E8B}"/>
              </a:ext>
            </a:extLst>
          </p:cNvPr>
          <p:cNvSpPr>
            <a:spLocks noGrp="1"/>
          </p:cNvSpPr>
          <p:nvPr>
            <p:ph type="ftr" sz="quarter" idx="11"/>
          </p:nvPr>
        </p:nvSpPr>
        <p:spPr/>
        <p:txBody>
          <a:bodyPr/>
          <a:lstStyle/>
          <a:p>
            <a:r>
              <a:rPr lang="en-GB"/>
              <a:t>[116] Design of VLSI Systems ┃ Group 02</a:t>
            </a:r>
            <a:endParaRPr lang="en-US"/>
          </a:p>
        </p:txBody>
      </p:sp>
      <p:sp>
        <p:nvSpPr>
          <p:cNvPr id="8" name="Text Placeholder 2">
            <a:extLst>
              <a:ext uri="{FF2B5EF4-FFF2-40B4-BE49-F238E27FC236}">
                <a16:creationId xmlns:a16="http://schemas.microsoft.com/office/drawing/2014/main" id="{F10EE313-C919-016C-4C98-A10D69A5CF36}"/>
              </a:ext>
            </a:extLst>
          </p:cNvPr>
          <p:cNvSpPr txBox="1">
            <a:spLocks/>
          </p:cNvSpPr>
          <p:nvPr/>
        </p:nvSpPr>
        <p:spPr>
          <a:xfrm>
            <a:off x="833855" y="4258428"/>
            <a:ext cx="10515600" cy="1903411"/>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marL="342900" indent="-342900">
              <a:buFont typeface="Arial" panose="020B0604020202020204" pitchFamily="34" charset="0"/>
              <a:buChar char="•"/>
            </a:pPr>
            <a:r>
              <a:rPr lang="en-US" b="1">
                <a:solidFill>
                  <a:schemeClr val="tx1"/>
                </a:solidFill>
              </a:rPr>
              <a:t>Technology overview</a:t>
            </a:r>
          </a:p>
          <a:p>
            <a:pPr marL="342900" indent="-342900">
              <a:buFont typeface="Arial,Sans-Serif" panose="020B0604020202020204" pitchFamily="34" charset="0"/>
              <a:buChar char="•"/>
            </a:pPr>
            <a:r>
              <a:rPr lang="en-GB">
                <a:latin typeface="TW Cen MT"/>
              </a:rPr>
              <a:t>“</a:t>
            </a:r>
            <a:r>
              <a:rPr lang="en-US">
                <a:solidFill>
                  <a:schemeClr val="bg2">
                    <a:lumMod val="49000"/>
                  </a:schemeClr>
                </a:solidFill>
                <a:latin typeface="TW Cen MT"/>
              </a:rPr>
              <a:t>Comprehensive Review of </a:t>
            </a:r>
            <a:r>
              <a:rPr lang="en-US" err="1">
                <a:solidFill>
                  <a:schemeClr val="bg2">
                    <a:lumMod val="49000"/>
                  </a:schemeClr>
                </a:solidFill>
                <a:latin typeface="TW Cen MT"/>
              </a:rPr>
              <a:t>FinFET</a:t>
            </a:r>
            <a:r>
              <a:rPr lang="en-US">
                <a:solidFill>
                  <a:schemeClr val="bg2">
                    <a:lumMod val="49000"/>
                  </a:schemeClr>
                </a:solidFill>
                <a:latin typeface="TW Cen MT"/>
              </a:rPr>
              <a:t> Technology: History, Structure, Challenges, Innovations, and Emerging Sensing Applications</a:t>
            </a:r>
            <a:r>
              <a:rPr lang="en-GB">
                <a:latin typeface="TW Cen MT"/>
              </a:rPr>
              <a:t>”, </a:t>
            </a:r>
            <a:r>
              <a:rPr lang="en-US">
                <a:latin typeface="TW Cen MT"/>
              </a:rPr>
              <a:t>K. Karimi et al. [1]</a:t>
            </a:r>
          </a:p>
          <a:p>
            <a:pPr marL="342900" indent="-342900">
              <a:lnSpc>
                <a:spcPct val="80000"/>
              </a:lnSpc>
              <a:buFont typeface="Arial,Sans-Serif" panose="020B0604020202020204" pitchFamily="34" charset="0"/>
              <a:buChar char="•"/>
            </a:pPr>
            <a:r>
              <a:rPr lang="en-US">
                <a:solidFill>
                  <a:srgbClr val="767676"/>
                </a:solidFill>
                <a:latin typeface="TW Cen MT"/>
              </a:rPr>
              <a:t>“</a:t>
            </a:r>
            <a:r>
              <a:rPr lang="en-US" err="1">
                <a:solidFill>
                  <a:srgbClr val="767676"/>
                </a:solidFill>
                <a:latin typeface="TW Cen MT"/>
              </a:rPr>
              <a:t>FinFET</a:t>
            </a:r>
            <a:r>
              <a:rPr lang="en-US">
                <a:solidFill>
                  <a:srgbClr val="767676"/>
                </a:solidFill>
                <a:latin typeface="TW Cen MT"/>
              </a:rPr>
              <a:t> to GAA MBCFET: A Review and Insights</a:t>
            </a:r>
            <a:r>
              <a:rPr lang="en-GB">
                <a:solidFill>
                  <a:srgbClr val="767676"/>
                </a:solidFill>
                <a:latin typeface="TW Cen MT"/>
              </a:rPr>
              <a:t>”, </a:t>
            </a:r>
            <a:r>
              <a:rPr lang="en-US">
                <a:solidFill>
                  <a:srgbClr val="767676"/>
                </a:solidFill>
                <a:latin typeface="TW Cen MT"/>
              </a:rPr>
              <a:t>R. R. Das et al. [2]</a:t>
            </a:r>
            <a:endParaRPr lang="en-US">
              <a:solidFill>
                <a:srgbClr val="000000"/>
              </a:solidFill>
              <a:latin typeface="TW Cen MT"/>
            </a:endParaRPr>
          </a:p>
          <a:p>
            <a:endParaRPr lang="en-US">
              <a:solidFill>
                <a:srgbClr val="767676"/>
              </a:solidFill>
              <a:latin typeface="TW Cen MT"/>
            </a:endParaRPr>
          </a:p>
        </p:txBody>
      </p:sp>
    </p:spTree>
    <p:extLst>
      <p:ext uri="{BB962C8B-B14F-4D97-AF65-F5344CB8AC3E}">
        <p14:creationId xmlns:p14="http://schemas.microsoft.com/office/powerpoint/2010/main" val="3317473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F7C2A-7E1E-4BC1-CF51-ED0B6910B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CA9822-BDD0-BA42-B75E-A975F8E09998}"/>
              </a:ext>
            </a:extLst>
          </p:cNvPr>
          <p:cNvSpPr>
            <a:spLocks noGrp="1"/>
          </p:cNvSpPr>
          <p:nvPr>
            <p:ph type="title"/>
          </p:nvPr>
        </p:nvSpPr>
        <p:spPr>
          <a:xfrm>
            <a:off x="776288" y="147411"/>
            <a:ext cx="10639425" cy="1325563"/>
          </a:xfrm>
        </p:spPr>
        <p:txBody>
          <a:bodyPr anchor="ctr">
            <a:normAutofit/>
          </a:bodyPr>
          <a:lstStyle/>
          <a:p>
            <a:r>
              <a:rPr lang="en-US"/>
              <a:t>Introduction to </a:t>
            </a:r>
            <a:r>
              <a:rPr lang="en-US" err="1"/>
              <a:t>FinFET</a:t>
            </a:r>
            <a:r>
              <a:rPr lang="en-US"/>
              <a:t> Technology</a:t>
            </a:r>
          </a:p>
        </p:txBody>
      </p:sp>
      <p:sp>
        <p:nvSpPr>
          <p:cNvPr id="5" name="Date Placeholder 4">
            <a:extLst>
              <a:ext uri="{FF2B5EF4-FFF2-40B4-BE49-F238E27FC236}">
                <a16:creationId xmlns:a16="http://schemas.microsoft.com/office/drawing/2014/main" id="{44EB2A41-4788-C9B0-2010-34E6A16B9FB6}"/>
              </a:ext>
            </a:extLst>
          </p:cNvPr>
          <p:cNvSpPr>
            <a:spLocks noGrp="1"/>
          </p:cNvSpPr>
          <p:nvPr>
            <p:ph type="dt" sz="half" idx="10"/>
          </p:nvPr>
        </p:nvSpPr>
        <p:spPr>
          <a:xfrm>
            <a:off x="838200" y="6492875"/>
            <a:ext cx="2743200" cy="365125"/>
          </a:xfrm>
        </p:spPr>
        <p:txBody>
          <a:bodyPr anchor="ctr">
            <a:normAutofit/>
          </a:bodyPr>
          <a:lstStyle/>
          <a:p>
            <a:pPr>
              <a:spcAft>
                <a:spcPts val="600"/>
              </a:spcAft>
            </a:pPr>
            <a:fld id="{0E53D1C4-5FEF-464B-AFAA-A733CD43D057}" type="datetime3">
              <a:rPr lang="en-US" smtClean="0"/>
              <a:pPr>
                <a:spcAft>
                  <a:spcPts val="600"/>
                </a:spcAft>
              </a:pPr>
              <a:t>14 December 2025</a:t>
            </a:fld>
            <a:endParaRPr lang="en-US"/>
          </a:p>
        </p:txBody>
      </p:sp>
      <p:sp>
        <p:nvSpPr>
          <p:cNvPr id="6" name="Footer Placeholder 5">
            <a:extLst>
              <a:ext uri="{FF2B5EF4-FFF2-40B4-BE49-F238E27FC236}">
                <a16:creationId xmlns:a16="http://schemas.microsoft.com/office/drawing/2014/main" id="{58F61C6F-3F5F-F10C-A652-28BBC47872EE}"/>
              </a:ext>
            </a:extLst>
          </p:cNvPr>
          <p:cNvSpPr>
            <a:spLocks noGrp="1"/>
          </p:cNvSpPr>
          <p:nvPr>
            <p:ph type="ftr" sz="quarter" idx="11"/>
          </p:nvPr>
        </p:nvSpPr>
        <p:spPr>
          <a:xfrm>
            <a:off x="4038600" y="6492875"/>
            <a:ext cx="4114800" cy="365125"/>
          </a:xfrm>
        </p:spPr>
        <p:txBody>
          <a:bodyPr anchor="ctr">
            <a:normAutofit/>
          </a:bodyPr>
          <a:lstStyle/>
          <a:p>
            <a:pPr>
              <a:spcAft>
                <a:spcPts val="600"/>
              </a:spcAft>
            </a:pPr>
            <a:r>
              <a:rPr lang="en-GB"/>
              <a:t>[116] Design of VLSI Systems ┃ Group 02</a:t>
            </a:r>
            <a:endParaRPr lang="en-US"/>
          </a:p>
        </p:txBody>
      </p:sp>
      <p:sp>
        <p:nvSpPr>
          <p:cNvPr id="7" name="Slide Number Placeholder 6">
            <a:extLst>
              <a:ext uri="{FF2B5EF4-FFF2-40B4-BE49-F238E27FC236}">
                <a16:creationId xmlns:a16="http://schemas.microsoft.com/office/drawing/2014/main" id="{D58DA0C7-4FC0-5EFC-69BD-702317365794}"/>
              </a:ext>
            </a:extLst>
          </p:cNvPr>
          <p:cNvSpPr>
            <a:spLocks noGrp="1"/>
          </p:cNvSpPr>
          <p:nvPr>
            <p:ph type="sldNum" sz="quarter" idx="12"/>
          </p:nvPr>
        </p:nvSpPr>
        <p:spPr>
          <a:xfrm>
            <a:off x="8610600" y="6492875"/>
            <a:ext cx="2743200" cy="365125"/>
          </a:xfrm>
        </p:spPr>
        <p:txBody>
          <a:bodyPr anchor="ctr">
            <a:normAutofit/>
          </a:bodyPr>
          <a:lstStyle/>
          <a:p>
            <a:pPr>
              <a:spcAft>
                <a:spcPts val="600"/>
              </a:spcAft>
            </a:pPr>
            <a:fld id="{57CA127F-6BC0-40BB-9B02-66AE29583F1C}" type="slidenum">
              <a:rPr lang="en-US" smtClean="0"/>
              <a:pPr>
                <a:spcAft>
                  <a:spcPts val="600"/>
                </a:spcAft>
              </a:pPr>
              <a:t>4</a:t>
            </a:fld>
            <a:endParaRPr lang="en-US"/>
          </a:p>
        </p:txBody>
      </p:sp>
      <p:sp>
        <p:nvSpPr>
          <p:cNvPr id="25" name="TextBox 24">
            <a:extLst>
              <a:ext uri="{FF2B5EF4-FFF2-40B4-BE49-F238E27FC236}">
                <a16:creationId xmlns:a16="http://schemas.microsoft.com/office/drawing/2014/main" id="{B823B587-AD0B-5169-F55B-73E1336856A4}"/>
              </a:ext>
            </a:extLst>
          </p:cNvPr>
          <p:cNvSpPr txBox="1"/>
          <p:nvPr/>
        </p:nvSpPr>
        <p:spPr>
          <a:xfrm>
            <a:off x="541317" y="4168999"/>
            <a:ext cx="6432293" cy="1384995"/>
          </a:xfrm>
          <a:prstGeom prst="rect">
            <a:avLst/>
          </a:prstGeom>
          <a:noFill/>
        </p:spPr>
        <p:txBody>
          <a:bodyPr wrap="square" lIns="91440" tIns="45720" rIns="91440" bIns="45720" rtlCol="0" anchor="t">
            <a:spAutoFit/>
          </a:bodyPr>
          <a:lstStyle/>
          <a:p>
            <a:r>
              <a:rPr lang="en-GB" sz="1400" b="1"/>
              <a:t>Figure FinFET.1:</a:t>
            </a:r>
            <a:r>
              <a:rPr lang="en-GB" sz="1400"/>
              <a:t> </a:t>
            </a:r>
            <a:r>
              <a:rPr lang="en-GB" sz="1400">
                <a:ea typeface="+mn-lt"/>
                <a:cs typeface="+mn-lt"/>
              </a:rPr>
              <a:t>Structure Schematic of (a) planar MOSFET and (b) </a:t>
            </a:r>
            <a:r>
              <a:rPr lang="en-GB" sz="1400" err="1">
                <a:ea typeface="+mn-lt"/>
                <a:cs typeface="+mn-lt"/>
              </a:rPr>
              <a:t>FinFET</a:t>
            </a:r>
            <a:r>
              <a:rPr lang="en-GB" sz="1400">
                <a:ea typeface="+mn-lt"/>
                <a:cs typeface="+mn-lt"/>
              </a:rPr>
              <a:t>. (c) Demonstrating </a:t>
            </a:r>
            <a:r>
              <a:rPr lang="en-GB" sz="1400" err="1">
                <a:ea typeface="+mn-lt"/>
                <a:cs typeface="+mn-lt"/>
              </a:rPr>
              <a:t>H</a:t>
            </a:r>
            <a:r>
              <a:rPr lang="en-GB" sz="1050" err="1">
                <a:ea typeface="+mn-lt"/>
                <a:cs typeface="+mn-lt"/>
              </a:rPr>
              <a:t>Fin</a:t>
            </a:r>
            <a:r>
              <a:rPr lang="en-GB" sz="1400">
                <a:ea typeface="+mn-lt"/>
                <a:cs typeface="+mn-lt"/>
              </a:rPr>
              <a:t> as fin height and </a:t>
            </a:r>
            <a:r>
              <a:rPr lang="en-GB" sz="1400" err="1">
                <a:ea typeface="+mn-lt"/>
                <a:cs typeface="+mn-lt"/>
              </a:rPr>
              <a:t>W</a:t>
            </a:r>
            <a:r>
              <a:rPr lang="en-GB" sz="1100" err="1">
                <a:ea typeface="+mn-lt"/>
                <a:cs typeface="+mn-lt"/>
              </a:rPr>
              <a:t>Fin</a:t>
            </a:r>
            <a:r>
              <a:rPr lang="en-GB" sz="1400">
                <a:ea typeface="+mn-lt"/>
                <a:cs typeface="+mn-lt"/>
              </a:rPr>
              <a:t> as fin width</a:t>
            </a:r>
            <a:r>
              <a:rPr lang="en-US" sz="1400"/>
              <a:t>. Figure taken from </a:t>
            </a:r>
            <a:r>
              <a:rPr lang="en-US" sz="1400">
                <a:ea typeface="+mn-lt"/>
                <a:cs typeface="+mn-lt"/>
              </a:rPr>
              <a:t>Karimi, K.; </a:t>
            </a:r>
            <a:r>
              <a:rPr lang="en-US" sz="1400" err="1">
                <a:ea typeface="+mn-lt"/>
                <a:cs typeface="+mn-lt"/>
              </a:rPr>
              <a:t>Fardoost</a:t>
            </a:r>
            <a:r>
              <a:rPr lang="en-US" sz="1400">
                <a:ea typeface="+mn-lt"/>
                <a:cs typeface="+mn-lt"/>
              </a:rPr>
              <a:t>, </a:t>
            </a:r>
            <a:r>
              <a:rPr lang="en-US" sz="1400" err="1">
                <a:ea typeface="+mn-lt"/>
                <a:cs typeface="+mn-lt"/>
              </a:rPr>
              <a:t>A.;Javanmard</a:t>
            </a:r>
            <a:r>
              <a:rPr lang="en-US" sz="1400">
                <a:ea typeface="+mn-lt"/>
                <a:cs typeface="+mn-lt"/>
              </a:rPr>
              <a:t>, M. Comprehensive, Review of </a:t>
            </a:r>
            <a:r>
              <a:rPr lang="en-US" sz="1400" err="1">
                <a:ea typeface="+mn-lt"/>
                <a:cs typeface="+mn-lt"/>
              </a:rPr>
              <a:t>FinFET</a:t>
            </a:r>
            <a:r>
              <a:rPr lang="en-US" sz="1400">
                <a:ea typeface="+mn-lt"/>
                <a:cs typeface="+mn-lt"/>
              </a:rPr>
              <a:t> Technology: History, Structure, Challenges, Innovations, and Emerging Sensing Applications. Micromachines 2024, 15, 1187. </a:t>
            </a:r>
            <a:endParaRPr lang="en-US" sz="1400"/>
          </a:p>
          <a:p>
            <a:endParaRPr lang="en-US" sz="1400"/>
          </a:p>
        </p:txBody>
      </p:sp>
      <p:pic>
        <p:nvPicPr>
          <p:cNvPr id="4" name="Picture 3" descr="Diagram of a diagram of a gate&#10;&#10;AI-generated content may be incorrect.">
            <a:extLst>
              <a:ext uri="{FF2B5EF4-FFF2-40B4-BE49-F238E27FC236}">
                <a16:creationId xmlns:a16="http://schemas.microsoft.com/office/drawing/2014/main" id="{4DFDC2A3-9CEC-A14D-5C34-4A16B8A800E2}"/>
              </a:ext>
            </a:extLst>
          </p:cNvPr>
          <p:cNvPicPr>
            <a:picLocks noChangeAspect="1"/>
          </p:cNvPicPr>
          <p:nvPr/>
        </p:nvPicPr>
        <p:blipFill>
          <a:blip r:embed="rId3"/>
          <a:stretch>
            <a:fillRect/>
          </a:stretch>
        </p:blipFill>
        <p:spPr>
          <a:xfrm>
            <a:off x="544109" y="1913771"/>
            <a:ext cx="6082631" cy="1943149"/>
          </a:xfrm>
          <a:prstGeom prst="rect">
            <a:avLst/>
          </a:prstGeom>
        </p:spPr>
      </p:pic>
      <p:sp>
        <p:nvSpPr>
          <p:cNvPr id="9" name="Content Placeholder 8">
            <a:extLst>
              <a:ext uri="{FF2B5EF4-FFF2-40B4-BE49-F238E27FC236}">
                <a16:creationId xmlns:a16="http://schemas.microsoft.com/office/drawing/2014/main" id="{5C2455AA-2FA8-BF04-9993-D8754E88DC61}"/>
              </a:ext>
            </a:extLst>
          </p:cNvPr>
          <p:cNvSpPr>
            <a:spLocks noGrp="1"/>
          </p:cNvSpPr>
          <p:nvPr>
            <p:ph sz="half" idx="2"/>
          </p:nvPr>
        </p:nvSpPr>
        <p:spPr>
          <a:xfrm>
            <a:off x="6973785" y="1726665"/>
            <a:ext cx="4676900" cy="3351831"/>
          </a:xfrm>
        </p:spPr>
        <p:txBody>
          <a:bodyPr vert="horz" lIns="91440" tIns="45720" rIns="91440" bIns="45720" rtlCol="0" anchor="t">
            <a:normAutofit/>
          </a:bodyPr>
          <a:lstStyle/>
          <a:p>
            <a:r>
              <a:rPr lang="en-US" sz="2400" err="1"/>
              <a:t>FinFET</a:t>
            </a:r>
            <a:r>
              <a:rPr lang="en-US" sz="2400"/>
              <a:t> = Three-dimensional multi-gate MOSFET</a:t>
            </a:r>
          </a:p>
          <a:p>
            <a:r>
              <a:rPr lang="en-US" sz="2400"/>
              <a:t>Developed to overcome short-channel effects in planar CMOS</a:t>
            </a:r>
          </a:p>
          <a:p>
            <a:r>
              <a:rPr lang="en-US" sz="2400" err="1">
                <a:latin typeface="TW Cen MT"/>
              </a:rPr>
              <a:t>H</a:t>
            </a:r>
            <a:r>
              <a:rPr lang="en-US" sz="2400" baseline="-25000" err="1">
                <a:latin typeface="TW Cen MT"/>
              </a:rPr>
              <a:t>Fin</a:t>
            </a:r>
            <a:r>
              <a:rPr lang="en-US" sz="2400">
                <a:latin typeface="TW Cen MT"/>
              </a:rPr>
              <a:t> (fin height) controls drive current</a:t>
            </a:r>
          </a:p>
          <a:p>
            <a:r>
              <a:rPr lang="en-US" sz="2400" err="1">
                <a:latin typeface="TW Cen MT"/>
              </a:rPr>
              <a:t>W</a:t>
            </a:r>
            <a:r>
              <a:rPr lang="en-US" sz="2400" baseline="-25000" err="1">
                <a:latin typeface="TW Cen MT"/>
              </a:rPr>
              <a:t>Fin</a:t>
            </a:r>
            <a:r>
              <a:rPr lang="en-US" sz="2400">
                <a:latin typeface="TW Cen MT"/>
              </a:rPr>
              <a:t> (fin width) controls electrostatics</a:t>
            </a:r>
          </a:p>
        </p:txBody>
      </p:sp>
    </p:spTree>
    <p:extLst>
      <p:ext uri="{BB962C8B-B14F-4D97-AF65-F5344CB8AC3E}">
        <p14:creationId xmlns:p14="http://schemas.microsoft.com/office/powerpoint/2010/main" val="312196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5835A-87CA-2F7C-4FA1-BAB0BF172F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FB19DE-430E-DE15-97BC-5B675177E3EF}"/>
              </a:ext>
            </a:extLst>
          </p:cNvPr>
          <p:cNvSpPr>
            <a:spLocks noGrp="1"/>
          </p:cNvSpPr>
          <p:nvPr>
            <p:ph type="title"/>
          </p:nvPr>
        </p:nvSpPr>
        <p:spPr>
          <a:xfrm>
            <a:off x="776288" y="147411"/>
            <a:ext cx="10639425" cy="1325563"/>
          </a:xfrm>
        </p:spPr>
        <p:txBody>
          <a:bodyPr anchor="ctr">
            <a:normAutofit/>
          </a:bodyPr>
          <a:lstStyle/>
          <a:p>
            <a:r>
              <a:rPr lang="en-US">
                <a:latin typeface="TW Cen MT"/>
              </a:rPr>
              <a:t>Historical Development</a:t>
            </a:r>
            <a:endParaRPr lang="en-US"/>
          </a:p>
        </p:txBody>
      </p:sp>
      <p:sp>
        <p:nvSpPr>
          <p:cNvPr id="5" name="Date Placeholder 4">
            <a:extLst>
              <a:ext uri="{FF2B5EF4-FFF2-40B4-BE49-F238E27FC236}">
                <a16:creationId xmlns:a16="http://schemas.microsoft.com/office/drawing/2014/main" id="{FD2AFBE6-FB9A-91C2-2FED-25749A7220C3}"/>
              </a:ext>
            </a:extLst>
          </p:cNvPr>
          <p:cNvSpPr>
            <a:spLocks noGrp="1"/>
          </p:cNvSpPr>
          <p:nvPr>
            <p:ph type="dt" sz="half" idx="10"/>
          </p:nvPr>
        </p:nvSpPr>
        <p:spPr>
          <a:xfrm>
            <a:off x="838200" y="6492875"/>
            <a:ext cx="2743200" cy="365125"/>
          </a:xfrm>
        </p:spPr>
        <p:txBody>
          <a:bodyPr anchor="ctr">
            <a:normAutofit/>
          </a:bodyPr>
          <a:lstStyle/>
          <a:p>
            <a:pPr>
              <a:spcAft>
                <a:spcPts val="600"/>
              </a:spcAft>
            </a:pPr>
            <a:fld id="{0E53D1C4-5FEF-464B-AFAA-A733CD43D057}" type="datetime3">
              <a:rPr lang="en-US" smtClean="0"/>
              <a:pPr>
                <a:spcAft>
                  <a:spcPts val="600"/>
                </a:spcAft>
              </a:pPr>
              <a:t>14 December 2025</a:t>
            </a:fld>
            <a:endParaRPr lang="en-US"/>
          </a:p>
        </p:txBody>
      </p:sp>
      <p:sp>
        <p:nvSpPr>
          <p:cNvPr id="6" name="Footer Placeholder 5">
            <a:extLst>
              <a:ext uri="{FF2B5EF4-FFF2-40B4-BE49-F238E27FC236}">
                <a16:creationId xmlns:a16="http://schemas.microsoft.com/office/drawing/2014/main" id="{C6A5F2EF-3A88-7A77-B372-72161A53EFAE}"/>
              </a:ext>
            </a:extLst>
          </p:cNvPr>
          <p:cNvSpPr>
            <a:spLocks noGrp="1"/>
          </p:cNvSpPr>
          <p:nvPr>
            <p:ph type="ftr" sz="quarter" idx="11"/>
          </p:nvPr>
        </p:nvSpPr>
        <p:spPr>
          <a:xfrm>
            <a:off x="4038600" y="6492875"/>
            <a:ext cx="4114800" cy="365125"/>
          </a:xfrm>
        </p:spPr>
        <p:txBody>
          <a:bodyPr anchor="ctr">
            <a:normAutofit/>
          </a:bodyPr>
          <a:lstStyle/>
          <a:p>
            <a:pPr>
              <a:spcAft>
                <a:spcPts val="600"/>
              </a:spcAft>
            </a:pPr>
            <a:r>
              <a:rPr lang="en-GB"/>
              <a:t>[116] Design of VLSI Systems ┃ Group 02</a:t>
            </a:r>
            <a:endParaRPr lang="en-US"/>
          </a:p>
        </p:txBody>
      </p:sp>
      <p:sp>
        <p:nvSpPr>
          <p:cNvPr id="7" name="Slide Number Placeholder 6">
            <a:extLst>
              <a:ext uri="{FF2B5EF4-FFF2-40B4-BE49-F238E27FC236}">
                <a16:creationId xmlns:a16="http://schemas.microsoft.com/office/drawing/2014/main" id="{2AE2626E-9488-F704-6EED-07307D6CDA5A}"/>
              </a:ext>
            </a:extLst>
          </p:cNvPr>
          <p:cNvSpPr>
            <a:spLocks noGrp="1"/>
          </p:cNvSpPr>
          <p:nvPr>
            <p:ph type="sldNum" sz="quarter" idx="12"/>
          </p:nvPr>
        </p:nvSpPr>
        <p:spPr>
          <a:xfrm>
            <a:off x="8610600" y="6492875"/>
            <a:ext cx="2743200" cy="365125"/>
          </a:xfrm>
        </p:spPr>
        <p:txBody>
          <a:bodyPr anchor="ctr">
            <a:normAutofit/>
          </a:bodyPr>
          <a:lstStyle/>
          <a:p>
            <a:pPr>
              <a:spcAft>
                <a:spcPts val="600"/>
              </a:spcAft>
            </a:pPr>
            <a:fld id="{57CA127F-6BC0-40BB-9B02-66AE29583F1C}" type="slidenum">
              <a:rPr lang="en-US" smtClean="0"/>
              <a:pPr>
                <a:spcAft>
                  <a:spcPts val="600"/>
                </a:spcAft>
              </a:pPr>
              <a:t>5</a:t>
            </a:fld>
            <a:endParaRPr lang="en-US"/>
          </a:p>
        </p:txBody>
      </p:sp>
      <p:graphicFrame>
        <p:nvGraphicFramePr>
          <p:cNvPr id="10" name="Diagram 9">
            <a:extLst>
              <a:ext uri="{FF2B5EF4-FFF2-40B4-BE49-F238E27FC236}">
                <a16:creationId xmlns:a16="http://schemas.microsoft.com/office/drawing/2014/main" id="{7E61E396-749B-0905-A129-1C0EFC749610}"/>
              </a:ext>
            </a:extLst>
          </p:cNvPr>
          <p:cNvGraphicFramePr/>
          <p:nvPr>
            <p:extLst>
              <p:ext uri="{D42A27DB-BD31-4B8C-83A1-F6EECF244321}">
                <p14:modId xmlns:p14="http://schemas.microsoft.com/office/powerpoint/2010/main" val="3974129156"/>
              </p:ext>
            </p:extLst>
          </p:nvPr>
        </p:nvGraphicFramePr>
        <p:xfrm>
          <a:off x="1082261" y="1598019"/>
          <a:ext cx="10036341" cy="365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14228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E7404-E0CB-E093-21E3-FA99FB2F05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D5F66B-2266-D7D8-CAAF-D64AB39F4FA7}"/>
              </a:ext>
            </a:extLst>
          </p:cNvPr>
          <p:cNvSpPr>
            <a:spLocks noGrp="1"/>
          </p:cNvSpPr>
          <p:nvPr>
            <p:ph type="title"/>
          </p:nvPr>
        </p:nvSpPr>
        <p:spPr>
          <a:xfrm>
            <a:off x="841876" y="3153528"/>
            <a:ext cx="10515600" cy="1032711"/>
          </a:xfrm>
        </p:spPr>
        <p:txBody>
          <a:bodyPr/>
          <a:lstStyle/>
          <a:p>
            <a:r>
              <a:rPr lang="en-US" err="1"/>
              <a:t>FinFET</a:t>
            </a:r>
            <a:endParaRPr lang="en-US"/>
          </a:p>
        </p:txBody>
      </p:sp>
      <p:sp>
        <p:nvSpPr>
          <p:cNvPr id="4" name="Date Placeholder 3">
            <a:extLst>
              <a:ext uri="{FF2B5EF4-FFF2-40B4-BE49-F238E27FC236}">
                <a16:creationId xmlns:a16="http://schemas.microsoft.com/office/drawing/2014/main" id="{691BADCE-B386-58DD-7CCE-D2A6FD84BC39}"/>
              </a:ext>
            </a:extLst>
          </p:cNvPr>
          <p:cNvSpPr>
            <a:spLocks noGrp="1"/>
          </p:cNvSpPr>
          <p:nvPr>
            <p:ph type="dt" sz="half" idx="10"/>
          </p:nvPr>
        </p:nvSpPr>
        <p:spPr/>
        <p:txBody>
          <a:bodyPr/>
          <a:lstStyle/>
          <a:p>
            <a:fld id="{14159C97-EF52-44ED-A894-5C4F3F930411}" type="datetime3">
              <a:rPr lang="en-US" smtClean="0"/>
              <a:t>14 December 2025</a:t>
            </a:fld>
            <a:endParaRPr lang="en-US"/>
          </a:p>
        </p:txBody>
      </p:sp>
      <p:sp>
        <p:nvSpPr>
          <p:cNvPr id="5" name="Slide Number Placeholder 4">
            <a:extLst>
              <a:ext uri="{FF2B5EF4-FFF2-40B4-BE49-F238E27FC236}">
                <a16:creationId xmlns:a16="http://schemas.microsoft.com/office/drawing/2014/main" id="{63CA3A96-F7FF-F07A-F0D1-A2E388150645}"/>
              </a:ext>
            </a:extLst>
          </p:cNvPr>
          <p:cNvSpPr>
            <a:spLocks noGrp="1"/>
          </p:cNvSpPr>
          <p:nvPr>
            <p:ph type="sldNum" sz="quarter" idx="12"/>
          </p:nvPr>
        </p:nvSpPr>
        <p:spPr/>
        <p:txBody>
          <a:bodyPr/>
          <a:lstStyle/>
          <a:p>
            <a:fld id="{57CA127F-6BC0-40BB-9B02-66AE29583F1C}" type="slidenum">
              <a:rPr lang="en-US" smtClean="0"/>
              <a:t>6</a:t>
            </a:fld>
            <a:endParaRPr lang="en-US"/>
          </a:p>
        </p:txBody>
      </p:sp>
      <p:sp>
        <p:nvSpPr>
          <p:cNvPr id="7" name="Footer Placeholder 6">
            <a:extLst>
              <a:ext uri="{FF2B5EF4-FFF2-40B4-BE49-F238E27FC236}">
                <a16:creationId xmlns:a16="http://schemas.microsoft.com/office/drawing/2014/main" id="{21186557-AB34-6EB8-C501-ED3775E1C46B}"/>
              </a:ext>
            </a:extLst>
          </p:cNvPr>
          <p:cNvSpPr>
            <a:spLocks noGrp="1"/>
          </p:cNvSpPr>
          <p:nvPr>
            <p:ph type="ftr" sz="quarter" idx="11"/>
          </p:nvPr>
        </p:nvSpPr>
        <p:spPr/>
        <p:txBody>
          <a:bodyPr/>
          <a:lstStyle/>
          <a:p>
            <a:r>
              <a:rPr lang="en-GB"/>
              <a:t>[116] Design of VLSI Systems ┃ Group 02</a:t>
            </a:r>
            <a:endParaRPr lang="en-US"/>
          </a:p>
        </p:txBody>
      </p:sp>
      <p:sp>
        <p:nvSpPr>
          <p:cNvPr id="8" name="Text Placeholder 2">
            <a:extLst>
              <a:ext uri="{FF2B5EF4-FFF2-40B4-BE49-F238E27FC236}">
                <a16:creationId xmlns:a16="http://schemas.microsoft.com/office/drawing/2014/main" id="{D5BB760D-8785-F889-F55D-DCCF348990AA}"/>
              </a:ext>
            </a:extLst>
          </p:cNvPr>
          <p:cNvSpPr txBox="1">
            <a:spLocks/>
          </p:cNvSpPr>
          <p:nvPr/>
        </p:nvSpPr>
        <p:spPr>
          <a:xfrm>
            <a:off x="833855" y="4258428"/>
            <a:ext cx="10515600" cy="1903411"/>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marL="342900" indent="-342900">
              <a:buFont typeface="Arial" panose="020B0604020202020204" pitchFamily="34" charset="0"/>
              <a:buChar char="•"/>
            </a:pPr>
            <a:r>
              <a:rPr lang="en-US">
                <a:solidFill>
                  <a:schemeClr val="bg2">
                    <a:lumMod val="49000"/>
                  </a:schemeClr>
                </a:solidFill>
              </a:rPr>
              <a:t>Technology </a:t>
            </a:r>
            <a:r>
              <a:rPr lang="en-US">
                <a:solidFill>
                  <a:schemeClr val="bg2">
                    <a:lumMod val="49000"/>
                  </a:schemeClr>
                </a:solidFill>
                <a:latin typeface="TW Cen MT"/>
              </a:rPr>
              <a:t>overview</a:t>
            </a:r>
          </a:p>
          <a:p>
            <a:pPr marL="342900" indent="-342900">
              <a:buFont typeface="Arial,Sans-Serif" panose="020B0604020202020204" pitchFamily="34" charset="0"/>
              <a:buChar char="•"/>
            </a:pPr>
            <a:r>
              <a:rPr lang="en-GB" b="1">
                <a:solidFill>
                  <a:schemeClr val="tx1"/>
                </a:solidFill>
                <a:latin typeface="TW Cen MT"/>
              </a:rPr>
              <a:t>“</a:t>
            </a:r>
            <a:r>
              <a:rPr lang="en-US" b="1">
                <a:solidFill>
                  <a:schemeClr val="tx1"/>
                </a:solidFill>
                <a:latin typeface="TW Cen MT"/>
              </a:rPr>
              <a:t>Comprehensive Review of </a:t>
            </a:r>
            <a:r>
              <a:rPr lang="en-US" b="1" err="1">
                <a:solidFill>
                  <a:schemeClr val="tx1"/>
                </a:solidFill>
                <a:latin typeface="TW Cen MT"/>
              </a:rPr>
              <a:t>FinFET</a:t>
            </a:r>
            <a:r>
              <a:rPr lang="en-US" b="1">
                <a:solidFill>
                  <a:schemeClr val="tx1"/>
                </a:solidFill>
                <a:latin typeface="TW Cen MT"/>
              </a:rPr>
              <a:t> Technology: History, Structure, Challenges, Innovations, and Emerging Sensing Applications</a:t>
            </a:r>
            <a:r>
              <a:rPr lang="en-GB" b="1">
                <a:solidFill>
                  <a:schemeClr val="tx1"/>
                </a:solidFill>
                <a:latin typeface="TW Cen MT"/>
              </a:rPr>
              <a:t>”, </a:t>
            </a:r>
            <a:r>
              <a:rPr lang="en-US" b="1">
                <a:solidFill>
                  <a:schemeClr val="tx1"/>
                </a:solidFill>
                <a:latin typeface="TW Cen MT"/>
              </a:rPr>
              <a:t>K. Karimi et al. [1]</a:t>
            </a:r>
            <a:endParaRPr lang="en-US">
              <a:solidFill>
                <a:schemeClr val="tx1"/>
              </a:solidFill>
              <a:latin typeface="TW Cen MT"/>
            </a:endParaRPr>
          </a:p>
          <a:p>
            <a:pPr marL="342900" indent="-342900">
              <a:lnSpc>
                <a:spcPct val="80000"/>
              </a:lnSpc>
              <a:buFont typeface="Arial" panose="020B0604020202020204" pitchFamily="34" charset="0"/>
              <a:buChar char="•"/>
            </a:pPr>
            <a:r>
              <a:rPr lang="en-US">
                <a:solidFill>
                  <a:srgbClr val="767676"/>
                </a:solidFill>
              </a:rPr>
              <a:t>“</a:t>
            </a:r>
            <a:r>
              <a:rPr lang="en-US" err="1">
                <a:solidFill>
                  <a:srgbClr val="767676"/>
                </a:solidFill>
              </a:rPr>
              <a:t>FinFET</a:t>
            </a:r>
            <a:r>
              <a:rPr lang="en-US">
                <a:solidFill>
                  <a:srgbClr val="767676"/>
                </a:solidFill>
              </a:rPr>
              <a:t> to GAA MBCFET: A Review and </a:t>
            </a:r>
            <a:r>
              <a:rPr lang="en-US"/>
              <a:t>Insights</a:t>
            </a:r>
            <a:r>
              <a:rPr lang="en-GB"/>
              <a:t>”, </a:t>
            </a:r>
            <a:r>
              <a:rPr lang="en-US"/>
              <a:t>R. R. Das et al. [2]</a:t>
            </a:r>
            <a:endParaRPr lang="en-US">
              <a:solidFill>
                <a:schemeClr val="tx1"/>
              </a:solidFill>
              <a:latin typeface="TW Cen MT"/>
            </a:endParaRPr>
          </a:p>
        </p:txBody>
      </p:sp>
    </p:spTree>
    <p:extLst>
      <p:ext uri="{BB962C8B-B14F-4D97-AF65-F5344CB8AC3E}">
        <p14:creationId xmlns:p14="http://schemas.microsoft.com/office/powerpoint/2010/main" val="503144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03004-73D5-2076-9780-D6001D2CEA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2F4B5-A4FD-8165-6AAA-DC1191B629FA}"/>
              </a:ext>
            </a:extLst>
          </p:cNvPr>
          <p:cNvSpPr>
            <a:spLocks noGrp="1"/>
          </p:cNvSpPr>
          <p:nvPr>
            <p:ph type="title"/>
          </p:nvPr>
        </p:nvSpPr>
        <p:spPr>
          <a:xfrm>
            <a:off x="776288" y="147411"/>
            <a:ext cx="10639425" cy="1325563"/>
          </a:xfrm>
        </p:spPr>
        <p:txBody>
          <a:bodyPr anchor="ctr">
            <a:normAutofit/>
          </a:bodyPr>
          <a:lstStyle/>
          <a:p>
            <a:r>
              <a:rPr lang="en-US" err="1">
                <a:latin typeface="TW Cen MT"/>
              </a:rPr>
              <a:t>FinFET</a:t>
            </a:r>
            <a:r>
              <a:rPr lang="en-US">
                <a:latin typeface="TW Cen MT"/>
              </a:rPr>
              <a:t> Classifications</a:t>
            </a:r>
            <a:endParaRPr lang="en-US"/>
          </a:p>
        </p:txBody>
      </p:sp>
      <p:sp>
        <p:nvSpPr>
          <p:cNvPr id="5" name="Date Placeholder 4">
            <a:extLst>
              <a:ext uri="{FF2B5EF4-FFF2-40B4-BE49-F238E27FC236}">
                <a16:creationId xmlns:a16="http://schemas.microsoft.com/office/drawing/2014/main" id="{BF795D2E-808C-26E8-FBE6-0386BAC4F9D6}"/>
              </a:ext>
            </a:extLst>
          </p:cNvPr>
          <p:cNvSpPr>
            <a:spLocks noGrp="1"/>
          </p:cNvSpPr>
          <p:nvPr>
            <p:ph type="dt" sz="half" idx="10"/>
          </p:nvPr>
        </p:nvSpPr>
        <p:spPr>
          <a:xfrm>
            <a:off x="838200" y="6492875"/>
            <a:ext cx="2743200" cy="365125"/>
          </a:xfrm>
        </p:spPr>
        <p:txBody>
          <a:bodyPr anchor="ctr">
            <a:normAutofit/>
          </a:bodyPr>
          <a:lstStyle/>
          <a:p>
            <a:pPr>
              <a:spcAft>
                <a:spcPts val="600"/>
              </a:spcAft>
            </a:pPr>
            <a:fld id="{0E53D1C4-5FEF-464B-AFAA-A733CD43D057}" type="datetime3">
              <a:rPr lang="en-US" smtClean="0"/>
              <a:pPr>
                <a:spcAft>
                  <a:spcPts val="600"/>
                </a:spcAft>
              </a:pPr>
              <a:t>14 December 2025</a:t>
            </a:fld>
            <a:endParaRPr lang="en-US"/>
          </a:p>
        </p:txBody>
      </p:sp>
      <p:sp>
        <p:nvSpPr>
          <p:cNvPr id="6" name="Footer Placeholder 5">
            <a:extLst>
              <a:ext uri="{FF2B5EF4-FFF2-40B4-BE49-F238E27FC236}">
                <a16:creationId xmlns:a16="http://schemas.microsoft.com/office/drawing/2014/main" id="{26220426-85CA-0EA5-6C3F-19F68191659F}"/>
              </a:ext>
            </a:extLst>
          </p:cNvPr>
          <p:cNvSpPr>
            <a:spLocks noGrp="1"/>
          </p:cNvSpPr>
          <p:nvPr>
            <p:ph type="ftr" sz="quarter" idx="11"/>
          </p:nvPr>
        </p:nvSpPr>
        <p:spPr>
          <a:xfrm>
            <a:off x="4038600" y="6492875"/>
            <a:ext cx="4114800" cy="365125"/>
          </a:xfrm>
        </p:spPr>
        <p:txBody>
          <a:bodyPr anchor="ctr">
            <a:normAutofit/>
          </a:bodyPr>
          <a:lstStyle/>
          <a:p>
            <a:pPr>
              <a:spcAft>
                <a:spcPts val="600"/>
              </a:spcAft>
            </a:pPr>
            <a:r>
              <a:rPr lang="en-GB"/>
              <a:t>[116] Design of VLSI Systems ┃ Group 02</a:t>
            </a:r>
            <a:endParaRPr lang="en-US"/>
          </a:p>
        </p:txBody>
      </p:sp>
      <p:sp>
        <p:nvSpPr>
          <p:cNvPr id="7" name="Slide Number Placeholder 6">
            <a:extLst>
              <a:ext uri="{FF2B5EF4-FFF2-40B4-BE49-F238E27FC236}">
                <a16:creationId xmlns:a16="http://schemas.microsoft.com/office/drawing/2014/main" id="{3E4C813D-D5DA-7A5E-F285-79BD8BCB89EB}"/>
              </a:ext>
            </a:extLst>
          </p:cNvPr>
          <p:cNvSpPr>
            <a:spLocks noGrp="1"/>
          </p:cNvSpPr>
          <p:nvPr>
            <p:ph type="sldNum" sz="quarter" idx="12"/>
          </p:nvPr>
        </p:nvSpPr>
        <p:spPr>
          <a:xfrm>
            <a:off x="8610600" y="6492875"/>
            <a:ext cx="2743200" cy="365125"/>
          </a:xfrm>
        </p:spPr>
        <p:txBody>
          <a:bodyPr anchor="ctr">
            <a:normAutofit/>
          </a:bodyPr>
          <a:lstStyle/>
          <a:p>
            <a:pPr>
              <a:spcAft>
                <a:spcPts val="600"/>
              </a:spcAft>
            </a:pPr>
            <a:fld id="{57CA127F-6BC0-40BB-9B02-66AE29583F1C}" type="slidenum">
              <a:rPr lang="en-US" smtClean="0"/>
              <a:pPr>
                <a:spcAft>
                  <a:spcPts val="600"/>
                </a:spcAft>
              </a:pPr>
              <a:t>7</a:t>
            </a:fld>
            <a:endParaRPr lang="en-US"/>
          </a:p>
        </p:txBody>
      </p:sp>
      <p:sp>
        <p:nvSpPr>
          <p:cNvPr id="25" name="TextBox 24">
            <a:extLst>
              <a:ext uri="{FF2B5EF4-FFF2-40B4-BE49-F238E27FC236}">
                <a16:creationId xmlns:a16="http://schemas.microsoft.com/office/drawing/2014/main" id="{2802D5F4-48E1-B05B-FCC7-652F54578E02}"/>
              </a:ext>
            </a:extLst>
          </p:cNvPr>
          <p:cNvSpPr txBox="1"/>
          <p:nvPr/>
        </p:nvSpPr>
        <p:spPr>
          <a:xfrm>
            <a:off x="774997" y="5457799"/>
            <a:ext cx="5192773" cy="954107"/>
          </a:xfrm>
          <a:prstGeom prst="rect">
            <a:avLst/>
          </a:prstGeom>
          <a:noFill/>
        </p:spPr>
        <p:txBody>
          <a:bodyPr wrap="square" lIns="91440" tIns="45720" rIns="91440" bIns="45720" rtlCol="0" anchor="t">
            <a:spAutoFit/>
          </a:bodyPr>
          <a:lstStyle/>
          <a:p>
            <a:r>
              <a:rPr lang="en-US" sz="1400"/>
              <a:t>Figures taken from </a:t>
            </a:r>
            <a:r>
              <a:rPr lang="en-US" sz="1400">
                <a:ea typeface="+mn-lt"/>
                <a:cs typeface="+mn-lt"/>
              </a:rPr>
              <a:t>Karimi, K.; </a:t>
            </a:r>
            <a:r>
              <a:rPr lang="en-US" sz="1400" err="1">
                <a:ea typeface="+mn-lt"/>
                <a:cs typeface="+mn-lt"/>
              </a:rPr>
              <a:t>Fardoost</a:t>
            </a:r>
            <a:r>
              <a:rPr lang="en-US" sz="1400">
                <a:ea typeface="+mn-lt"/>
                <a:cs typeface="+mn-lt"/>
              </a:rPr>
              <a:t>, </a:t>
            </a:r>
            <a:r>
              <a:rPr lang="en-US" sz="1400" err="1">
                <a:ea typeface="+mn-lt"/>
                <a:cs typeface="+mn-lt"/>
              </a:rPr>
              <a:t>A.;Javanmard</a:t>
            </a:r>
            <a:r>
              <a:rPr lang="en-US" sz="1400">
                <a:ea typeface="+mn-lt"/>
                <a:cs typeface="+mn-lt"/>
              </a:rPr>
              <a:t>, M. Comprehensive, Review of </a:t>
            </a:r>
            <a:r>
              <a:rPr lang="en-US" sz="1400" err="1">
                <a:ea typeface="+mn-lt"/>
                <a:cs typeface="+mn-lt"/>
              </a:rPr>
              <a:t>FinFET</a:t>
            </a:r>
            <a:r>
              <a:rPr lang="en-US" sz="1400">
                <a:ea typeface="+mn-lt"/>
                <a:cs typeface="+mn-lt"/>
              </a:rPr>
              <a:t> Technology: History, Structure, Challenges, Innovations, and Emerging Sensing Applications. Micromachines 2024, 15, 1187. </a:t>
            </a:r>
            <a:endParaRPr lang="en-US" sz="1400"/>
          </a:p>
        </p:txBody>
      </p:sp>
      <p:sp>
        <p:nvSpPr>
          <p:cNvPr id="9" name="Content Placeholder 8">
            <a:extLst>
              <a:ext uri="{FF2B5EF4-FFF2-40B4-BE49-F238E27FC236}">
                <a16:creationId xmlns:a16="http://schemas.microsoft.com/office/drawing/2014/main" id="{8E6246F1-B89E-D33D-DCD0-650FB2A5A9DA}"/>
              </a:ext>
            </a:extLst>
          </p:cNvPr>
          <p:cNvSpPr>
            <a:spLocks noGrp="1"/>
          </p:cNvSpPr>
          <p:nvPr>
            <p:ph sz="half" idx="2"/>
          </p:nvPr>
        </p:nvSpPr>
        <p:spPr>
          <a:xfrm>
            <a:off x="705065" y="1716505"/>
            <a:ext cx="4676900" cy="3351831"/>
          </a:xfrm>
        </p:spPr>
        <p:txBody>
          <a:bodyPr vert="horz" lIns="91440" tIns="45720" rIns="91440" bIns="45720" rtlCol="0" anchor="t">
            <a:normAutofit lnSpcReduction="10000"/>
          </a:bodyPr>
          <a:lstStyle/>
          <a:p>
            <a:r>
              <a:rPr lang="en-US" sz="2400" b="1">
                <a:ea typeface="+mn-lt"/>
                <a:cs typeface="+mn-lt"/>
              </a:rPr>
              <a:t>By substrate:</a:t>
            </a:r>
            <a:r>
              <a:rPr lang="en-US" sz="2400">
                <a:ea typeface="+mn-lt"/>
                <a:cs typeface="+mn-lt"/>
              </a:rPr>
              <a:t> Bulk vs SOI </a:t>
            </a:r>
            <a:r>
              <a:rPr lang="en-US" sz="2400" err="1">
                <a:ea typeface="+mn-lt"/>
                <a:cs typeface="+mn-lt"/>
              </a:rPr>
              <a:t>FinFET</a:t>
            </a:r>
            <a:r>
              <a:rPr lang="en-US" sz="2400">
                <a:ea typeface="+mn-lt"/>
                <a:cs typeface="+mn-lt"/>
              </a:rPr>
              <a:t> (Fig. 5)</a:t>
            </a:r>
          </a:p>
          <a:p>
            <a:r>
              <a:rPr lang="en-US" sz="2400" b="1">
                <a:ea typeface="+mn-lt"/>
                <a:cs typeface="+mn-lt"/>
              </a:rPr>
              <a:t>By gate type:</a:t>
            </a:r>
            <a:r>
              <a:rPr lang="en-US" sz="2400">
                <a:ea typeface="+mn-lt"/>
                <a:cs typeface="+mn-lt"/>
              </a:rPr>
              <a:t> Short-Gate (3-terminal) vs Independent Gate (4-terminal) (Fig. 6)</a:t>
            </a:r>
            <a:endParaRPr lang="en-US"/>
          </a:p>
          <a:p>
            <a:r>
              <a:rPr lang="en-US" sz="2400" b="1">
                <a:ea typeface="+mn-lt"/>
                <a:cs typeface="+mn-lt"/>
              </a:rPr>
              <a:t>By dielectric geometry:</a:t>
            </a:r>
            <a:r>
              <a:rPr lang="en-US" sz="2400">
                <a:ea typeface="+mn-lt"/>
                <a:cs typeface="+mn-lt"/>
              </a:rPr>
              <a:t> Double-Gate vs Tri-Gate (Fig. 4)</a:t>
            </a:r>
            <a:endParaRPr lang="en-US">
              <a:ea typeface="+mn-lt"/>
              <a:cs typeface="+mn-lt"/>
            </a:endParaRPr>
          </a:p>
          <a:p>
            <a:r>
              <a:rPr lang="en-US" sz="2400">
                <a:ea typeface="+mn-lt"/>
                <a:cs typeface="+mn-lt"/>
              </a:rPr>
              <a:t>Tri-Gate = lower capacitance + better performance</a:t>
            </a:r>
            <a:endParaRPr lang="en-US"/>
          </a:p>
        </p:txBody>
      </p:sp>
      <p:pic>
        <p:nvPicPr>
          <p:cNvPr id="3" name="Picture 2" descr="Diagram of a diagram showing the process of a gate and a gate&#10;&#10;AI-generated content may be incorrect.">
            <a:extLst>
              <a:ext uri="{FF2B5EF4-FFF2-40B4-BE49-F238E27FC236}">
                <a16:creationId xmlns:a16="http://schemas.microsoft.com/office/drawing/2014/main" id="{4FE05324-AABA-C099-F9A6-494EFA598A31}"/>
              </a:ext>
            </a:extLst>
          </p:cNvPr>
          <p:cNvPicPr>
            <a:picLocks noChangeAspect="1"/>
          </p:cNvPicPr>
          <p:nvPr/>
        </p:nvPicPr>
        <p:blipFill>
          <a:blip r:embed="rId3"/>
          <a:stretch>
            <a:fillRect/>
          </a:stretch>
        </p:blipFill>
        <p:spPr>
          <a:xfrm>
            <a:off x="7957185" y="581342"/>
            <a:ext cx="3704590" cy="1783715"/>
          </a:xfrm>
          <a:prstGeom prst="rect">
            <a:avLst/>
          </a:prstGeom>
        </p:spPr>
      </p:pic>
      <p:pic>
        <p:nvPicPr>
          <p:cNvPr id="4" name="Picture 3" descr="A diagram of a gate and a gate&#10;&#10;AI-generated content may be incorrect.">
            <a:extLst>
              <a:ext uri="{FF2B5EF4-FFF2-40B4-BE49-F238E27FC236}">
                <a16:creationId xmlns:a16="http://schemas.microsoft.com/office/drawing/2014/main" id="{B98DBB82-4AC3-3AA3-AC0A-F5A02A7A269F}"/>
              </a:ext>
            </a:extLst>
          </p:cNvPr>
          <p:cNvPicPr>
            <a:picLocks noChangeAspect="1"/>
          </p:cNvPicPr>
          <p:nvPr/>
        </p:nvPicPr>
        <p:blipFill>
          <a:blip r:embed="rId4"/>
          <a:stretch>
            <a:fillRect/>
          </a:stretch>
        </p:blipFill>
        <p:spPr>
          <a:xfrm>
            <a:off x="7954645" y="2488883"/>
            <a:ext cx="3704590" cy="1790065"/>
          </a:xfrm>
          <a:prstGeom prst="rect">
            <a:avLst/>
          </a:prstGeom>
        </p:spPr>
      </p:pic>
      <p:pic>
        <p:nvPicPr>
          <p:cNvPr id="10" name="Picture 9" descr="Diagram of a diagram of a gate&#10;&#10;AI-generated content may be incorrect.">
            <a:extLst>
              <a:ext uri="{FF2B5EF4-FFF2-40B4-BE49-F238E27FC236}">
                <a16:creationId xmlns:a16="http://schemas.microsoft.com/office/drawing/2014/main" id="{93555510-3920-7514-7206-CB39F849EA73}"/>
              </a:ext>
            </a:extLst>
          </p:cNvPr>
          <p:cNvPicPr>
            <a:picLocks noChangeAspect="1"/>
          </p:cNvPicPr>
          <p:nvPr/>
        </p:nvPicPr>
        <p:blipFill>
          <a:blip r:embed="rId5"/>
          <a:stretch>
            <a:fillRect/>
          </a:stretch>
        </p:blipFill>
        <p:spPr>
          <a:xfrm>
            <a:off x="7952105" y="4467542"/>
            <a:ext cx="3714750" cy="1794510"/>
          </a:xfrm>
          <a:prstGeom prst="rect">
            <a:avLst/>
          </a:prstGeom>
        </p:spPr>
      </p:pic>
      <p:sp>
        <p:nvSpPr>
          <p:cNvPr id="11" name="TextBox 10">
            <a:extLst>
              <a:ext uri="{FF2B5EF4-FFF2-40B4-BE49-F238E27FC236}">
                <a16:creationId xmlns:a16="http://schemas.microsoft.com/office/drawing/2014/main" id="{D73DEBE8-4125-EA75-BD80-E8F5E58C92C8}"/>
              </a:ext>
            </a:extLst>
          </p:cNvPr>
          <p:cNvSpPr txBox="1"/>
          <p:nvPr/>
        </p:nvSpPr>
        <p:spPr>
          <a:xfrm>
            <a:off x="5879605" y="862544"/>
            <a:ext cx="1853342"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a:latin typeface="TW Cen MT"/>
              </a:rPr>
              <a:t>Figure FinFET.2</a:t>
            </a:r>
            <a:r>
              <a:rPr lang="en-GB" sz="1400" b="1"/>
              <a:t>:</a:t>
            </a:r>
            <a:r>
              <a:rPr lang="en-GB"/>
              <a:t> </a:t>
            </a:r>
            <a:r>
              <a:rPr lang="en-GB" sz="1400"/>
              <a:t>Structure schematic of (a) Bulk </a:t>
            </a:r>
            <a:r>
              <a:rPr lang="en-GB" sz="1400" err="1"/>
              <a:t>FinFET</a:t>
            </a:r>
            <a:r>
              <a:rPr lang="en-GB" sz="1400"/>
              <a:t> and (b) SOI </a:t>
            </a:r>
            <a:r>
              <a:rPr lang="en-GB" sz="1400" err="1"/>
              <a:t>FinFET</a:t>
            </a:r>
            <a:endParaRPr lang="en-US" sz="1400"/>
          </a:p>
        </p:txBody>
      </p:sp>
      <p:sp>
        <p:nvSpPr>
          <p:cNvPr id="12" name="TextBox 11">
            <a:extLst>
              <a:ext uri="{FF2B5EF4-FFF2-40B4-BE49-F238E27FC236}">
                <a16:creationId xmlns:a16="http://schemas.microsoft.com/office/drawing/2014/main" id="{89049D57-6037-211E-8D12-75B63FCFCD16}"/>
              </a:ext>
            </a:extLst>
          </p:cNvPr>
          <p:cNvSpPr txBox="1"/>
          <p:nvPr/>
        </p:nvSpPr>
        <p:spPr>
          <a:xfrm>
            <a:off x="5879605" y="2803103"/>
            <a:ext cx="1853342"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a:latin typeface="TW Cen MT"/>
              </a:rPr>
              <a:t>Figure FinFET.3:</a:t>
            </a:r>
            <a:r>
              <a:rPr lang="en-GB" sz="1400">
                <a:latin typeface="TW Cen MT"/>
              </a:rPr>
              <a:t> </a:t>
            </a:r>
            <a:r>
              <a:rPr lang="en-GB" sz="1400">
                <a:ea typeface="+mn-lt"/>
                <a:cs typeface="+mn-lt"/>
              </a:rPr>
              <a:t>Structure schematic of (a) SG </a:t>
            </a:r>
            <a:r>
              <a:rPr lang="en-GB" sz="1400" err="1">
                <a:ea typeface="+mn-lt"/>
                <a:cs typeface="+mn-lt"/>
              </a:rPr>
              <a:t>FinFET</a:t>
            </a:r>
            <a:r>
              <a:rPr lang="en-GB" sz="1400">
                <a:ea typeface="+mn-lt"/>
                <a:cs typeface="+mn-lt"/>
              </a:rPr>
              <a:t> and (b) IG </a:t>
            </a:r>
            <a:r>
              <a:rPr lang="en-GB" sz="1400" err="1">
                <a:ea typeface="+mn-lt"/>
                <a:cs typeface="+mn-lt"/>
              </a:rPr>
              <a:t>FinFET</a:t>
            </a:r>
            <a:endParaRPr lang="en-US" err="1">
              <a:latin typeface="Tw Cen MT" panose="020B0602020104020603"/>
            </a:endParaRPr>
          </a:p>
        </p:txBody>
      </p:sp>
      <p:sp>
        <p:nvSpPr>
          <p:cNvPr id="13" name="TextBox 12">
            <a:extLst>
              <a:ext uri="{FF2B5EF4-FFF2-40B4-BE49-F238E27FC236}">
                <a16:creationId xmlns:a16="http://schemas.microsoft.com/office/drawing/2014/main" id="{3F813CA9-914B-EB95-D8A0-7AB812704CA8}"/>
              </a:ext>
            </a:extLst>
          </p:cNvPr>
          <p:cNvSpPr txBox="1"/>
          <p:nvPr/>
        </p:nvSpPr>
        <p:spPr>
          <a:xfrm>
            <a:off x="5879605" y="4885902"/>
            <a:ext cx="1690782"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a:latin typeface="TW Cen MT"/>
              </a:rPr>
              <a:t>Figure FinFET.4:</a:t>
            </a:r>
            <a:r>
              <a:rPr lang="en-GB" sz="1400">
                <a:latin typeface="TW Cen MT"/>
              </a:rPr>
              <a:t> Schematic of (a) DG </a:t>
            </a:r>
            <a:r>
              <a:rPr lang="en-GB" sz="1400" err="1">
                <a:latin typeface="TW Cen MT"/>
              </a:rPr>
              <a:t>FinFET</a:t>
            </a:r>
            <a:r>
              <a:rPr lang="en-GB" sz="1400">
                <a:latin typeface="TW Cen MT"/>
              </a:rPr>
              <a:t> and (b) tri-gate </a:t>
            </a:r>
            <a:r>
              <a:rPr lang="en-GB" sz="1400" err="1">
                <a:latin typeface="TW Cen MT"/>
              </a:rPr>
              <a:t>FinFET</a:t>
            </a:r>
            <a:r>
              <a:rPr lang="en-GB" sz="1400">
                <a:latin typeface="TW Cen MT"/>
              </a:rPr>
              <a:t>.</a:t>
            </a:r>
            <a:endParaRPr lang="en-US"/>
          </a:p>
        </p:txBody>
      </p:sp>
    </p:spTree>
    <p:extLst>
      <p:ext uri="{BB962C8B-B14F-4D97-AF65-F5344CB8AC3E}">
        <p14:creationId xmlns:p14="http://schemas.microsoft.com/office/powerpoint/2010/main" val="3660669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20F5A-788D-49B8-24F2-03EA6F19FB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6A621E-D319-114D-8276-D4501BA0E443}"/>
              </a:ext>
            </a:extLst>
          </p:cNvPr>
          <p:cNvSpPr>
            <a:spLocks noGrp="1"/>
          </p:cNvSpPr>
          <p:nvPr>
            <p:ph type="title"/>
          </p:nvPr>
        </p:nvSpPr>
        <p:spPr>
          <a:xfrm>
            <a:off x="776288" y="147411"/>
            <a:ext cx="10639425" cy="1325563"/>
          </a:xfrm>
        </p:spPr>
        <p:txBody>
          <a:bodyPr anchor="ctr">
            <a:normAutofit/>
          </a:bodyPr>
          <a:lstStyle/>
          <a:p>
            <a:r>
              <a:rPr lang="en-US"/>
              <a:t>Materials in </a:t>
            </a:r>
            <a:r>
              <a:rPr lang="en-US" err="1"/>
              <a:t>FinFET</a:t>
            </a:r>
            <a:r>
              <a:rPr lang="en-US"/>
              <a:t> Fabrication</a:t>
            </a:r>
          </a:p>
        </p:txBody>
      </p:sp>
      <p:sp>
        <p:nvSpPr>
          <p:cNvPr id="5" name="Date Placeholder 4">
            <a:extLst>
              <a:ext uri="{FF2B5EF4-FFF2-40B4-BE49-F238E27FC236}">
                <a16:creationId xmlns:a16="http://schemas.microsoft.com/office/drawing/2014/main" id="{F1FD3F0F-A6AA-F222-ED6B-85B862CBFC9C}"/>
              </a:ext>
            </a:extLst>
          </p:cNvPr>
          <p:cNvSpPr>
            <a:spLocks noGrp="1"/>
          </p:cNvSpPr>
          <p:nvPr>
            <p:ph type="dt" sz="half" idx="10"/>
          </p:nvPr>
        </p:nvSpPr>
        <p:spPr>
          <a:xfrm>
            <a:off x="838200" y="6492875"/>
            <a:ext cx="2743200" cy="365125"/>
          </a:xfrm>
        </p:spPr>
        <p:txBody>
          <a:bodyPr anchor="ctr">
            <a:normAutofit/>
          </a:bodyPr>
          <a:lstStyle/>
          <a:p>
            <a:pPr>
              <a:spcAft>
                <a:spcPts val="600"/>
              </a:spcAft>
            </a:pPr>
            <a:fld id="{0E53D1C4-5FEF-464B-AFAA-A733CD43D057}" type="datetime3">
              <a:rPr lang="en-US" smtClean="0"/>
              <a:pPr>
                <a:spcAft>
                  <a:spcPts val="600"/>
                </a:spcAft>
              </a:pPr>
              <a:t>14 December 2025</a:t>
            </a:fld>
            <a:endParaRPr lang="en-US"/>
          </a:p>
        </p:txBody>
      </p:sp>
      <p:sp>
        <p:nvSpPr>
          <p:cNvPr id="6" name="Footer Placeholder 5">
            <a:extLst>
              <a:ext uri="{FF2B5EF4-FFF2-40B4-BE49-F238E27FC236}">
                <a16:creationId xmlns:a16="http://schemas.microsoft.com/office/drawing/2014/main" id="{B776513C-4FE1-E892-78D0-2B842155E223}"/>
              </a:ext>
            </a:extLst>
          </p:cNvPr>
          <p:cNvSpPr>
            <a:spLocks noGrp="1"/>
          </p:cNvSpPr>
          <p:nvPr>
            <p:ph type="ftr" sz="quarter" idx="11"/>
          </p:nvPr>
        </p:nvSpPr>
        <p:spPr>
          <a:xfrm>
            <a:off x="4038600" y="6492875"/>
            <a:ext cx="4114800" cy="365125"/>
          </a:xfrm>
        </p:spPr>
        <p:txBody>
          <a:bodyPr anchor="ctr">
            <a:normAutofit/>
          </a:bodyPr>
          <a:lstStyle/>
          <a:p>
            <a:pPr>
              <a:spcAft>
                <a:spcPts val="600"/>
              </a:spcAft>
            </a:pPr>
            <a:r>
              <a:rPr lang="en-GB"/>
              <a:t>[116] Design of VLSI Systems ┃ Group 02</a:t>
            </a:r>
            <a:endParaRPr lang="en-US"/>
          </a:p>
        </p:txBody>
      </p:sp>
      <p:sp>
        <p:nvSpPr>
          <p:cNvPr id="7" name="Slide Number Placeholder 6">
            <a:extLst>
              <a:ext uri="{FF2B5EF4-FFF2-40B4-BE49-F238E27FC236}">
                <a16:creationId xmlns:a16="http://schemas.microsoft.com/office/drawing/2014/main" id="{A65A79CD-DB2E-2D49-E08E-458F62B4FB0D}"/>
              </a:ext>
            </a:extLst>
          </p:cNvPr>
          <p:cNvSpPr>
            <a:spLocks noGrp="1"/>
          </p:cNvSpPr>
          <p:nvPr>
            <p:ph type="sldNum" sz="quarter" idx="12"/>
          </p:nvPr>
        </p:nvSpPr>
        <p:spPr>
          <a:xfrm>
            <a:off x="8610600" y="6492875"/>
            <a:ext cx="2743200" cy="365125"/>
          </a:xfrm>
        </p:spPr>
        <p:txBody>
          <a:bodyPr anchor="ctr">
            <a:normAutofit/>
          </a:bodyPr>
          <a:lstStyle/>
          <a:p>
            <a:pPr>
              <a:spcAft>
                <a:spcPts val="600"/>
              </a:spcAft>
            </a:pPr>
            <a:fld id="{57CA127F-6BC0-40BB-9B02-66AE29583F1C}" type="slidenum">
              <a:rPr lang="en-US" smtClean="0"/>
              <a:pPr>
                <a:spcAft>
                  <a:spcPts val="600"/>
                </a:spcAft>
              </a:pPr>
              <a:t>8</a:t>
            </a:fld>
            <a:endParaRPr lang="en-US"/>
          </a:p>
        </p:txBody>
      </p:sp>
      <p:sp>
        <p:nvSpPr>
          <p:cNvPr id="25" name="TextBox 24">
            <a:extLst>
              <a:ext uri="{FF2B5EF4-FFF2-40B4-BE49-F238E27FC236}">
                <a16:creationId xmlns:a16="http://schemas.microsoft.com/office/drawing/2014/main" id="{87430334-321D-31E5-74F7-1BDA07964F3D}"/>
              </a:ext>
            </a:extLst>
          </p:cNvPr>
          <p:cNvSpPr txBox="1"/>
          <p:nvPr/>
        </p:nvSpPr>
        <p:spPr>
          <a:xfrm>
            <a:off x="4657317" y="4024999"/>
            <a:ext cx="1908293" cy="1384995"/>
          </a:xfrm>
          <a:prstGeom prst="rect">
            <a:avLst/>
          </a:prstGeom>
          <a:noFill/>
        </p:spPr>
        <p:txBody>
          <a:bodyPr wrap="square" lIns="91440" tIns="45720" rIns="91440" bIns="45720" rtlCol="0" anchor="t">
            <a:spAutoFit/>
          </a:bodyPr>
          <a:lstStyle/>
          <a:p>
            <a:r>
              <a:rPr lang="en-GB" sz="1400" b="1"/>
              <a:t>Table FinFET.2:</a:t>
            </a:r>
            <a:r>
              <a:rPr lang="en-GB" sz="1400"/>
              <a:t> </a:t>
            </a:r>
            <a:r>
              <a:rPr lang="en-GB" sz="1400">
                <a:ea typeface="+mn-lt"/>
                <a:cs typeface="+mn-lt"/>
              </a:rPr>
              <a:t>The impact of SiO</a:t>
            </a:r>
            <a:r>
              <a:rPr lang="en-GB" sz="1400" baseline="-25000">
                <a:ea typeface="+mn-lt"/>
                <a:cs typeface="+mn-lt"/>
              </a:rPr>
              <a:t>2</a:t>
            </a:r>
            <a:r>
              <a:rPr lang="en-GB" sz="1400">
                <a:ea typeface="+mn-lt"/>
                <a:cs typeface="+mn-lt"/>
              </a:rPr>
              <a:t> and LaZrO</a:t>
            </a:r>
            <a:r>
              <a:rPr lang="en-GB" sz="1400" baseline="-25000">
                <a:ea typeface="+mn-lt"/>
                <a:cs typeface="+mn-lt"/>
              </a:rPr>
              <a:t>2</a:t>
            </a:r>
            <a:r>
              <a:rPr lang="en-GB" sz="1400">
                <a:ea typeface="+mn-lt"/>
                <a:cs typeface="+mn-lt"/>
              </a:rPr>
              <a:t> gate dielectric material usage in n-</a:t>
            </a:r>
            <a:r>
              <a:rPr lang="en-GB" sz="1400" err="1">
                <a:ea typeface="+mn-lt"/>
                <a:cs typeface="+mn-lt"/>
              </a:rPr>
              <a:t>FinFET</a:t>
            </a:r>
            <a:r>
              <a:rPr lang="en-GB" sz="1400">
                <a:ea typeface="+mn-lt"/>
                <a:cs typeface="+mn-lt"/>
              </a:rPr>
              <a:t> device efficiency.</a:t>
            </a:r>
            <a:r>
              <a:rPr lang="en-US" sz="1400">
                <a:ea typeface="+mn-lt"/>
                <a:cs typeface="+mn-lt"/>
              </a:rPr>
              <a:t> </a:t>
            </a:r>
            <a:endParaRPr lang="en-US" sz="1400"/>
          </a:p>
        </p:txBody>
      </p:sp>
      <p:sp>
        <p:nvSpPr>
          <p:cNvPr id="9" name="Content Placeholder 8">
            <a:extLst>
              <a:ext uri="{FF2B5EF4-FFF2-40B4-BE49-F238E27FC236}">
                <a16:creationId xmlns:a16="http://schemas.microsoft.com/office/drawing/2014/main" id="{15612608-5537-30C1-D55A-825158C4CCBF}"/>
              </a:ext>
            </a:extLst>
          </p:cNvPr>
          <p:cNvSpPr>
            <a:spLocks noGrp="1"/>
          </p:cNvSpPr>
          <p:nvPr>
            <p:ph sz="half" idx="2"/>
          </p:nvPr>
        </p:nvSpPr>
        <p:spPr>
          <a:xfrm>
            <a:off x="415785" y="1336665"/>
            <a:ext cx="3860900" cy="4413831"/>
          </a:xfrm>
        </p:spPr>
        <p:txBody>
          <a:bodyPr vert="horz" lIns="91440" tIns="45720" rIns="91440" bIns="45720" rtlCol="0" anchor="t">
            <a:normAutofit fontScale="92500" lnSpcReduction="20000"/>
          </a:bodyPr>
          <a:lstStyle/>
          <a:p>
            <a:r>
              <a:rPr lang="en-US" sz="2400" b="1">
                <a:ea typeface="+mn-lt"/>
                <a:cs typeface="+mn-lt"/>
              </a:rPr>
              <a:t>Gate dielectrics:</a:t>
            </a:r>
            <a:r>
              <a:rPr lang="en-US" sz="2400">
                <a:ea typeface="+mn-lt"/>
                <a:cs typeface="+mn-lt"/>
              </a:rPr>
              <a:t> </a:t>
            </a:r>
            <a:r>
              <a:rPr lang="en-US" sz="2400" err="1">
                <a:ea typeface="+mn-lt"/>
                <a:cs typeface="+mn-lt"/>
              </a:rPr>
              <a:t>HfO</a:t>
            </a:r>
            <a:r>
              <a:rPr lang="en-US" sz="2400">
                <a:ea typeface="+mn-lt"/>
                <a:cs typeface="+mn-lt"/>
              </a:rPr>
              <a:t>₂, </a:t>
            </a:r>
            <a:r>
              <a:rPr lang="en-US" sz="2400" err="1">
                <a:ea typeface="+mn-lt"/>
                <a:cs typeface="+mn-lt"/>
              </a:rPr>
              <a:t>LaZrO</a:t>
            </a:r>
            <a:r>
              <a:rPr lang="en-US" sz="2400">
                <a:ea typeface="+mn-lt"/>
                <a:cs typeface="+mn-lt"/>
              </a:rPr>
              <a:t>₂ → high-k, low leakage</a:t>
            </a:r>
            <a:endParaRPr lang="en-US"/>
          </a:p>
          <a:p>
            <a:r>
              <a:rPr lang="en-US" sz="2400" b="1">
                <a:ea typeface="+mn-lt"/>
                <a:cs typeface="+mn-lt"/>
              </a:rPr>
              <a:t>Channel materials:</a:t>
            </a:r>
            <a:r>
              <a:rPr lang="en-US" sz="2400">
                <a:ea typeface="+mn-lt"/>
                <a:cs typeface="+mn-lt"/>
              </a:rPr>
              <a:t> </a:t>
            </a:r>
            <a:endParaRPr lang="en-US">
              <a:ea typeface="+mn-lt"/>
              <a:cs typeface="+mn-lt"/>
            </a:endParaRPr>
          </a:p>
          <a:p>
            <a:pPr lvl="1">
              <a:buFont typeface="Courier New" panose="020B0604020202020204" pitchFamily="34" charset="0"/>
              <a:buChar char="o"/>
            </a:pPr>
            <a:r>
              <a:rPr lang="en-US" sz="2200">
                <a:ea typeface="+mn-lt"/>
                <a:cs typeface="+mn-lt"/>
              </a:rPr>
              <a:t>SiC</a:t>
            </a:r>
            <a:r>
              <a:rPr lang="en-US" sz="2200" baseline="-25000">
                <a:ea typeface="+mn-lt"/>
                <a:cs typeface="+mn-lt"/>
              </a:rPr>
              <a:t>3</a:t>
            </a:r>
            <a:r>
              <a:rPr lang="en-US" sz="2200">
                <a:ea typeface="+mn-lt"/>
                <a:cs typeface="+mn-lt"/>
              </a:rPr>
              <a:t>C: maximum ratio of I</a:t>
            </a:r>
            <a:r>
              <a:rPr lang="en-US" sz="2200" baseline="-25000">
                <a:ea typeface="+mn-lt"/>
                <a:cs typeface="+mn-lt"/>
              </a:rPr>
              <a:t>ON</a:t>
            </a:r>
            <a:r>
              <a:rPr lang="en-US" sz="2200">
                <a:ea typeface="+mn-lt"/>
                <a:cs typeface="+mn-lt"/>
              </a:rPr>
              <a:t>/I</a:t>
            </a:r>
            <a:r>
              <a:rPr lang="en-US" sz="2200" baseline="-25000">
                <a:ea typeface="+mn-lt"/>
                <a:cs typeface="+mn-lt"/>
              </a:rPr>
              <a:t>OFF</a:t>
            </a:r>
            <a:r>
              <a:rPr lang="en-US" sz="2200">
                <a:ea typeface="+mn-lt"/>
                <a:cs typeface="+mn-lt"/>
              </a:rPr>
              <a:t> (1.90 × 10</a:t>
            </a:r>
            <a:r>
              <a:rPr lang="en-US" sz="2100" baseline="30000">
                <a:ea typeface="+mn-lt"/>
                <a:cs typeface="+mn-lt"/>
              </a:rPr>
              <a:t>11</a:t>
            </a:r>
            <a:r>
              <a:rPr lang="en-US" sz="2200">
                <a:ea typeface="+mn-lt"/>
                <a:cs typeface="+mn-lt"/>
              </a:rPr>
              <a:t>) and minimum I</a:t>
            </a:r>
            <a:r>
              <a:rPr lang="en-US" sz="2200" baseline="-25000">
                <a:ea typeface="+mn-lt"/>
                <a:cs typeface="+mn-lt"/>
              </a:rPr>
              <a:t>OFF</a:t>
            </a:r>
            <a:r>
              <a:rPr lang="en-US" sz="2200">
                <a:ea typeface="+mn-lt"/>
                <a:cs typeface="+mn-lt"/>
              </a:rPr>
              <a:t> (7.00 × 10</a:t>
            </a:r>
            <a:r>
              <a:rPr lang="en-US" sz="2200" baseline="30000">
                <a:ea typeface="+mn-lt"/>
                <a:cs typeface="+mn-lt"/>
              </a:rPr>
              <a:t>−19</a:t>
            </a:r>
            <a:r>
              <a:rPr lang="en-US" sz="2200">
                <a:ea typeface="+mn-lt"/>
                <a:cs typeface="+mn-lt"/>
              </a:rPr>
              <a:t> A)</a:t>
            </a:r>
            <a:endParaRPr lang="en-US" sz="2200"/>
          </a:p>
          <a:p>
            <a:pPr lvl="1">
              <a:buFont typeface="Courier New" panose="020B0604020202020204" pitchFamily="34" charset="0"/>
              <a:buChar char="o"/>
            </a:pPr>
            <a:r>
              <a:rPr lang="en-US" sz="2200" err="1">
                <a:latin typeface="TW Cen MT"/>
                <a:ea typeface="+mn-lt"/>
                <a:cs typeface="+mn-lt"/>
              </a:rPr>
              <a:t>GaN</a:t>
            </a:r>
            <a:r>
              <a:rPr lang="en-US" sz="2200">
                <a:latin typeface="TW Cen MT"/>
                <a:ea typeface="+mn-lt"/>
                <a:cs typeface="+mn-lt"/>
              </a:rPr>
              <a:t> and GaAs </a:t>
            </a:r>
            <a:r>
              <a:rPr lang="en-US">
                <a:latin typeface="TW Cen MT"/>
                <a:ea typeface="+mn-lt"/>
                <a:cs typeface="+mn-lt"/>
              </a:rPr>
              <a:t>→ </a:t>
            </a:r>
            <a:r>
              <a:rPr lang="en-US" sz="2200">
                <a:ea typeface="+mn-lt"/>
                <a:cs typeface="+mn-lt"/>
              </a:rPr>
              <a:t>better DIBL qualities</a:t>
            </a:r>
          </a:p>
          <a:p>
            <a:pPr lvl="1">
              <a:buFont typeface="Courier New" panose="020B0604020202020204" pitchFamily="34" charset="0"/>
              <a:buChar char="o"/>
            </a:pPr>
            <a:r>
              <a:rPr lang="en-US" sz="2200" err="1">
                <a:ea typeface="+mn-lt"/>
                <a:cs typeface="+mn-lt"/>
              </a:rPr>
              <a:t>GaSb</a:t>
            </a:r>
            <a:r>
              <a:rPr lang="en-US" sz="2200">
                <a:ea typeface="+mn-lt"/>
                <a:cs typeface="+mn-lt"/>
              </a:rPr>
              <a:t> </a:t>
            </a:r>
            <a:r>
              <a:rPr lang="en-US">
                <a:solidFill>
                  <a:srgbClr val="000000"/>
                </a:solidFill>
                <a:latin typeface="TW Cen MT"/>
                <a:ea typeface="+mn-lt"/>
                <a:cs typeface="+mn-lt"/>
              </a:rPr>
              <a:t>→</a:t>
            </a:r>
            <a:r>
              <a:rPr lang="en-US">
                <a:latin typeface="TW Cen MT"/>
                <a:ea typeface="+mn-lt"/>
                <a:cs typeface="+mn-lt"/>
              </a:rPr>
              <a:t> </a:t>
            </a:r>
            <a:r>
              <a:rPr lang="en-US" sz="2200">
                <a:latin typeface="TW Cen MT"/>
                <a:ea typeface="+mn-lt"/>
                <a:cs typeface="+mn-lt"/>
              </a:rPr>
              <a:t>worst</a:t>
            </a:r>
            <a:r>
              <a:rPr lang="en-US" sz="1900">
                <a:ea typeface="+mn-lt"/>
                <a:cs typeface="+mn-lt"/>
              </a:rPr>
              <a:t> </a:t>
            </a:r>
            <a:r>
              <a:rPr lang="en-US" sz="2200">
                <a:ea typeface="+mn-lt"/>
                <a:cs typeface="+mn-lt"/>
              </a:rPr>
              <a:t>SCE characteristics</a:t>
            </a:r>
            <a:endParaRPr lang="en-US"/>
          </a:p>
          <a:p>
            <a:pPr lvl="1">
              <a:buFont typeface="Courier New" panose="020B0604020202020204" pitchFamily="34" charset="0"/>
              <a:buChar char="o"/>
            </a:pPr>
            <a:r>
              <a:rPr lang="en-US" sz="2200">
                <a:ea typeface="+mn-lt"/>
                <a:cs typeface="+mn-lt"/>
              </a:rPr>
              <a:t>CNT and Graphene</a:t>
            </a:r>
            <a:r>
              <a:rPr lang="en-US" sz="2200">
                <a:latin typeface="Tw Cen MT"/>
                <a:ea typeface="+mn-lt"/>
                <a:cs typeface="+mn-lt"/>
              </a:rPr>
              <a:t> </a:t>
            </a:r>
            <a:r>
              <a:rPr lang="en-US">
                <a:latin typeface="TW Cen MT"/>
                <a:ea typeface="+mn-lt"/>
                <a:cs typeface="+mn-lt"/>
              </a:rPr>
              <a:t>→</a:t>
            </a:r>
            <a:r>
              <a:rPr lang="en-US" sz="2200">
                <a:ea typeface="+mn-lt"/>
                <a:cs typeface="+mn-lt"/>
              </a:rPr>
              <a:t> can improve:</a:t>
            </a:r>
          </a:p>
          <a:p>
            <a:pPr lvl="2">
              <a:buFont typeface="Wingdings" panose="020B0604020202020204" pitchFamily="34" charset="0"/>
              <a:buChar char="§"/>
            </a:pPr>
            <a:r>
              <a:rPr lang="en-US" sz="1800">
                <a:ea typeface="+mn-lt"/>
                <a:cs typeface="+mn-lt"/>
              </a:rPr>
              <a:t>Ratio of I</a:t>
            </a:r>
            <a:r>
              <a:rPr lang="en-US" sz="1800" baseline="-25000">
                <a:ea typeface="+mn-lt"/>
                <a:cs typeface="+mn-lt"/>
              </a:rPr>
              <a:t>ON</a:t>
            </a:r>
            <a:r>
              <a:rPr lang="en-US" sz="1800">
                <a:ea typeface="+mn-lt"/>
                <a:cs typeface="+mn-lt"/>
              </a:rPr>
              <a:t>/I</a:t>
            </a:r>
            <a:r>
              <a:rPr lang="en-US" sz="1800" baseline="-25000">
                <a:ea typeface="+mn-lt"/>
                <a:cs typeface="+mn-lt"/>
              </a:rPr>
              <a:t>OFF</a:t>
            </a:r>
            <a:endParaRPr lang="en-US" sz="1800">
              <a:ea typeface="+mn-lt"/>
              <a:cs typeface="+mn-lt"/>
            </a:endParaRPr>
          </a:p>
          <a:p>
            <a:pPr lvl="2">
              <a:buFont typeface="Wingdings" panose="020B0604020202020204" pitchFamily="34" charset="0"/>
              <a:buChar char="§"/>
            </a:pPr>
            <a:r>
              <a:rPr lang="en-US" sz="1800">
                <a:ea typeface="+mn-lt"/>
                <a:cs typeface="+mn-lt"/>
              </a:rPr>
              <a:t>Speed</a:t>
            </a:r>
          </a:p>
          <a:p>
            <a:pPr lvl="2">
              <a:buFont typeface="Wingdings" panose="020B0604020202020204" pitchFamily="34" charset="0"/>
              <a:buChar char="§"/>
            </a:pPr>
            <a:r>
              <a:rPr lang="en-US" sz="1800">
                <a:ea typeface="+mn-lt"/>
                <a:cs typeface="+mn-lt"/>
              </a:rPr>
              <a:t>Energy consumption </a:t>
            </a:r>
            <a:endParaRPr lang="en-US" sz="1800"/>
          </a:p>
          <a:p>
            <a:endParaRPr lang="en-US" sz="2400"/>
          </a:p>
        </p:txBody>
      </p:sp>
      <p:pic>
        <p:nvPicPr>
          <p:cNvPr id="3" name="Picture 2" descr="A white paper with black text&#10;&#10;AI-generated content may be incorrect.">
            <a:extLst>
              <a:ext uri="{FF2B5EF4-FFF2-40B4-BE49-F238E27FC236}">
                <a16:creationId xmlns:a16="http://schemas.microsoft.com/office/drawing/2014/main" id="{BB54BB86-5FF5-85E4-6A48-B6C2D8931BA5}"/>
              </a:ext>
            </a:extLst>
          </p:cNvPr>
          <p:cNvPicPr>
            <a:picLocks noChangeAspect="1"/>
          </p:cNvPicPr>
          <p:nvPr/>
        </p:nvPicPr>
        <p:blipFill>
          <a:blip r:embed="rId3"/>
          <a:stretch>
            <a:fillRect/>
          </a:stretch>
        </p:blipFill>
        <p:spPr>
          <a:xfrm>
            <a:off x="6757057" y="4023612"/>
            <a:ext cx="5267325" cy="2085975"/>
          </a:xfrm>
          <a:prstGeom prst="rect">
            <a:avLst/>
          </a:prstGeom>
        </p:spPr>
      </p:pic>
      <p:pic>
        <p:nvPicPr>
          <p:cNvPr id="4" name="Picture 3" descr="A white text with black text&#10;&#10;AI-generated content may be incorrect.">
            <a:extLst>
              <a:ext uri="{FF2B5EF4-FFF2-40B4-BE49-F238E27FC236}">
                <a16:creationId xmlns:a16="http://schemas.microsoft.com/office/drawing/2014/main" id="{8394CBB9-E587-3D10-DC0B-163925B21A4A}"/>
              </a:ext>
            </a:extLst>
          </p:cNvPr>
          <p:cNvPicPr>
            <a:picLocks noChangeAspect="1"/>
          </p:cNvPicPr>
          <p:nvPr/>
        </p:nvPicPr>
        <p:blipFill>
          <a:blip r:embed="rId4"/>
          <a:srcRect l="90" t="-143" r="7799" b="-603"/>
          <a:stretch>
            <a:fillRect/>
          </a:stretch>
        </p:blipFill>
        <p:spPr>
          <a:xfrm>
            <a:off x="6758193" y="1335911"/>
            <a:ext cx="5259537" cy="2408580"/>
          </a:xfrm>
          <a:prstGeom prst="rect">
            <a:avLst/>
          </a:prstGeom>
        </p:spPr>
      </p:pic>
      <p:sp>
        <p:nvSpPr>
          <p:cNvPr id="8" name="TextBox 7">
            <a:extLst>
              <a:ext uri="{FF2B5EF4-FFF2-40B4-BE49-F238E27FC236}">
                <a16:creationId xmlns:a16="http://schemas.microsoft.com/office/drawing/2014/main" id="{D8CA8AA6-CE09-2689-64D0-1178A2CE70F9}"/>
              </a:ext>
            </a:extLst>
          </p:cNvPr>
          <p:cNvSpPr txBox="1"/>
          <p:nvPr/>
        </p:nvSpPr>
        <p:spPr>
          <a:xfrm>
            <a:off x="4657317" y="1714999"/>
            <a:ext cx="1914293" cy="1384995"/>
          </a:xfrm>
          <a:prstGeom prst="rect">
            <a:avLst/>
          </a:prstGeom>
          <a:noFill/>
        </p:spPr>
        <p:txBody>
          <a:bodyPr wrap="square" lIns="91440" tIns="45720" rIns="91440" bIns="45720" rtlCol="0" anchor="t">
            <a:spAutoFit/>
          </a:bodyPr>
          <a:lstStyle/>
          <a:p>
            <a:r>
              <a:rPr lang="en-GB" sz="1400" b="1"/>
              <a:t>Table FinFET.1:</a:t>
            </a:r>
            <a:r>
              <a:rPr lang="en-GB" sz="1400"/>
              <a:t> </a:t>
            </a:r>
            <a:r>
              <a:rPr lang="en-GB" sz="1400">
                <a:ea typeface="+mn-lt"/>
                <a:cs typeface="+mn-lt"/>
              </a:rPr>
              <a:t>Improvements made by using each material in </a:t>
            </a:r>
            <a:r>
              <a:rPr lang="en-GB" sz="1400" err="1">
                <a:ea typeface="+mn-lt"/>
                <a:cs typeface="+mn-lt"/>
              </a:rPr>
              <a:t>FinFET</a:t>
            </a:r>
            <a:r>
              <a:rPr lang="en-GB" sz="1400">
                <a:ea typeface="+mn-lt"/>
                <a:cs typeface="+mn-lt"/>
              </a:rPr>
              <a:t> fabrication</a:t>
            </a:r>
            <a:endParaRPr lang="en-US" sz="1400">
              <a:ea typeface="+mn-lt"/>
              <a:cs typeface="+mn-lt"/>
            </a:endParaRPr>
          </a:p>
          <a:p>
            <a:endParaRPr lang="en-US" sz="1400"/>
          </a:p>
        </p:txBody>
      </p:sp>
      <p:sp>
        <p:nvSpPr>
          <p:cNvPr id="10" name="TextBox 9">
            <a:extLst>
              <a:ext uri="{FF2B5EF4-FFF2-40B4-BE49-F238E27FC236}">
                <a16:creationId xmlns:a16="http://schemas.microsoft.com/office/drawing/2014/main" id="{9C5BA7D4-58ED-6933-68C2-DE0C8A8DD933}"/>
              </a:ext>
            </a:extLst>
          </p:cNvPr>
          <p:cNvSpPr txBox="1"/>
          <p:nvPr/>
        </p:nvSpPr>
        <p:spPr>
          <a:xfrm>
            <a:off x="417246" y="5749180"/>
            <a:ext cx="596950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TW Cen MT"/>
              </a:rPr>
              <a:t>Tables taken from Karimi, K.; </a:t>
            </a:r>
            <a:r>
              <a:rPr lang="en-US" sz="1400" err="1">
                <a:latin typeface="TW Cen MT"/>
              </a:rPr>
              <a:t>Fardoost</a:t>
            </a:r>
            <a:r>
              <a:rPr lang="en-US" sz="1400">
                <a:latin typeface="TW Cen MT"/>
              </a:rPr>
              <a:t>, </a:t>
            </a:r>
            <a:r>
              <a:rPr lang="en-US" sz="1400" err="1">
                <a:latin typeface="TW Cen MT"/>
              </a:rPr>
              <a:t>A.;Javanmard</a:t>
            </a:r>
            <a:r>
              <a:rPr lang="en-US" sz="1400">
                <a:latin typeface="TW Cen MT"/>
              </a:rPr>
              <a:t>, M. Comprehensive, Review of </a:t>
            </a:r>
            <a:r>
              <a:rPr lang="en-US" sz="1400" err="1">
                <a:latin typeface="TW Cen MT"/>
              </a:rPr>
              <a:t>FinFET</a:t>
            </a:r>
            <a:r>
              <a:rPr lang="en-US" sz="1400">
                <a:latin typeface="TW Cen MT"/>
              </a:rPr>
              <a:t> Technology: History, Structure, Challenges, Innovations, and Emerging Sensing Applications. Micromachines 2024, 15, 1187. </a:t>
            </a:r>
          </a:p>
          <a:p>
            <a:pPr algn="l"/>
            <a:endParaRPr lang="en-US"/>
          </a:p>
        </p:txBody>
      </p:sp>
    </p:spTree>
    <p:extLst>
      <p:ext uri="{BB962C8B-B14F-4D97-AF65-F5344CB8AC3E}">
        <p14:creationId xmlns:p14="http://schemas.microsoft.com/office/powerpoint/2010/main" val="1943231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83A21-4164-C4F3-1A19-E4EE9C3E2C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0EE021-02A5-71A1-5753-482A036825CC}"/>
              </a:ext>
            </a:extLst>
          </p:cNvPr>
          <p:cNvSpPr>
            <a:spLocks noGrp="1"/>
          </p:cNvSpPr>
          <p:nvPr>
            <p:ph type="title"/>
          </p:nvPr>
        </p:nvSpPr>
        <p:spPr>
          <a:xfrm>
            <a:off x="776288" y="147411"/>
            <a:ext cx="10639425" cy="1325563"/>
          </a:xfrm>
        </p:spPr>
        <p:txBody>
          <a:bodyPr anchor="ctr">
            <a:normAutofit/>
          </a:bodyPr>
          <a:lstStyle/>
          <a:p>
            <a:r>
              <a:rPr lang="en-US"/>
              <a:t>Key Challenges</a:t>
            </a:r>
          </a:p>
        </p:txBody>
      </p:sp>
      <p:sp>
        <p:nvSpPr>
          <p:cNvPr id="5" name="Date Placeholder 4">
            <a:extLst>
              <a:ext uri="{FF2B5EF4-FFF2-40B4-BE49-F238E27FC236}">
                <a16:creationId xmlns:a16="http://schemas.microsoft.com/office/drawing/2014/main" id="{A4614BAD-1E88-39CC-F7E0-EC2BAEC84D13}"/>
              </a:ext>
            </a:extLst>
          </p:cNvPr>
          <p:cNvSpPr>
            <a:spLocks noGrp="1"/>
          </p:cNvSpPr>
          <p:nvPr>
            <p:ph type="dt" sz="half" idx="10"/>
          </p:nvPr>
        </p:nvSpPr>
        <p:spPr>
          <a:xfrm>
            <a:off x="838200" y="6492875"/>
            <a:ext cx="2743200" cy="365125"/>
          </a:xfrm>
        </p:spPr>
        <p:txBody>
          <a:bodyPr anchor="ctr">
            <a:normAutofit/>
          </a:bodyPr>
          <a:lstStyle/>
          <a:p>
            <a:pPr>
              <a:spcAft>
                <a:spcPts val="600"/>
              </a:spcAft>
            </a:pPr>
            <a:fld id="{0E53D1C4-5FEF-464B-AFAA-A733CD43D057}" type="datetime3">
              <a:rPr lang="en-US" smtClean="0"/>
              <a:pPr>
                <a:spcAft>
                  <a:spcPts val="600"/>
                </a:spcAft>
              </a:pPr>
              <a:t>14 December 2025</a:t>
            </a:fld>
            <a:endParaRPr lang="en-US"/>
          </a:p>
        </p:txBody>
      </p:sp>
      <p:sp>
        <p:nvSpPr>
          <p:cNvPr id="6" name="Footer Placeholder 5">
            <a:extLst>
              <a:ext uri="{FF2B5EF4-FFF2-40B4-BE49-F238E27FC236}">
                <a16:creationId xmlns:a16="http://schemas.microsoft.com/office/drawing/2014/main" id="{A4D4CAA1-365D-5AC7-22A9-DBFDA964E724}"/>
              </a:ext>
            </a:extLst>
          </p:cNvPr>
          <p:cNvSpPr>
            <a:spLocks noGrp="1"/>
          </p:cNvSpPr>
          <p:nvPr>
            <p:ph type="ftr" sz="quarter" idx="11"/>
          </p:nvPr>
        </p:nvSpPr>
        <p:spPr>
          <a:xfrm>
            <a:off x="4038600" y="6492875"/>
            <a:ext cx="4114800" cy="365125"/>
          </a:xfrm>
        </p:spPr>
        <p:txBody>
          <a:bodyPr anchor="ctr">
            <a:normAutofit/>
          </a:bodyPr>
          <a:lstStyle/>
          <a:p>
            <a:pPr>
              <a:spcAft>
                <a:spcPts val="600"/>
              </a:spcAft>
            </a:pPr>
            <a:r>
              <a:rPr lang="en-GB"/>
              <a:t>[116] Design of VLSI Systems ┃ Group 02</a:t>
            </a:r>
            <a:endParaRPr lang="en-US"/>
          </a:p>
        </p:txBody>
      </p:sp>
      <p:sp>
        <p:nvSpPr>
          <p:cNvPr id="7" name="Slide Number Placeholder 6">
            <a:extLst>
              <a:ext uri="{FF2B5EF4-FFF2-40B4-BE49-F238E27FC236}">
                <a16:creationId xmlns:a16="http://schemas.microsoft.com/office/drawing/2014/main" id="{65E76D79-8456-6E2E-0EE1-05E641FBC037}"/>
              </a:ext>
            </a:extLst>
          </p:cNvPr>
          <p:cNvSpPr>
            <a:spLocks noGrp="1"/>
          </p:cNvSpPr>
          <p:nvPr>
            <p:ph type="sldNum" sz="quarter" idx="12"/>
          </p:nvPr>
        </p:nvSpPr>
        <p:spPr>
          <a:xfrm>
            <a:off x="8610600" y="6492875"/>
            <a:ext cx="2743200" cy="365125"/>
          </a:xfrm>
        </p:spPr>
        <p:txBody>
          <a:bodyPr anchor="ctr">
            <a:normAutofit/>
          </a:bodyPr>
          <a:lstStyle/>
          <a:p>
            <a:pPr>
              <a:spcAft>
                <a:spcPts val="600"/>
              </a:spcAft>
            </a:pPr>
            <a:fld id="{57CA127F-6BC0-40BB-9B02-66AE29583F1C}" type="slidenum">
              <a:rPr lang="en-US" smtClean="0"/>
              <a:pPr>
                <a:spcAft>
                  <a:spcPts val="600"/>
                </a:spcAft>
              </a:pPr>
              <a:t>9</a:t>
            </a:fld>
            <a:endParaRPr lang="en-US"/>
          </a:p>
        </p:txBody>
      </p:sp>
      <p:sp>
        <p:nvSpPr>
          <p:cNvPr id="25" name="TextBox 24">
            <a:extLst>
              <a:ext uri="{FF2B5EF4-FFF2-40B4-BE49-F238E27FC236}">
                <a16:creationId xmlns:a16="http://schemas.microsoft.com/office/drawing/2014/main" id="{20B191A5-664F-62DC-C0A8-501E3BB6E8D5}"/>
              </a:ext>
            </a:extLst>
          </p:cNvPr>
          <p:cNvSpPr txBox="1"/>
          <p:nvPr/>
        </p:nvSpPr>
        <p:spPr>
          <a:xfrm>
            <a:off x="704396" y="5060254"/>
            <a:ext cx="5760530" cy="954107"/>
          </a:xfrm>
          <a:prstGeom prst="rect">
            <a:avLst/>
          </a:prstGeom>
          <a:noFill/>
        </p:spPr>
        <p:txBody>
          <a:bodyPr wrap="square" lIns="91440" tIns="45720" rIns="91440" bIns="45720" rtlCol="0" anchor="t">
            <a:spAutoFit/>
          </a:bodyPr>
          <a:lstStyle/>
          <a:p>
            <a:r>
              <a:rPr lang="en-US" sz="1400"/>
              <a:t>Figures taken from </a:t>
            </a:r>
            <a:r>
              <a:rPr lang="en-US" sz="1400">
                <a:ea typeface="+mn-lt"/>
                <a:cs typeface="+mn-lt"/>
              </a:rPr>
              <a:t>Karimi, K.; </a:t>
            </a:r>
            <a:r>
              <a:rPr lang="en-US" sz="1400" err="1">
                <a:ea typeface="+mn-lt"/>
                <a:cs typeface="+mn-lt"/>
              </a:rPr>
              <a:t>Fardoost</a:t>
            </a:r>
            <a:r>
              <a:rPr lang="en-US" sz="1400">
                <a:ea typeface="+mn-lt"/>
                <a:cs typeface="+mn-lt"/>
              </a:rPr>
              <a:t>, </a:t>
            </a:r>
            <a:r>
              <a:rPr lang="en-US" sz="1400" err="1">
                <a:ea typeface="+mn-lt"/>
                <a:cs typeface="+mn-lt"/>
              </a:rPr>
              <a:t>A.;Javanmard</a:t>
            </a:r>
            <a:r>
              <a:rPr lang="en-US" sz="1400">
                <a:ea typeface="+mn-lt"/>
                <a:cs typeface="+mn-lt"/>
              </a:rPr>
              <a:t>, M. Comprehensive, Review of </a:t>
            </a:r>
            <a:r>
              <a:rPr lang="en-US" sz="1400" err="1">
                <a:ea typeface="+mn-lt"/>
                <a:cs typeface="+mn-lt"/>
              </a:rPr>
              <a:t>FinFET</a:t>
            </a:r>
            <a:r>
              <a:rPr lang="en-US" sz="1400">
                <a:ea typeface="+mn-lt"/>
                <a:cs typeface="+mn-lt"/>
              </a:rPr>
              <a:t> Technology: History, Structure, Challenges, Innovations, and Emerging Sensing Applications. Micromachines 2024, 15, 1187. </a:t>
            </a:r>
            <a:endParaRPr lang="en-US" sz="1400"/>
          </a:p>
          <a:p>
            <a:endParaRPr lang="en-US" sz="1400"/>
          </a:p>
        </p:txBody>
      </p:sp>
      <p:sp>
        <p:nvSpPr>
          <p:cNvPr id="9" name="Content Placeholder 8">
            <a:extLst>
              <a:ext uri="{FF2B5EF4-FFF2-40B4-BE49-F238E27FC236}">
                <a16:creationId xmlns:a16="http://schemas.microsoft.com/office/drawing/2014/main" id="{E29D5294-307B-B16B-A150-8116749D4D18}"/>
              </a:ext>
            </a:extLst>
          </p:cNvPr>
          <p:cNvSpPr>
            <a:spLocks noGrp="1"/>
          </p:cNvSpPr>
          <p:nvPr>
            <p:ph sz="half" idx="2"/>
          </p:nvPr>
        </p:nvSpPr>
        <p:spPr>
          <a:xfrm>
            <a:off x="6923654" y="1746718"/>
            <a:ext cx="4676900" cy="3351831"/>
          </a:xfrm>
        </p:spPr>
        <p:txBody>
          <a:bodyPr vert="horz" lIns="91440" tIns="45720" rIns="91440" bIns="45720" rtlCol="0" anchor="t">
            <a:normAutofit/>
          </a:bodyPr>
          <a:lstStyle/>
          <a:p>
            <a:r>
              <a:rPr lang="en-US" sz="2400">
                <a:ea typeface="+mn-lt"/>
                <a:cs typeface="+mn-lt"/>
              </a:rPr>
              <a:t>Parasitic capacitances ↑ → slower switching</a:t>
            </a:r>
          </a:p>
          <a:p>
            <a:r>
              <a:rPr lang="en-US" sz="2400">
                <a:ea typeface="+mn-lt"/>
                <a:cs typeface="+mn-lt"/>
              </a:rPr>
              <a:t>Corner leakage → “corner effects”</a:t>
            </a:r>
            <a:endParaRPr lang="en-US" sz="2400"/>
          </a:p>
          <a:p>
            <a:r>
              <a:rPr lang="en-US" sz="2400">
                <a:ea typeface="+mn-lt"/>
                <a:cs typeface="+mn-lt"/>
              </a:rPr>
              <a:t>Quantum effects → mobility loss in ultra-thin fins</a:t>
            </a:r>
            <a:endParaRPr lang="en-US" sz="2400"/>
          </a:p>
          <a:p>
            <a:r>
              <a:rPr lang="en-US" sz="2400">
                <a:ea typeface="+mn-lt"/>
                <a:cs typeface="+mn-lt"/>
              </a:rPr>
              <a:t>Complex lithography and self-heating</a:t>
            </a:r>
            <a:endParaRPr lang="en-US" sz="2400"/>
          </a:p>
          <a:p>
            <a:endParaRPr lang="en-US" sz="2400"/>
          </a:p>
        </p:txBody>
      </p:sp>
      <p:pic>
        <p:nvPicPr>
          <p:cNvPr id="3" name="Picture 2" descr="A diagram of a structure&#10;&#10;AI-generated content may be incorrect.">
            <a:extLst>
              <a:ext uri="{FF2B5EF4-FFF2-40B4-BE49-F238E27FC236}">
                <a16:creationId xmlns:a16="http://schemas.microsoft.com/office/drawing/2014/main" id="{044A5BCC-EE8B-1747-C4E0-15F8BC7969D1}"/>
              </a:ext>
            </a:extLst>
          </p:cNvPr>
          <p:cNvPicPr>
            <a:picLocks noChangeAspect="1"/>
          </p:cNvPicPr>
          <p:nvPr/>
        </p:nvPicPr>
        <p:blipFill>
          <a:blip r:embed="rId3"/>
          <a:stretch>
            <a:fillRect/>
          </a:stretch>
        </p:blipFill>
        <p:spPr>
          <a:xfrm>
            <a:off x="869661" y="1369705"/>
            <a:ext cx="2764787" cy="2854427"/>
          </a:xfrm>
          <a:prstGeom prst="rect">
            <a:avLst/>
          </a:prstGeom>
        </p:spPr>
      </p:pic>
      <p:sp>
        <p:nvSpPr>
          <p:cNvPr id="4" name="TextBox 3">
            <a:extLst>
              <a:ext uri="{FF2B5EF4-FFF2-40B4-BE49-F238E27FC236}">
                <a16:creationId xmlns:a16="http://schemas.microsoft.com/office/drawing/2014/main" id="{B81CDE58-F9F3-0CB5-283C-89C9A9D1AEAE}"/>
              </a:ext>
            </a:extLst>
          </p:cNvPr>
          <p:cNvSpPr txBox="1"/>
          <p:nvPr/>
        </p:nvSpPr>
        <p:spPr>
          <a:xfrm>
            <a:off x="703171" y="4323033"/>
            <a:ext cx="259983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a:solidFill>
                  <a:srgbClr val="000000"/>
                </a:solidFill>
                <a:latin typeface="TW Cen MT"/>
                <a:cs typeface="Arial"/>
              </a:rPr>
              <a:t>Figure FinFET.5:</a:t>
            </a:r>
            <a:r>
              <a:rPr lang="en-GB" sz="1400">
                <a:solidFill>
                  <a:srgbClr val="000000"/>
                </a:solidFill>
                <a:latin typeface="TW Cen MT"/>
                <a:cs typeface="Arial"/>
              </a:rPr>
              <a:t> </a:t>
            </a:r>
            <a:r>
              <a:rPr lang="en-US" sz="1400">
                <a:solidFill>
                  <a:srgbClr val="222222"/>
                </a:solidFill>
                <a:latin typeface="TW Cen MT"/>
                <a:cs typeface="Arial"/>
              </a:rPr>
              <a:t>Parasitic capacitances of a </a:t>
            </a:r>
            <a:r>
              <a:rPr lang="en-US" sz="1400" err="1">
                <a:solidFill>
                  <a:srgbClr val="222222"/>
                </a:solidFill>
                <a:latin typeface="TW Cen MT"/>
                <a:cs typeface="Arial"/>
              </a:rPr>
              <a:t>FinFET</a:t>
            </a:r>
            <a:endParaRPr lang="en-US" sz="1400">
              <a:solidFill>
                <a:srgbClr val="222222"/>
              </a:solidFill>
              <a:latin typeface="TW Cen MT"/>
              <a:cs typeface="Arial"/>
            </a:endParaRPr>
          </a:p>
        </p:txBody>
      </p:sp>
      <p:sp>
        <p:nvSpPr>
          <p:cNvPr id="10" name="TextBox 9">
            <a:extLst>
              <a:ext uri="{FF2B5EF4-FFF2-40B4-BE49-F238E27FC236}">
                <a16:creationId xmlns:a16="http://schemas.microsoft.com/office/drawing/2014/main" id="{EFF89CFF-8C1C-EEB4-A72D-A50B5C9264B5}"/>
              </a:ext>
            </a:extLst>
          </p:cNvPr>
          <p:cNvSpPr txBox="1"/>
          <p:nvPr/>
        </p:nvSpPr>
        <p:spPr>
          <a:xfrm>
            <a:off x="4033719" y="4323153"/>
            <a:ext cx="2599835"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a:solidFill>
                  <a:srgbClr val="000000"/>
                </a:solidFill>
                <a:latin typeface="TW Cen MT"/>
                <a:cs typeface="Arial"/>
              </a:rPr>
              <a:t>Figure FinFET.6:</a:t>
            </a:r>
            <a:r>
              <a:rPr lang="en-GB" sz="1400">
                <a:solidFill>
                  <a:srgbClr val="000000"/>
                </a:solidFill>
                <a:latin typeface="TW Cen MT"/>
                <a:cs typeface="Arial"/>
              </a:rPr>
              <a:t> </a:t>
            </a:r>
            <a:r>
              <a:rPr lang="en-US" sz="1400">
                <a:solidFill>
                  <a:srgbClr val="222222"/>
                </a:solidFill>
                <a:latin typeface="TW Cen MT"/>
                <a:cs typeface="Arial"/>
              </a:rPr>
              <a:t>Cross-sectional view of a Tri-</a:t>
            </a:r>
            <a:r>
              <a:rPr lang="en-US" sz="1400" err="1">
                <a:solidFill>
                  <a:srgbClr val="222222"/>
                </a:solidFill>
                <a:latin typeface="TW Cen MT"/>
                <a:cs typeface="Arial"/>
              </a:rPr>
              <a:t>FinFET</a:t>
            </a:r>
            <a:r>
              <a:rPr lang="en-US" sz="1400">
                <a:solidFill>
                  <a:srgbClr val="222222"/>
                </a:solidFill>
                <a:latin typeface="TW Cen MT"/>
                <a:cs typeface="Arial"/>
              </a:rPr>
              <a:t> with curved fin corners</a:t>
            </a:r>
            <a:endParaRPr lang="en-US" sz="1400">
              <a:latin typeface="TW Cen MT"/>
            </a:endParaRPr>
          </a:p>
        </p:txBody>
      </p:sp>
      <p:pic>
        <p:nvPicPr>
          <p:cNvPr id="11" name="Picture 10" descr="Diagram of a gate with arrows pointing to the side&#10;&#10;AI-generated content may be incorrect.">
            <a:extLst>
              <a:ext uri="{FF2B5EF4-FFF2-40B4-BE49-F238E27FC236}">
                <a16:creationId xmlns:a16="http://schemas.microsoft.com/office/drawing/2014/main" id="{BFF66D16-71B6-C1DF-084C-BFECCDAD6F47}"/>
              </a:ext>
            </a:extLst>
          </p:cNvPr>
          <p:cNvPicPr>
            <a:picLocks noChangeAspect="1"/>
          </p:cNvPicPr>
          <p:nvPr/>
        </p:nvPicPr>
        <p:blipFill>
          <a:blip r:embed="rId4"/>
          <a:stretch>
            <a:fillRect/>
          </a:stretch>
        </p:blipFill>
        <p:spPr>
          <a:xfrm>
            <a:off x="4033629" y="1370509"/>
            <a:ext cx="2356003" cy="2611343"/>
          </a:xfrm>
          <a:prstGeom prst="rect">
            <a:avLst/>
          </a:prstGeom>
        </p:spPr>
      </p:pic>
    </p:spTree>
    <p:extLst>
      <p:ext uri="{BB962C8B-B14F-4D97-AF65-F5344CB8AC3E}">
        <p14:creationId xmlns:p14="http://schemas.microsoft.com/office/powerpoint/2010/main" val="3295782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5B244-13F8-DA02-9614-9ABF147589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4ED557-7308-BB84-9546-0A11B634FC04}"/>
              </a:ext>
            </a:extLst>
          </p:cNvPr>
          <p:cNvSpPr>
            <a:spLocks noGrp="1"/>
          </p:cNvSpPr>
          <p:nvPr>
            <p:ph type="title"/>
          </p:nvPr>
        </p:nvSpPr>
        <p:spPr>
          <a:xfrm>
            <a:off x="776288" y="147411"/>
            <a:ext cx="10639425" cy="1325563"/>
          </a:xfrm>
        </p:spPr>
        <p:txBody>
          <a:bodyPr anchor="ctr">
            <a:normAutofit/>
          </a:bodyPr>
          <a:lstStyle/>
          <a:p>
            <a:r>
              <a:rPr lang="en-US"/>
              <a:t>Recent Innovations</a:t>
            </a:r>
          </a:p>
        </p:txBody>
      </p:sp>
      <p:sp>
        <p:nvSpPr>
          <p:cNvPr id="5" name="Date Placeholder 4">
            <a:extLst>
              <a:ext uri="{FF2B5EF4-FFF2-40B4-BE49-F238E27FC236}">
                <a16:creationId xmlns:a16="http://schemas.microsoft.com/office/drawing/2014/main" id="{F4A54D3F-DE13-FF82-DBCA-1ED433A21B66}"/>
              </a:ext>
            </a:extLst>
          </p:cNvPr>
          <p:cNvSpPr>
            <a:spLocks noGrp="1"/>
          </p:cNvSpPr>
          <p:nvPr>
            <p:ph type="dt" sz="half" idx="10"/>
          </p:nvPr>
        </p:nvSpPr>
        <p:spPr>
          <a:xfrm>
            <a:off x="838200" y="6492875"/>
            <a:ext cx="2743200" cy="365125"/>
          </a:xfrm>
        </p:spPr>
        <p:txBody>
          <a:bodyPr anchor="ctr">
            <a:normAutofit/>
          </a:bodyPr>
          <a:lstStyle/>
          <a:p>
            <a:pPr>
              <a:spcAft>
                <a:spcPts val="600"/>
              </a:spcAft>
            </a:pPr>
            <a:fld id="{0E53D1C4-5FEF-464B-AFAA-A733CD43D057}" type="datetime3">
              <a:rPr lang="en-US" smtClean="0"/>
              <a:pPr>
                <a:spcAft>
                  <a:spcPts val="600"/>
                </a:spcAft>
              </a:pPr>
              <a:t>14 December 2025</a:t>
            </a:fld>
            <a:endParaRPr lang="en-US"/>
          </a:p>
        </p:txBody>
      </p:sp>
      <p:sp>
        <p:nvSpPr>
          <p:cNvPr id="6" name="Footer Placeholder 5">
            <a:extLst>
              <a:ext uri="{FF2B5EF4-FFF2-40B4-BE49-F238E27FC236}">
                <a16:creationId xmlns:a16="http://schemas.microsoft.com/office/drawing/2014/main" id="{462BEA9D-A442-8E86-46BC-25EDBB51A8DC}"/>
              </a:ext>
            </a:extLst>
          </p:cNvPr>
          <p:cNvSpPr>
            <a:spLocks noGrp="1"/>
          </p:cNvSpPr>
          <p:nvPr>
            <p:ph type="ftr" sz="quarter" idx="11"/>
          </p:nvPr>
        </p:nvSpPr>
        <p:spPr>
          <a:xfrm>
            <a:off x="4038600" y="6492875"/>
            <a:ext cx="4114800" cy="365125"/>
          </a:xfrm>
        </p:spPr>
        <p:txBody>
          <a:bodyPr anchor="ctr">
            <a:normAutofit/>
          </a:bodyPr>
          <a:lstStyle/>
          <a:p>
            <a:pPr>
              <a:spcAft>
                <a:spcPts val="600"/>
              </a:spcAft>
            </a:pPr>
            <a:r>
              <a:rPr lang="en-GB"/>
              <a:t>[116] Design of VLSI Systems ┃ Group 02</a:t>
            </a:r>
            <a:endParaRPr lang="en-US"/>
          </a:p>
        </p:txBody>
      </p:sp>
      <p:sp>
        <p:nvSpPr>
          <p:cNvPr id="7" name="Slide Number Placeholder 6">
            <a:extLst>
              <a:ext uri="{FF2B5EF4-FFF2-40B4-BE49-F238E27FC236}">
                <a16:creationId xmlns:a16="http://schemas.microsoft.com/office/drawing/2014/main" id="{65C77DF9-53CD-B39F-9DF4-054353A139E1}"/>
              </a:ext>
            </a:extLst>
          </p:cNvPr>
          <p:cNvSpPr>
            <a:spLocks noGrp="1"/>
          </p:cNvSpPr>
          <p:nvPr>
            <p:ph type="sldNum" sz="quarter" idx="12"/>
          </p:nvPr>
        </p:nvSpPr>
        <p:spPr>
          <a:xfrm>
            <a:off x="8610600" y="6492875"/>
            <a:ext cx="2743200" cy="365125"/>
          </a:xfrm>
        </p:spPr>
        <p:txBody>
          <a:bodyPr anchor="ctr">
            <a:normAutofit/>
          </a:bodyPr>
          <a:lstStyle/>
          <a:p>
            <a:pPr>
              <a:spcAft>
                <a:spcPts val="600"/>
              </a:spcAft>
            </a:pPr>
            <a:fld id="{57CA127F-6BC0-40BB-9B02-66AE29583F1C}" type="slidenum">
              <a:rPr lang="en-US" smtClean="0"/>
              <a:pPr>
                <a:spcAft>
                  <a:spcPts val="600"/>
                </a:spcAft>
              </a:pPr>
              <a:t>10</a:t>
            </a:fld>
            <a:endParaRPr lang="en-US"/>
          </a:p>
        </p:txBody>
      </p:sp>
      <p:sp>
        <p:nvSpPr>
          <p:cNvPr id="25" name="TextBox 24">
            <a:extLst>
              <a:ext uri="{FF2B5EF4-FFF2-40B4-BE49-F238E27FC236}">
                <a16:creationId xmlns:a16="http://schemas.microsoft.com/office/drawing/2014/main" id="{A5153384-0227-7F09-D159-CF3DA68C5FB9}"/>
              </a:ext>
            </a:extLst>
          </p:cNvPr>
          <p:cNvSpPr txBox="1"/>
          <p:nvPr/>
        </p:nvSpPr>
        <p:spPr>
          <a:xfrm>
            <a:off x="3676735" y="5059690"/>
            <a:ext cx="3202557" cy="1384995"/>
          </a:xfrm>
          <a:prstGeom prst="rect">
            <a:avLst/>
          </a:prstGeom>
          <a:noFill/>
        </p:spPr>
        <p:txBody>
          <a:bodyPr wrap="square" lIns="91440" tIns="45720" rIns="91440" bIns="45720" rtlCol="0" anchor="t">
            <a:spAutoFit/>
          </a:bodyPr>
          <a:lstStyle/>
          <a:p>
            <a:r>
              <a:rPr lang="en-GB" sz="1400"/>
              <a:t>Figures</a:t>
            </a:r>
            <a:r>
              <a:rPr lang="en-US" sz="1400"/>
              <a:t> taken from </a:t>
            </a:r>
            <a:r>
              <a:rPr lang="en-US" sz="1400">
                <a:ea typeface="+mn-lt"/>
                <a:cs typeface="+mn-lt"/>
              </a:rPr>
              <a:t>Karimi, K.; </a:t>
            </a:r>
            <a:r>
              <a:rPr lang="en-US" sz="1400" err="1">
                <a:ea typeface="+mn-lt"/>
                <a:cs typeface="+mn-lt"/>
              </a:rPr>
              <a:t>Fardoost</a:t>
            </a:r>
            <a:r>
              <a:rPr lang="en-US" sz="1400">
                <a:ea typeface="+mn-lt"/>
                <a:cs typeface="+mn-lt"/>
              </a:rPr>
              <a:t>, </a:t>
            </a:r>
            <a:r>
              <a:rPr lang="en-US" sz="1400" err="1">
                <a:ea typeface="+mn-lt"/>
                <a:cs typeface="+mn-lt"/>
              </a:rPr>
              <a:t>A.;Javanmard</a:t>
            </a:r>
            <a:r>
              <a:rPr lang="en-US" sz="1400">
                <a:ea typeface="+mn-lt"/>
                <a:cs typeface="+mn-lt"/>
              </a:rPr>
              <a:t>, M. Comprehensive, Review of </a:t>
            </a:r>
            <a:r>
              <a:rPr lang="en-US" sz="1400" err="1">
                <a:ea typeface="+mn-lt"/>
                <a:cs typeface="+mn-lt"/>
              </a:rPr>
              <a:t>FinFET</a:t>
            </a:r>
            <a:r>
              <a:rPr lang="en-US" sz="1400">
                <a:ea typeface="+mn-lt"/>
                <a:cs typeface="+mn-lt"/>
              </a:rPr>
              <a:t> Technology: History, Structure, Challenges, Innovations, and Emerging Sensing Applications. Micromachines 2024, 15, 1187. </a:t>
            </a:r>
            <a:endParaRPr lang="en-US" sz="1400"/>
          </a:p>
        </p:txBody>
      </p:sp>
      <p:sp>
        <p:nvSpPr>
          <p:cNvPr id="9" name="Content Placeholder 8">
            <a:extLst>
              <a:ext uri="{FF2B5EF4-FFF2-40B4-BE49-F238E27FC236}">
                <a16:creationId xmlns:a16="http://schemas.microsoft.com/office/drawing/2014/main" id="{EC5538CE-E492-3464-85C9-6558EC74C8F7}"/>
              </a:ext>
            </a:extLst>
          </p:cNvPr>
          <p:cNvSpPr>
            <a:spLocks noGrp="1"/>
          </p:cNvSpPr>
          <p:nvPr>
            <p:ph sz="half" idx="2"/>
          </p:nvPr>
        </p:nvSpPr>
        <p:spPr>
          <a:xfrm>
            <a:off x="6973785" y="1726665"/>
            <a:ext cx="4676900" cy="3351831"/>
          </a:xfrm>
        </p:spPr>
        <p:txBody>
          <a:bodyPr vert="horz" lIns="91440" tIns="45720" rIns="91440" bIns="45720" rtlCol="0" anchor="t">
            <a:normAutofit/>
          </a:bodyPr>
          <a:lstStyle/>
          <a:p>
            <a:r>
              <a:rPr lang="en-US" sz="2400" b="1">
                <a:ea typeface="+mn-lt"/>
                <a:cs typeface="+mn-lt"/>
              </a:rPr>
              <a:t>Ground-Plane </a:t>
            </a:r>
            <a:r>
              <a:rPr lang="en-US" sz="2400" b="1" err="1">
                <a:ea typeface="+mn-lt"/>
                <a:cs typeface="+mn-lt"/>
              </a:rPr>
              <a:t>FinFET</a:t>
            </a:r>
            <a:r>
              <a:rPr lang="en-US" sz="2400" b="1">
                <a:ea typeface="+mn-lt"/>
                <a:cs typeface="+mn-lt"/>
              </a:rPr>
              <a:t> (GP-</a:t>
            </a:r>
            <a:r>
              <a:rPr lang="en-US" sz="2400" b="1" err="1">
                <a:ea typeface="+mn-lt"/>
                <a:cs typeface="+mn-lt"/>
              </a:rPr>
              <a:t>FinFET</a:t>
            </a:r>
            <a:r>
              <a:rPr lang="en-US" sz="2400" b="1">
                <a:ea typeface="+mn-lt"/>
                <a:cs typeface="+mn-lt"/>
              </a:rPr>
              <a:t>):</a:t>
            </a:r>
            <a:r>
              <a:rPr lang="en-US" sz="2400">
                <a:ea typeface="+mn-lt"/>
                <a:cs typeface="+mn-lt"/>
              </a:rPr>
              <a:t> lower DIBL </a:t>
            </a:r>
            <a:endParaRPr lang="en-US"/>
          </a:p>
          <a:p>
            <a:r>
              <a:rPr lang="en-US" sz="2400" b="1">
                <a:ea typeface="+mn-lt"/>
                <a:cs typeface="+mn-lt"/>
              </a:rPr>
              <a:t>Bottom-Spacer </a:t>
            </a:r>
            <a:r>
              <a:rPr lang="en-US" sz="2400" b="1" err="1">
                <a:ea typeface="+mn-lt"/>
                <a:cs typeface="+mn-lt"/>
              </a:rPr>
              <a:t>FinFET</a:t>
            </a:r>
            <a:r>
              <a:rPr lang="en-US" sz="2400" b="1">
                <a:ea typeface="+mn-lt"/>
                <a:cs typeface="+mn-lt"/>
              </a:rPr>
              <a:t>:</a:t>
            </a:r>
            <a:r>
              <a:rPr lang="en-US" sz="2400">
                <a:ea typeface="+mn-lt"/>
                <a:cs typeface="+mn-lt"/>
              </a:rPr>
              <a:t> better SCE &amp; thermal control</a:t>
            </a:r>
            <a:endParaRPr lang="en-US"/>
          </a:p>
          <a:p>
            <a:r>
              <a:rPr lang="en-US" sz="2400" b="1">
                <a:ea typeface="+mn-lt"/>
                <a:cs typeface="+mn-lt"/>
              </a:rPr>
              <a:t>Negative Capacitance </a:t>
            </a:r>
            <a:r>
              <a:rPr lang="en-US" sz="2400" b="1" err="1">
                <a:ea typeface="+mn-lt"/>
                <a:cs typeface="+mn-lt"/>
              </a:rPr>
              <a:t>FinFET</a:t>
            </a:r>
            <a:r>
              <a:rPr lang="en-US" sz="2400" b="1">
                <a:ea typeface="+mn-lt"/>
                <a:cs typeface="+mn-lt"/>
              </a:rPr>
              <a:t>:</a:t>
            </a:r>
            <a:r>
              <a:rPr lang="en-US" sz="2400">
                <a:ea typeface="+mn-lt"/>
                <a:cs typeface="+mn-lt"/>
              </a:rPr>
              <a:t> ferroelectric spacer → higher I</a:t>
            </a:r>
            <a:r>
              <a:rPr lang="en-US" sz="2400" baseline="-25000">
                <a:ea typeface="+mn-lt"/>
                <a:cs typeface="+mn-lt"/>
              </a:rPr>
              <a:t>on</a:t>
            </a:r>
            <a:r>
              <a:rPr lang="en-US" sz="2400">
                <a:ea typeface="+mn-lt"/>
                <a:cs typeface="+mn-lt"/>
              </a:rPr>
              <a:t>, lower SS</a:t>
            </a:r>
            <a:endParaRPr lang="en-US"/>
          </a:p>
        </p:txBody>
      </p:sp>
      <p:sp>
        <p:nvSpPr>
          <p:cNvPr id="4" name="TextBox 3">
            <a:extLst>
              <a:ext uri="{FF2B5EF4-FFF2-40B4-BE49-F238E27FC236}">
                <a16:creationId xmlns:a16="http://schemas.microsoft.com/office/drawing/2014/main" id="{80E2C67E-2C18-C3B3-5FAE-15DF5E2CDAA2}"/>
              </a:ext>
            </a:extLst>
          </p:cNvPr>
          <p:cNvSpPr txBox="1"/>
          <p:nvPr/>
        </p:nvSpPr>
        <p:spPr>
          <a:xfrm>
            <a:off x="646033" y="3266404"/>
            <a:ext cx="2599835"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a:solidFill>
                  <a:srgbClr val="000000"/>
                </a:solidFill>
                <a:latin typeface="TW Cen MT"/>
                <a:cs typeface="Arial"/>
              </a:rPr>
              <a:t>Figure FinFET.7:</a:t>
            </a:r>
            <a:r>
              <a:rPr lang="en-GB" sz="1400">
                <a:solidFill>
                  <a:srgbClr val="000000"/>
                </a:solidFill>
                <a:latin typeface="TW Cen MT"/>
                <a:cs typeface="Arial"/>
              </a:rPr>
              <a:t> </a:t>
            </a:r>
            <a:r>
              <a:rPr lang="en-US" sz="1400">
                <a:solidFill>
                  <a:srgbClr val="222222"/>
                </a:solidFill>
                <a:latin typeface="TW Cen MT"/>
                <a:cs typeface="Arial"/>
              </a:rPr>
              <a:t>Three-dimensional view of the GP-</a:t>
            </a:r>
            <a:r>
              <a:rPr lang="en-US" sz="1400" err="1">
                <a:solidFill>
                  <a:srgbClr val="222222"/>
                </a:solidFill>
                <a:latin typeface="TW Cen MT"/>
                <a:cs typeface="Arial"/>
              </a:rPr>
              <a:t>FinFET</a:t>
            </a:r>
            <a:r>
              <a:rPr lang="en-US" sz="1400">
                <a:solidFill>
                  <a:srgbClr val="222222"/>
                </a:solidFill>
                <a:latin typeface="TW Cen MT"/>
                <a:cs typeface="Arial"/>
              </a:rPr>
              <a:t> structure schematic</a:t>
            </a:r>
            <a:endParaRPr lang="en-US" sz="1400">
              <a:latin typeface="TW Cen MT"/>
            </a:endParaRPr>
          </a:p>
        </p:txBody>
      </p:sp>
      <p:sp>
        <p:nvSpPr>
          <p:cNvPr id="10" name="TextBox 9">
            <a:extLst>
              <a:ext uri="{FF2B5EF4-FFF2-40B4-BE49-F238E27FC236}">
                <a16:creationId xmlns:a16="http://schemas.microsoft.com/office/drawing/2014/main" id="{A005CFEF-6909-593F-03B7-DE2AB21E69CD}"/>
              </a:ext>
            </a:extLst>
          </p:cNvPr>
          <p:cNvSpPr txBox="1"/>
          <p:nvPr/>
        </p:nvSpPr>
        <p:spPr>
          <a:xfrm>
            <a:off x="3674585" y="3266405"/>
            <a:ext cx="3291046"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a:solidFill>
                  <a:srgbClr val="000000"/>
                </a:solidFill>
                <a:latin typeface="TW Cen MT"/>
                <a:cs typeface="Arial"/>
              </a:rPr>
              <a:t>Figure FinFET.8:</a:t>
            </a:r>
            <a:r>
              <a:rPr lang="en-GB" sz="1400">
                <a:solidFill>
                  <a:srgbClr val="000000"/>
                </a:solidFill>
                <a:latin typeface="TW Cen MT"/>
                <a:cs typeface="Arial"/>
              </a:rPr>
              <a:t> </a:t>
            </a:r>
            <a:r>
              <a:rPr lang="en-US" sz="1400">
                <a:solidFill>
                  <a:srgbClr val="222222"/>
                </a:solidFill>
                <a:latin typeface="TW Cen MT"/>
                <a:cs typeface="Arial"/>
              </a:rPr>
              <a:t>Three-dimensional view of the most effective structure of Negative Capacitance </a:t>
            </a:r>
            <a:r>
              <a:rPr lang="en-US" sz="1400" err="1">
                <a:solidFill>
                  <a:srgbClr val="222222"/>
                </a:solidFill>
                <a:latin typeface="TW Cen MT"/>
                <a:cs typeface="Arial"/>
              </a:rPr>
              <a:t>FinFET</a:t>
            </a:r>
            <a:r>
              <a:rPr lang="en-US" sz="1400">
                <a:solidFill>
                  <a:srgbClr val="222222"/>
                </a:solidFill>
                <a:latin typeface="TW Cen MT"/>
                <a:cs typeface="Arial"/>
              </a:rPr>
              <a:t> with Ferroelectric Spacer</a:t>
            </a:r>
            <a:endParaRPr lang="en-US" sz="1400">
              <a:latin typeface="TW Cen MT"/>
            </a:endParaRPr>
          </a:p>
        </p:txBody>
      </p:sp>
      <p:pic>
        <p:nvPicPr>
          <p:cNvPr id="8" name="Picture 7" descr="A diagram of a structure&#10;&#10;AI-generated content may be incorrect.">
            <a:extLst>
              <a:ext uri="{FF2B5EF4-FFF2-40B4-BE49-F238E27FC236}">
                <a16:creationId xmlns:a16="http://schemas.microsoft.com/office/drawing/2014/main" id="{41062E1A-EFC2-DD42-CB98-95B33EBBFD57}"/>
              </a:ext>
            </a:extLst>
          </p:cNvPr>
          <p:cNvPicPr>
            <a:picLocks noChangeAspect="1"/>
          </p:cNvPicPr>
          <p:nvPr/>
        </p:nvPicPr>
        <p:blipFill>
          <a:blip r:embed="rId3"/>
          <a:stretch>
            <a:fillRect/>
          </a:stretch>
        </p:blipFill>
        <p:spPr>
          <a:xfrm>
            <a:off x="812162" y="1262307"/>
            <a:ext cx="2438630" cy="1889623"/>
          </a:xfrm>
          <a:prstGeom prst="rect">
            <a:avLst/>
          </a:prstGeom>
        </p:spPr>
      </p:pic>
      <p:pic>
        <p:nvPicPr>
          <p:cNvPr id="12" name="Picture 11" descr="A diagram of different types of objects&#10;&#10;AI-generated content may be incorrect.">
            <a:extLst>
              <a:ext uri="{FF2B5EF4-FFF2-40B4-BE49-F238E27FC236}">
                <a16:creationId xmlns:a16="http://schemas.microsoft.com/office/drawing/2014/main" id="{DFB16800-CFE0-CCFA-EF69-7FD8F5C1CF02}"/>
              </a:ext>
            </a:extLst>
          </p:cNvPr>
          <p:cNvPicPr>
            <a:picLocks noChangeAspect="1"/>
          </p:cNvPicPr>
          <p:nvPr/>
        </p:nvPicPr>
        <p:blipFill>
          <a:blip r:embed="rId4"/>
          <a:stretch>
            <a:fillRect/>
          </a:stretch>
        </p:blipFill>
        <p:spPr>
          <a:xfrm>
            <a:off x="775078" y="4219829"/>
            <a:ext cx="2796677" cy="2024463"/>
          </a:xfrm>
          <a:prstGeom prst="rect">
            <a:avLst/>
          </a:prstGeom>
        </p:spPr>
      </p:pic>
      <p:pic>
        <p:nvPicPr>
          <p:cNvPr id="13" name="Picture 12">
            <a:extLst>
              <a:ext uri="{FF2B5EF4-FFF2-40B4-BE49-F238E27FC236}">
                <a16:creationId xmlns:a16="http://schemas.microsoft.com/office/drawing/2014/main" id="{C5E1725C-FD00-4DDB-5553-2F17EA79D797}"/>
              </a:ext>
            </a:extLst>
          </p:cNvPr>
          <p:cNvPicPr>
            <a:picLocks noChangeAspect="1"/>
          </p:cNvPicPr>
          <p:nvPr/>
        </p:nvPicPr>
        <p:blipFill>
          <a:blip r:embed="rId5"/>
          <a:stretch>
            <a:fillRect/>
          </a:stretch>
        </p:blipFill>
        <p:spPr>
          <a:xfrm>
            <a:off x="4323789" y="1110824"/>
            <a:ext cx="1621547" cy="2027105"/>
          </a:xfrm>
          <a:prstGeom prst="rect">
            <a:avLst/>
          </a:prstGeom>
        </p:spPr>
      </p:pic>
      <p:sp>
        <p:nvSpPr>
          <p:cNvPr id="14" name="TextBox 13">
            <a:extLst>
              <a:ext uri="{FF2B5EF4-FFF2-40B4-BE49-F238E27FC236}">
                <a16:creationId xmlns:a16="http://schemas.microsoft.com/office/drawing/2014/main" id="{4162482B-E5F5-F91A-BAB3-8665D1550944}"/>
              </a:ext>
            </a:extLst>
          </p:cNvPr>
          <p:cNvSpPr txBox="1"/>
          <p:nvPr/>
        </p:nvSpPr>
        <p:spPr>
          <a:xfrm>
            <a:off x="3674222" y="4319530"/>
            <a:ext cx="3203225"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a:solidFill>
                  <a:srgbClr val="000000"/>
                </a:solidFill>
                <a:latin typeface="TW Cen MT"/>
                <a:cs typeface="Arial"/>
              </a:rPr>
              <a:t>Figure FinFET.9:</a:t>
            </a:r>
            <a:r>
              <a:rPr lang="en-GB" sz="1400">
                <a:solidFill>
                  <a:srgbClr val="000000"/>
                </a:solidFill>
                <a:latin typeface="TW Cen MT"/>
                <a:cs typeface="Arial"/>
              </a:rPr>
              <a:t> </a:t>
            </a:r>
            <a:r>
              <a:rPr lang="en-US" sz="1400">
                <a:solidFill>
                  <a:srgbClr val="222222"/>
                </a:solidFill>
                <a:latin typeface="TW Cen MT"/>
                <a:cs typeface="Arial"/>
              </a:rPr>
              <a:t>(</a:t>
            </a:r>
            <a:r>
              <a:rPr lang="en-US" sz="1400" b="1">
                <a:solidFill>
                  <a:srgbClr val="222222"/>
                </a:solidFill>
                <a:latin typeface="TW Cen MT"/>
                <a:cs typeface="Arial"/>
              </a:rPr>
              <a:t>a</a:t>
            </a:r>
            <a:r>
              <a:rPr lang="en-US" sz="1400">
                <a:solidFill>
                  <a:srgbClr val="222222"/>
                </a:solidFill>
                <a:latin typeface="TW Cen MT"/>
                <a:cs typeface="Arial"/>
              </a:rPr>
              <a:t>) 3D view and (</a:t>
            </a:r>
            <a:r>
              <a:rPr lang="en-US" sz="1400" b="1">
                <a:solidFill>
                  <a:srgbClr val="222222"/>
                </a:solidFill>
                <a:latin typeface="TW Cen MT"/>
                <a:cs typeface="Arial"/>
              </a:rPr>
              <a:t>b</a:t>
            </a:r>
            <a:r>
              <a:rPr lang="en-US" sz="1400">
                <a:solidFill>
                  <a:srgbClr val="222222"/>
                </a:solidFill>
                <a:latin typeface="TW Cen MT"/>
                <a:cs typeface="Arial"/>
              </a:rPr>
              <a:t>) side view of the structure of bottom spacer </a:t>
            </a:r>
            <a:r>
              <a:rPr lang="en-US" sz="1400" err="1">
                <a:solidFill>
                  <a:srgbClr val="222222"/>
                </a:solidFill>
                <a:latin typeface="TW Cen MT"/>
                <a:cs typeface="Arial"/>
              </a:rPr>
              <a:t>FinFET</a:t>
            </a:r>
            <a:endParaRPr lang="en-US" sz="1400">
              <a:latin typeface="TW Cen MT"/>
            </a:endParaRPr>
          </a:p>
        </p:txBody>
      </p:sp>
    </p:spTree>
    <p:extLst>
      <p:ext uri="{BB962C8B-B14F-4D97-AF65-F5344CB8AC3E}">
        <p14:creationId xmlns:p14="http://schemas.microsoft.com/office/powerpoint/2010/main" val="477718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0DCB3-9ABF-4492-30B2-CE3E2690B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06943-6FAC-1749-F521-29D1CCC02B0D}"/>
              </a:ext>
            </a:extLst>
          </p:cNvPr>
          <p:cNvSpPr>
            <a:spLocks noGrp="1"/>
          </p:cNvSpPr>
          <p:nvPr>
            <p:ph type="title"/>
          </p:nvPr>
        </p:nvSpPr>
        <p:spPr>
          <a:xfrm>
            <a:off x="841876" y="3153528"/>
            <a:ext cx="10515600" cy="1032711"/>
          </a:xfrm>
        </p:spPr>
        <p:txBody>
          <a:bodyPr/>
          <a:lstStyle/>
          <a:p>
            <a:r>
              <a:rPr lang="en-US" err="1"/>
              <a:t>FinFET</a:t>
            </a:r>
            <a:endParaRPr lang="en-US"/>
          </a:p>
        </p:txBody>
      </p:sp>
      <p:sp>
        <p:nvSpPr>
          <p:cNvPr id="4" name="Date Placeholder 3">
            <a:extLst>
              <a:ext uri="{FF2B5EF4-FFF2-40B4-BE49-F238E27FC236}">
                <a16:creationId xmlns:a16="http://schemas.microsoft.com/office/drawing/2014/main" id="{51F85EE7-E8B0-7C67-171C-69D2533DE66D}"/>
              </a:ext>
            </a:extLst>
          </p:cNvPr>
          <p:cNvSpPr>
            <a:spLocks noGrp="1"/>
          </p:cNvSpPr>
          <p:nvPr>
            <p:ph type="dt" sz="half" idx="10"/>
          </p:nvPr>
        </p:nvSpPr>
        <p:spPr/>
        <p:txBody>
          <a:bodyPr/>
          <a:lstStyle/>
          <a:p>
            <a:fld id="{14159C97-EF52-44ED-A894-5C4F3F930411}" type="datetime3">
              <a:rPr lang="en-US" smtClean="0"/>
              <a:t>14 December 2025</a:t>
            </a:fld>
            <a:endParaRPr lang="en-US"/>
          </a:p>
        </p:txBody>
      </p:sp>
      <p:sp>
        <p:nvSpPr>
          <p:cNvPr id="5" name="Slide Number Placeholder 4">
            <a:extLst>
              <a:ext uri="{FF2B5EF4-FFF2-40B4-BE49-F238E27FC236}">
                <a16:creationId xmlns:a16="http://schemas.microsoft.com/office/drawing/2014/main" id="{471F8639-DB61-38CE-BDC7-EB69AFB4688B}"/>
              </a:ext>
            </a:extLst>
          </p:cNvPr>
          <p:cNvSpPr>
            <a:spLocks noGrp="1"/>
          </p:cNvSpPr>
          <p:nvPr>
            <p:ph type="sldNum" sz="quarter" idx="12"/>
          </p:nvPr>
        </p:nvSpPr>
        <p:spPr/>
        <p:txBody>
          <a:bodyPr/>
          <a:lstStyle/>
          <a:p>
            <a:fld id="{57CA127F-6BC0-40BB-9B02-66AE29583F1C}" type="slidenum">
              <a:rPr lang="en-US" smtClean="0"/>
              <a:t>11</a:t>
            </a:fld>
            <a:endParaRPr lang="en-US"/>
          </a:p>
        </p:txBody>
      </p:sp>
      <p:sp>
        <p:nvSpPr>
          <p:cNvPr id="7" name="Footer Placeholder 6">
            <a:extLst>
              <a:ext uri="{FF2B5EF4-FFF2-40B4-BE49-F238E27FC236}">
                <a16:creationId xmlns:a16="http://schemas.microsoft.com/office/drawing/2014/main" id="{ED6706FB-1ECD-777E-1474-9073C149A322}"/>
              </a:ext>
            </a:extLst>
          </p:cNvPr>
          <p:cNvSpPr>
            <a:spLocks noGrp="1"/>
          </p:cNvSpPr>
          <p:nvPr>
            <p:ph type="ftr" sz="quarter" idx="11"/>
          </p:nvPr>
        </p:nvSpPr>
        <p:spPr/>
        <p:txBody>
          <a:bodyPr/>
          <a:lstStyle/>
          <a:p>
            <a:r>
              <a:rPr lang="en-GB"/>
              <a:t>[116] Design of VLSI Systems ┃ Group 02</a:t>
            </a:r>
            <a:endParaRPr lang="en-US"/>
          </a:p>
        </p:txBody>
      </p:sp>
      <p:sp>
        <p:nvSpPr>
          <p:cNvPr id="8" name="Text Placeholder 2">
            <a:extLst>
              <a:ext uri="{FF2B5EF4-FFF2-40B4-BE49-F238E27FC236}">
                <a16:creationId xmlns:a16="http://schemas.microsoft.com/office/drawing/2014/main" id="{33D3B450-7F52-BC5D-BB0B-4C9688F714F7}"/>
              </a:ext>
            </a:extLst>
          </p:cNvPr>
          <p:cNvSpPr txBox="1">
            <a:spLocks/>
          </p:cNvSpPr>
          <p:nvPr/>
        </p:nvSpPr>
        <p:spPr>
          <a:xfrm>
            <a:off x="833855" y="4258428"/>
            <a:ext cx="10515600" cy="1903411"/>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marL="342900" indent="-342900">
              <a:buFont typeface="Arial" panose="020B0604020202020204" pitchFamily="34" charset="0"/>
              <a:buChar char="•"/>
            </a:pPr>
            <a:r>
              <a:rPr lang="en-US">
                <a:solidFill>
                  <a:schemeClr val="bg2">
                    <a:lumMod val="49000"/>
                  </a:schemeClr>
                </a:solidFill>
              </a:rPr>
              <a:t>Technology</a:t>
            </a:r>
            <a:r>
              <a:rPr lang="en-US" b="1">
                <a:solidFill>
                  <a:schemeClr val="bg2">
                    <a:lumMod val="49000"/>
                  </a:schemeClr>
                </a:solidFill>
              </a:rPr>
              <a:t> </a:t>
            </a:r>
            <a:r>
              <a:rPr lang="en-US">
                <a:solidFill>
                  <a:schemeClr val="bg2">
                    <a:lumMod val="49000"/>
                  </a:schemeClr>
                </a:solidFill>
                <a:latin typeface="TW Cen MT"/>
              </a:rPr>
              <a:t>overview</a:t>
            </a:r>
          </a:p>
          <a:p>
            <a:pPr marL="342900" indent="-342900">
              <a:buFont typeface="Arial" panose="020B0604020202020204" pitchFamily="34" charset="0"/>
              <a:buChar char="•"/>
            </a:pPr>
            <a:r>
              <a:rPr lang="en-GB">
                <a:solidFill>
                  <a:srgbClr val="727272"/>
                </a:solidFill>
                <a:latin typeface="Tw Cen MT" panose="020B0602020104020603"/>
              </a:rPr>
              <a:t>“</a:t>
            </a:r>
            <a:r>
              <a:rPr lang="en-US">
                <a:solidFill>
                  <a:schemeClr val="bg2">
                    <a:lumMod val="49000"/>
                  </a:schemeClr>
                </a:solidFill>
                <a:latin typeface="TW Cen MT"/>
              </a:rPr>
              <a:t>Comprehensive Review of </a:t>
            </a:r>
            <a:r>
              <a:rPr lang="en-US" err="1">
                <a:solidFill>
                  <a:schemeClr val="bg2">
                    <a:lumMod val="49000"/>
                  </a:schemeClr>
                </a:solidFill>
                <a:latin typeface="TW Cen MT"/>
              </a:rPr>
              <a:t>FinFET</a:t>
            </a:r>
            <a:r>
              <a:rPr lang="en-US">
                <a:solidFill>
                  <a:schemeClr val="bg2">
                    <a:lumMod val="49000"/>
                  </a:schemeClr>
                </a:solidFill>
                <a:latin typeface="TW Cen MT"/>
              </a:rPr>
              <a:t> Technology: History, Structure, Challenges, Innovations, and Emerging Sensing Applications</a:t>
            </a:r>
            <a:r>
              <a:rPr lang="en-GB">
                <a:solidFill>
                  <a:schemeClr val="bg2">
                    <a:lumMod val="49000"/>
                  </a:schemeClr>
                </a:solidFill>
              </a:rPr>
              <a:t>”, </a:t>
            </a:r>
            <a:r>
              <a:rPr lang="en-US">
                <a:solidFill>
                  <a:schemeClr val="bg2">
                    <a:lumMod val="49000"/>
                  </a:schemeClr>
                </a:solidFill>
              </a:rPr>
              <a:t>K. Karimi et al. [1</a:t>
            </a:r>
            <a:r>
              <a:rPr lang="en-US">
                <a:solidFill>
                  <a:srgbClr val="727272"/>
                </a:solidFill>
              </a:rPr>
              <a:t>]</a:t>
            </a:r>
          </a:p>
          <a:p>
            <a:pPr marL="342900" indent="-342900">
              <a:lnSpc>
                <a:spcPct val="80000"/>
              </a:lnSpc>
              <a:buFont typeface="Arial,Sans-Serif" panose="020B0604020202020204" pitchFamily="34" charset="0"/>
              <a:buChar char="•"/>
            </a:pPr>
            <a:r>
              <a:rPr lang="en-US" b="1">
                <a:solidFill>
                  <a:schemeClr val="tx1"/>
                </a:solidFill>
                <a:latin typeface="TW Cen MT"/>
              </a:rPr>
              <a:t>“</a:t>
            </a:r>
            <a:r>
              <a:rPr lang="en-US" b="1" err="1">
                <a:solidFill>
                  <a:schemeClr val="tx1"/>
                </a:solidFill>
                <a:latin typeface="TW Cen MT"/>
              </a:rPr>
              <a:t>FinFET</a:t>
            </a:r>
            <a:r>
              <a:rPr lang="en-US" b="1">
                <a:solidFill>
                  <a:schemeClr val="tx1"/>
                </a:solidFill>
                <a:latin typeface="TW Cen MT"/>
              </a:rPr>
              <a:t> to GAA MBCFET: A Review and Insights</a:t>
            </a:r>
            <a:r>
              <a:rPr lang="en-GB" b="1">
                <a:solidFill>
                  <a:schemeClr val="tx1"/>
                </a:solidFill>
                <a:latin typeface="TW Cen MT"/>
              </a:rPr>
              <a:t>”, </a:t>
            </a:r>
            <a:r>
              <a:rPr lang="en-US" b="1">
                <a:solidFill>
                  <a:schemeClr val="tx1"/>
                </a:solidFill>
                <a:latin typeface="TW Cen MT"/>
              </a:rPr>
              <a:t>R. R. Das et al. [2]</a:t>
            </a:r>
            <a:endParaRPr lang="en-US">
              <a:solidFill>
                <a:schemeClr val="tx1"/>
              </a:solidFill>
              <a:latin typeface="TW Cen MT"/>
            </a:endParaRPr>
          </a:p>
          <a:p>
            <a:endParaRPr lang="en-US">
              <a:solidFill>
                <a:srgbClr val="727272"/>
              </a:solidFill>
            </a:endParaRPr>
          </a:p>
        </p:txBody>
      </p:sp>
    </p:spTree>
    <p:extLst>
      <p:ext uri="{BB962C8B-B14F-4D97-AF65-F5344CB8AC3E}">
        <p14:creationId xmlns:p14="http://schemas.microsoft.com/office/powerpoint/2010/main" val="3892968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01AEB-034E-DB69-E9D5-04FB459B78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6AC7CD-FA46-CB1E-901B-43F57D779245}"/>
              </a:ext>
            </a:extLst>
          </p:cNvPr>
          <p:cNvSpPr>
            <a:spLocks noGrp="1"/>
          </p:cNvSpPr>
          <p:nvPr>
            <p:ph type="title"/>
          </p:nvPr>
        </p:nvSpPr>
        <p:spPr>
          <a:xfrm>
            <a:off x="776288" y="147411"/>
            <a:ext cx="10639425" cy="1325563"/>
          </a:xfrm>
        </p:spPr>
        <p:txBody>
          <a:bodyPr anchor="ctr">
            <a:normAutofit/>
          </a:bodyPr>
          <a:lstStyle/>
          <a:p>
            <a:r>
              <a:rPr lang="en-US">
                <a:ea typeface="+mj-lt"/>
                <a:cs typeface="+mj-lt"/>
              </a:rPr>
              <a:t>Multi-Fin </a:t>
            </a:r>
            <a:r>
              <a:rPr lang="en-US" err="1">
                <a:ea typeface="+mj-lt"/>
                <a:cs typeface="+mj-lt"/>
              </a:rPr>
              <a:t>FinFET</a:t>
            </a:r>
          </a:p>
        </p:txBody>
      </p:sp>
      <p:sp>
        <p:nvSpPr>
          <p:cNvPr id="5" name="Date Placeholder 4">
            <a:extLst>
              <a:ext uri="{FF2B5EF4-FFF2-40B4-BE49-F238E27FC236}">
                <a16:creationId xmlns:a16="http://schemas.microsoft.com/office/drawing/2014/main" id="{E8EB7B4D-CB5F-6DE2-4A1D-B6774E3CD022}"/>
              </a:ext>
            </a:extLst>
          </p:cNvPr>
          <p:cNvSpPr>
            <a:spLocks noGrp="1"/>
          </p:cNvSpPr>
          <p:nvPr>
            <p:ph type="dt" sz="half" idx="10"/>
          </p:nvPr>
        </p:nvSpPr>
        <p:spPr>
          <a:xfrm>
            <a:off x="838200" y="6492875"/>
            <a:ext cx="2743200" cy="365125"/>
          </a:xfrm>
        </p:spPr>
        <p:txBody>
          <a:bodyPr anchor="ctr">
            <a:normAutofit/>
          </a:bodyPr>
          <a:lstStyle/>
          <a:p>
            <a:pPr>
              <a:spcAft>
                <a:spcPts val="600"/>
              </a:spcAft>
            </a:pPr>
            <a:fld id="{0E53D1C4-5FEF-464B-AFAA-A733CD43D057}" type="datetime3">
              <a:rPr lang="en-US" smtClean="0"/>
              <a:pPr>
                <a:spcAft>
                  <a:spcPts val="600"/>
                </a:spcAft>
              </a:pPr>
              <a:t>14 December 2025</a:t>
            </a:fld>
            <a:endParaRPr lang="en-US"/>
          </a:p>
        </p:txBody>
      </p:sp>
      <p:sp>
        <p:nvSpPr>
          <p:cNvPr id="6" name="Footer Placeholder 5">
            <a:extLst>
              <a:ext uri="{FF2B5EF4-FFF2-40B4-BE49-F238E27FC236}">
                <a16:creationId xmlns:a16="http://schemas.microsoft.com/office/drawing/2014/main" id="{937DFF9D-0F1E-97A9-FE9E-4504EEB7A46E}"/>
              </a:ext>
            </a:extLst>
          </p:cNvPr>
          <p:cNvSpPr>
            <a:spLocks noGrp="1"/>
          </p:cNvSpPr>
          <p:nvPr>
            <p:ph type="ftr" sz="quarter" idx="11"/>
          </p:nvPr>
        </p:nvSpPr>
        <p:spPr>
          <a:xfrm>
            <a:off x="4038600" y="6492875"/>
            <a:ext cx="4114800" cy="365125"/>
          </a:xfrm>
        </p:spPr>
        <p:txBody>
          <a:bodyPr anchor="ctr">
            <a:normAutofit/>
          </a:bodyPr>
          <a:lstStyle/>
          <a:p>
            <a:pPr>
              <a:spcAft>
                <a:spcPts val="600"/>
              </a:spcAft>
            </a:pPr>
            <a:r>
              <a:rPr lang="en-GB"/>
              <a:t>[116] Design of VLSI Systems ┃ Group 02</a:t>
            </a:r>
            <a:endParaRPr lang="en-US"/>
          </a:p>
        </p:txBody>
      </p:sp>
      <p:sp>
        <p:nvSpPr>
          <p:cNvPr id="7" name="Slide Number Placeholder 6">
            <a:extLst>
              <a:ext uri="{FF2B5EF4-FFF2-40B4-BE49-F238E27FC236}">
                <a16:creationId xmlns:a16="http://schemas.microsoft.com/office/drawing/2014/main" id="{B72FDC5B-2707-0C0E-49F9-92785F00EF57}"/>
              </a:ext>
            </a:extLst>
          </p:cNvPr>
          <p:cNvSpPr>
            <a:spLocks noGrp="1"/>
          </p:cNvSpPr>
          <p:nvPr>
            <p:ph type="sldNum" sz="quarter" idx="12"/>
          </p:nvPr>
        </p:nvSpPr>
        <p:spPr>
          <a:xfrm>
            <a:off x="8610600" y="6492875"/>
            <a:ext cx="2743200" cy="365125"/>
          </a:xfrm>
        </p:spPr>
        <p:txBody>
          <a:bodyPr anchor="ctr">
            <a:normAutofit/>
          </a:bodyPr>
          <a:lstStyle/>
          <a:p>
            <a:pPr>
              <a:spcAft>
                <a:spcPts val="600"/>
              </a:spcAft>
            </a:pPr>
            <a:fld id="{57CA127F-6BC0-40BB-9B02-66AE29583F1C}" type="slidenum">
              <a:rPr lang="en-US" smtClean="0"/>
              <a:pPr>
                <a:spcAft>
                  <a:spcPts val="600"/>
                </a:spcAft>
              </a:pPr>
              <a:t>12</a:t>
            </a:fld>
            <a:endParaRPr lang="en-US"/>
          </a:p>
        </p:txBody>
      </p:sp>
      <p:sp>
        <p:nvSpPr>
          <p:cNvPr id="9" name="Content Placeholder 8">
            <a:extLst>
              <a:ext uri="{FF2B5EF4-FFF2-40B4-BE49-F238E27FC236}">
                <a16:creationId xmlns:a16="http://schemas.microsoft.com/office/drawing/2014/main" id="{22449455-8AD2-76E0-AEE3-4FA3D5A31682}"/>
              </a:ext>
            </a:extLst>
          </p:cNvPr>
          <p:cNvSpPr>
            <a:spLocks noGrp="1"/>
          </p:cNvSpPr>
          <p:nvPr>
            <p:ph sz="half" idx="2"/>
          </p:nvPr>
        </p:nvSpPr>
        <p:spPr>
          <a:xfrm>
            <a:off x="6973785" y="1755240"/>
            <a:ext cx="4676900" cy="3351831"/>
          </a:xfrm>
        </p:spPr>
        <p:txBody>
          <a:bodyPr vert="horz" lIns="91440" tIns="45720" rIns="91440" bIns="45720" rtlCol="0" anchor="t">
            <a:normAutofit/>
          </a:bodyPr>
          <a:lstStyle/>
          <a:p>
            <a:r>
              <a:rPr lang="en-US" sz="2400">
                <a:ea typeface="+mn-lt"/>
                <a:cs typeface="+mn-lt"/>
              </a:rPr>
              <a:t>Multiple ‘‘fins’’ or channels // between the </a:t>
            </a:r>
            <a:r>
              <a:rPr lang="en-US" sz="2400" b="1">
                <a:ea typeface="+mn-lt"/>
                <a:cs typeface="+mn-lt"/>
              </a:rPr>
              <a:t>Source </a:t>
            </a:r>
            <a:r>
              <a:rPr lang="en-US" sz="2400">
                <a:ea typeface="+mn-lt"/>
                <a:cs typeface="+mn-lt"/>
              </a:rPr>
              <a:t>and </a:t>
            </a:r>
            <a:r>
              <a:rPr lang="en-US" sz="2400" b="1">
                <a:ea typeface="+mn-lt"/>
                <a:cs typeface="+mn-lt"/>
              </a:rPr>
              <a:t>Drain</a:t>
            </a:r>
            <a:endParaRPr lang="en-US"/>
          </a:p>
          <a:p>
            <a:r>
              <a:rPr lang="en-US" sz="2400">
                <a:ea typeface="+mn-lt"/>
                <a:cs typeface="+mn-lt"/>
              </a:rPr>
              <a:t>Higher number of charge carriers traverse from source to drain simultaneously </a:t>
            </a:r>
            <a:r>
              <a:rPr lang="en-US" sz="2200">
                <a:latin typeface="TW Cen MT"/>
                <a:ea typeface="+mn-lt"/>
                <a:cs typeface="+mn-lt"/>
              </a:rPr>
              <a:t>→ </a:t>
            </a:r>
            <a:r>
              <a:rPr lang="en-US" sz="2400" b="1">
                <a:latin typeface="TW Cen MT"/>
                <a:ea typeface="+mn-lt"/>
                <a:cs typeface="+mn-lt"/>
              </a:rPr>
              <a:t>enhanced speed</a:t>
            </a:r>
            <a:endParaRPr lang="en-US" sz="2400" b="1"/>
          </a:p>
          <a:p>
            <a:r>
              <a:rPr lang="en-US" sz="2400" b="1"/>
              <a:t>Industry Standard</a:t>
            </a:r>
          </a:p>
          <a:p>
            <a:endParaRPr lang="en-US" sz="2400"/>
          </a:p>
          <a:p>
            <a:endParaRPr lang="en-US" sz="2400"/>
          </a:p>
        </p:txBody>
      </p:sp>
      <p:sp>
        <p:nvSpPr>
          <p:cNvPr id="12" name="TextBox 11">
            <a:extLst>
              <a:ext uri="{FF2B5EF4-FFF2-40B4-BE49-F238E27FC236}">
                <a16:creationId xmlns:a16="http://schemas.microsoft.com/office/drawing/2014/main" id="{BD03C794-4E5F-537B-61E7-420535E01527}"/>
              </a:ext>
            </a:extLst>
          </p:cNvPr>
          <p:cNvSpPr txBox="1"/>
          <p:nvPr/>
        </p:nvSpPr>
        <p:spPr>
          <a:xfrm>
            <a:off x="571461" y="5077721"/>
            <a:ext cx="5338272"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a:solidFill>
                  <a:srgbClr val="000000"/>
                </a:solidFill>
                <a:latin typeface="TW Cen MT"/>
                <a:cs typeface="Arial"/>
              </a:rPr>
              <a:t>Figure FinFET.10:</a:t>
            </a:r>
            <a:r>
              <a:rPr lang="en-GB" sz="1400">
                <a:solidFill>
                  <a:srgbClr val="000000"/>
                </a:solidFill>
                <a:latin typeface="TW Cen MT"/>
                <a:cs typeface="Arial"/>
              </a:rPr>
              <a:t> </a:t>
            </a:r>
            <a:r>
              <a:rPr lang="en-US" sz="1400">
                <a:solidFill>
                  <a:srgbClr val="222222"/>
                </a:solidFill>
                <a:latin typeface="TW Cen MT"/>
                <a:cs typeface="Arial"/>
              </a:rPr>
              <a:t>Schematic diagram of M-</a:t>
            </a:r>
            <a:r>
              <a:rPr lang="en-US" sz="1400" err="1">
                <a:solidFill>
                  <a:srgbClr val="222222"/>
                </a:solidFill>
                <a:latin typeface="TW Cen MT"/>
                <a:cs typeface="Arial"/>
              </a:rPr>
              <a:t>FinFET</a:t>
            </a:r>
            <a:r>
              <a:rPr lang="en-US" sz="1400">
                <a:solidFill>
                  <a:srgbClr val="222222"/>
                </a:solidFill>
                <a:latin typeface="TW Cen MT"/>
                <a:cs typeface="Arial"/>
              </a:rPr>
              <a:t>. </a:t>
            </a:r>
            <a:r>
              <a:rPr lang="en-US" sz="1400">
                <a:solidFill>
                  <a:srgbClr val="000000"/>
                </a:solidFill>
                <a:latin typeface="TW Cen MT"/>
                <a:cs typeface="Arial"/>
              </a:rPr>
              <a:t>Figure taken from </a:t>
            </a:r>
            <a:r>
              <a:rPr lang="en-US" sz="1400">
                <a:solidFill>
                  <a:srgbClr val="333333"/>
                </a:solidFill>
                <a:latin typeface="TW Cen MT"/>
                <a:cs typeface="Arial"/>
              </a:rPr>
              <a:t>R. R. Das, T. R. </a:t>
            </a:r>
            <a:r>
              <a:rPr lang="en-US" sz="1400" err="1">
                <a:solidFill>
                  <a:srgbClr val="333333"/>
                </a:solidFill>
                <a:latin typeface="TW Cen MT"/>
                <a:cs typeface="Arial"/>
              </a:rPr>
              <a:t>Rajalekshmi</a:t>
            </a:r>
            <a:r>
              <a:rPr lang="en-US" sz="1400">
                <a:solidFill>
                  <a:srgbClr val="333333"/>
                </a:solidFill>
                <a:latin typeface="TW Cen MT"/>
                <a:cs typeface="Arial"/>
              </a:rPr>
              <a:t> and A. James, "</a:t>
            </a:r>
            <a:r>
              <a:rPr lang="en-US" sz="1400" err="1">
                <a:solidFill>
                  <a:srgbClr val="333333"/>
                </a:solidFill>
                <a:latin typeface="TW Cen MT"/>
                <a:cs typeface="Arial"/>
              </a:rPr>
              <a:t>FinFET</a:t>
            </a:r>
            <a:r>
              <a:rPr lang="en-US" sz="1400">
                <a:solidFill>
                  <a:srgbClr val="333333"/>
                </a:solidFill>
                <a:latin typeface="TW Cen MT"/>
                <a:cs typeface="Arial"/>
              </a:rPr>
              <a:t> to GAA MBCFET: A Review and Insights," in </a:t>
            </a:r>
            <a:r>
              <a:rPr lang="en-US" sz="1400" i="1">
                <a:solidFill>
                  <a:srgbClr val="333333"/>
                </a:solidFill>
                <a:latin typeface="TW Cen MT"/>
                <a:cs typeface="Arial"/>
              </a:rPr>
              <a:t>IEEE Access</a:t>
            </a:r>
            <a:r>
              <a:rPr lang="en-US" sz="1400">
                <a:solidFill>
                  <a:srgbClr val="333333"/>
                </a:solidFill>
                <a:latin typeface="TW Cen MT"/>
                <a:cs typeface="Arial"/>
              </a:rPr>
              <a:t>, vol. 12, pp. 50556-50577, 2024, </a:t>
            </a:r>
            <a:r>
              <a:rPr lang="en-US" sz="1400" err="1">
                <a:solidFill>
                  <a:srgbClr val="333333"/>
                </a:solidFill>
                <a:latin typeface="TW Cen MT"/>
                <a:cs typeface="Arial"/>
              </a:rPr>
              <a:t>doi</a:t>
            </a:r>
            <a:r>
              <a:rPr lang="en-US" sz="1400">
                <a:solidFill>
                  <a:srgbClr val="333333"/>
                </a:solidFill>
                <a:latin typeface="TW Cen MT"/>
                <a:cs typeface="Arial"/>
              </a:rPr>
              <a:t>: 10.1109/ACCESS.2024.3384428.</a:t>
            </a:r>
            <a:r>
              <a:rPr lang="en-US" sz="1400">
                <a:solidFill>
                  <a:srgbClr val="000000"/>
                </a:solidFill>
                <a:latin typeface="TW Cen MT"/>
                <a:cs typeface="Arial"/>
              </a:rPr>
              <a:t> </a:t>
            </a:r>
          </a:p>
          <a:p>
            <a:endParaRPr lang="en-US" sz="1400">
              <a:solidFill>
                <a:srgbClr val="222222"/>
              </a:solidFill>
              <a:latin typeface="TW Cen MT"/>
              <a:cs typeface="Arial"/>
            </a:endParaRPr>
          </a:p>
        </p:txBody>
      </p:sp>
      <p:pic>
        <p:nvPicPr>
          <p:cNvPr id="3" name="Picture 2" descr="A diagram of a structure&#10;&#10;AI-generated content may be incorrect.">
            <a:extLst>
              <a:ext uri="{FF2B5EF4-FFF2-40B4-BE49-F238E27FC236}">
                <a16:creationId xmlns:a16="http://schemas.microsoft.com/office/drawing/2014/main" id="{4840814D-666D-1A7F-7161-D30CACBF9347}"/>
              </a:ext>
            </a:extLst>
          </p:cNvPr>
          <p:cNvPicPr>
            <a:picLocks noChangeAspect="1"/>
          </p:cNvPicPr>
          <p:nvPr/>
        </p:nvPicPr>
        <p:blipFill>
          <a:blip r:embed="rId3"/>
          <a:stretch>
            <a:fillRect/>
          </a:stretch>
        </p:blipFill>
        <p:spPr>
          <a:xfrm>
            <a:off x="660797" y="1726406"/>
            <a:ext cx="5155407" cy="2946798"/>
          </a:xfrm>
          <a:prstGeom prst="rect">
            <a:avLst/>
          </a:prstGeom>
        </p:spPr>
      </p:pic>
    </p:spTree>
    <p:extLst>
      <p:ext uri="{BB962C8B-B14F-4D97-AF65-F5344CB8AC3E}">
        <p14:creationId xmlns:p14="http://schemas.microsoft.com/office/powerpoint/2010/main" val="2721700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B8F18-3B3C-89A0-D756-186200B7C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5C2865-5268-2635-87CE-1160F51EBF45}"/>
              </a:ext>
            </a:extLst>
          </p:cNvPr>
          <p:cNvSpPr>
            <a:spLocks noGrp="1"/>
          </p:cNvSpPr>
          <p:nvPr>
            <p:ph type="title"/>
          </p:nvPr>
        </p:nvSpPr>
        <p:spPr>
          <a:xfrm>
            <a:off x="776288" y="147411"/>
            <a:ext cx="10639425" cy="1325563"/>
          </a:xfrm>
        </p:spPr>
        <p:txBody>
          <a:bodyPr anchor="ctr">
            <a:normAutofit/>
          </a:bodyPr>
          <a:lstStyle/>
          <a:p>
            <a:r>
              <a:rPr lang="en-US"/>
              <a:t>Motivation: Limitations of Planar MOSFETs</a:t>
            </a:r>
          </a:p>
        </p:txBody>
      </p:sp>
      <p:sp>
        <p:nvSpPr>
          <p:cNvPr id="5" name="Date Placeholder 4">
            <a:extLst>
              <a:ext uri="{FF2B5EF4-FFF2-40B4-BE49-F238E27FC236}">
                <a16:creationId xmlns:a16="http://schemas.microsoft.com/office/drawing/2014/main" id="{3C481F90-8E96-2967-913E-B57C1B1A0C2D}"/>
              </a:ext>
            </a:extLst>
          </p:cNvPr>
          <p:cNvSpPr>
            <a:spLocks noGrp="1"/>
          </p:cNvSpPr>
          <p:nvPr>
            <p:ph type="dt" sz="half" idx="10"/>
          </p:nvPr>
        </p:nvSpPr>
        <p:spPr>
          <a:xfrm>
            <a:off x="838200" y="6492875"/>
            <a:ext cx="2743200" cy="365125"/>
          </a:xfrm>
        </p:spPr>
        <p:txBody>
          <a:bodyPr anchor="ctr">
            <a:normAutofit/>
          </a:bodyPr>
          <a:lstStyle/>
          <a:p>
            <a:pPr>
              <a:spcAft>
                <a:spcPts val="600"/>
              </a:spcAft>
            </a:pPr>
            <a:fld id="{0E53D1C4-5FEF-464B-AFAA-A733CD43D057}" type="datetime3">
              <a:rPr lang="en-US" smtClean="0"/>
              <a:pPr>
                <a:spcAft>
                  <a:spcPts val="600"/>
                </a:spcAft>
              </a:pPr>
              <a:t>14 December 2025</a:t>
            </a:fld>
            <a:endParaRPr lang="en-US"/>
          </a:p>
        </p:txBody>
      </p:sp>
      <p:sp>
        <p:nvSpPr>
          <p:cNvPr id="6" name="Footer Placeholder 5">
            <a:extLst>
              <a:ext uri="{FF2B5EF4-FFF2-40B4-BE49-F238E27FC236}">
                <a16:creationId xmlns:a16="http://schemas.microsoft.com/office/drawing/2014/main" id="{BDC662E1-B0BD-8BF5-5853-09FE03C4FF79}"/>
              </a:ext>
            </a:extLst>
          </p:cNvPr>
          <p:cNvSpPr>
            <a:spLocks noGrp="1"/>
          </p:cNvSpPr>
          <p:nvPr>
            <p:ph type="ftr" sz="quarter" idx="11"/>
          </p:nvPr>
        </p:nvSpPr>
        <p:spPr>
          <a:xfrm>
            <a:off x="4038600" y="6492875"/>
            <a:ext cx="4114800" cy="365125"/>
          </a:xfrm>
        </p:spPr>
        <p:txBody>
          <a:bodyPr anchor="ctr">
            <a:normAutofit/>
          </a:bodyPr>
          <a:lstStyle/>
          <a:p>
            <a:pPr>
              <a:spcAft>
                <a:spcPts val="600"/>
              </a:spcAft>
            </a:pPr>
            <a:r>
              <a:rPr lang="en-GB"/>
              <a:t>[116] Design of VLSI Systems ┃ Group 02</a:t>
            </a:r>
            <a:endParaRPr lang="en-US"/>
          </a:p>
        </p:txBody>
      </p:sp>
      <p:sp>
        <p:nvSpPr>
          <p:cNvPr id="7" name="Slide Number Placeholder 6">
            <a:extLst>
              <a:ext uri="{FF2B5EF4-FFF2-40B4-BE49-F238E27FC236}">
                <a16:creationId xmlns:a16="http://schemas.microsoft.com/office/drawing/2014/main" id="{2E591177-350D-F1D1-8D51-60504D6F6346}"/>
              </a:ext>
            </a:extLst>
          </p:cNvPr>
          <p:cNvSpPr>
            <a:spLocks noGrp="1"/>
          </p:cNvSpPr>
          <p:nvPr>
            <p:ph type="sldNum" sz="quarter" idx="12"/>
          </p:nvPr>
        </p:nvSpPr>
        <p:spPr>
          <a:xfrm>
            <a:off x="8610600" y="6492875"/>
            <a:ext cx="2743200" cy="365125"/>
          </a:xfrm>
        </p:spPr>
        <p:txBody>
          <a:bodyPr anchor="ctr">
            <a:normAutofit/>
          </a:bodyPr>
          <a:lstStyle/>
          <a:p>
            <a:pPr>
              <a:spcAft>
                <a:spcPts val="600"/>
              </a:spcAft>
            </a:pPr>
            <a:fld id="{57CA127F-6BC0-40BB-9B02-66AE29583F1C}" type="slidenum">
              <a:rPr lang="en-US" smtClean="0"/>
              <a:pPr>
                <a:spcAft>
                  <a:spcPts val="600"/>
                </a:spcAft>
              </a:pPr>
              <a:t>13</a:t>
            </a:fld>
            <a:endParaRPr lang="en-US"/>
          </a:p>
        </p:txBody>
      </p:sp>
      <p:sp>
        <p:nvSpPr>
          <p:cNvPr id="25" name="TextBox 24">
            <a:extLst>
              <a:ext uri="{FF2B5EF4-FFF2-40B4-BE49-F238E27FC236}">
                <a16:creationId xmlns:a16="http://schemas.microsoft.com/office/drawing/2014/main" id="{F469F343-6B9E-522F-B40C-BA576C7D7308}"/>
              </a:ext>
            </a:extLst>
          </p:cNvPr>
          <p:cNvSpPr txBox="1"/>
          <p:nvPr/>
        </p:nvSpPr>
        <p:spPr>
          <a:xfrm>
            <a:off x="699655" y="4050246"/>
            <a:ext cx="2632190" cy="523220"/>
          </a:xfrm>
          <a:prstGeom prst="rect">
            <a:avLst/>
          </a:prstGeom>
          <a:noFill/>
        </p:spPr>
        <p:txBody>
          <a:bodyPr wrap="square" lIns="91440" tIns="45720" rIns="91440" bIns="45720" rtlCol="0" anchor="t">
            <a:spAutoFit/>
          </a:bodyPr>
          <a:lstStyle/>
          <a:p>
            <a:r>
              <a:rPr lang="en-GB" sz="1400" b="1"/>
              <a:t>Figure FinFET.11:</a:t>
            </a:r>
            <a:r>
              <a:rPr lang="en-GB" sz="1400"/>
              <a:t> </a:t>
            </a:r>
            <a:r>
              <a:rPr lang="en-GB" sz="1400">
                <a:ea typeface="+mn-lt"/>
                <a:cs typeface="+mn-lt"/>
              </a:rPr>
              <a:t>The planar MOSFET semiconductor device</a:t>
            </a:r>
            <a:r>
              <a:rPr lang="en-US" sz="1400">
                <a:ea typeface="+mn-lt"/>
                <a:cs typeface="+mn-lt"/>
              </a:rPr>
              <a:t>.</a:t>
            </a:r>
            <a:r>
              <a:rPr lang="en-US" sz="1400"/>
              <a:t> </a:t>
            </a:r>
          </a:p>
        </p:txBody>
      </p:sp>
      <p:sp>
        <p:nvSpPr>
          <p:cNvPr id="9" name="Content Placeholder 8">
            <a:extLst>
              <a:ext uri="{FF2B5EF4-FFF2-40B4-BE49-F238E27FC236}">
                <a16:creationId xmlns:a16="http://schemas.microsoft.com/office/drawing/2014/main" id="{4A7DC9C5-E50E-C6BF-03ED-590D5C552372}"/>
              </a:ext>
            </a:extLst>
          </p:cNvPr>
          <p:cNvSpPr>
            <a:spLocks noGrp="1"/>
          </p:cNvSpPr>
          <p:nvPr>
            <p:ph sz="half" idx="2"/>
          </p:nvPr>
        </p:nvSpPr>
        <p:spPr>
          <a:xfrm>
            <a:off x="6973785" y="1726665"/>
            <a:ext cx="4676900" cy="3351831"/>
          </a:xfrm>
        </p:spPr>
        <p:txBody>
          <a:bodyPr vert="horz" lIns="91440" tIns="45720" rIns="91440" bIns="45720" rtlCol="0" anchor="t">
            <a:normAutofit/>
          </a:bodyPr>
          <a:lstStyle/>
          <a:p>
            <a:r>
              <a:rPr lang="en-US" sz="2400"/>
              <a:t>At &lt; 32nm: strong SCE, leakage currents </a:t>
            </a:r>
            <a:r>
              <a:rPr lang="en-US" sz="2400">
                <a:ea typeface="+mn-lt"/>
                <a:cs typeface="+mn-lt"/>
              </a:rPr>
              <a:t>↑, threshold voltage variation ↑</a:t>
            </a:r>
            <a:endParaRPr lang="en-US"/>
          </a:p>
          <a:p>
            <a:r>
              <a:rPr lang="en-US" sz="2400">
                <a:ea typeface="+mn-lt"/>
                <a:cs typeface="+mn-lt"/>
              </a:rPr>
              <a:t>Gate control weak → poor electrostatics and power inefficiency</a:t>
            </a:r>
            <a:endParaRPr lang="en-US" sz="2400"/>
          </a:p>
          <a:p>
            <a:r>
              <a:rPr lang="en-US" sz="2400">
                <a:ea typeface="+mn-lt"/>
                <a:cs typeface="+mn-lt"/>
              </a:rPr>
              <a:t>Need for multi-gate structures (</a:t>
            </a:r>
            <a:r>
              <a:rPr lang="en-US" sz="2400" err="1">
                <a:ea typeface="+mn-lt"/>
                <a:cs typeface="+mn-lt"/>
              </a:rPr>
              <a:t>MuGFETs</a:t>
            </a:r>
            <a:r>
              <a:rPr lang="en-US" sz="2400">
                <a:ea typeface="+mn-lt"/>
                <a:cs typeface="+mn-lt"/>
              </a:rPr>
              <a:t>)</a:t>
            </a:r>
            <a:endParaRPr lang="en-US" sz="2400"/>
          </a:p>
        </p:txBody>
      </p:sp>
      <p:pic>
        <p:nvPicPr>
          <p:cNvPr id="4" name="Picture 3" descr="A diagram of a metal gate&#10;&#10;AI-generated content may be incorrect.">
            <a:extLst>
              <a:ext uri="{FF2B5EF4-FFF2-40B4-BE49-F238E27FC236}">
                <a16:creationId xmlns:a16="http://schemas.microsoft.com/office/drawing/2014/main" id="{9368B21B-FEEE-09E4-2D5E-B8991F110A0D}"/>
              </a:ext>
            </a:extLst>
          </p:cNvPr>
          <p:cNvPicPr>
            <a:picLocks noChangeAspect="1"/>
          </p:cNvPicPr>
          <p:nvPr/>
        </p:nvPicPr>
        <p:blipFill>
          <a:blip r:embed="rId3"/>
          <a:stretch>
            <a:fillRect/>
          </a:stretch>
        </p:blipFill>
        <p:spPr>
          <a:xfrm>
            <a:off x="698987" y="1816635"/>
            <a:ext cx="2949452" cy="1801537"/>
          </a:xfrm>
          <a:prstGeom prst="rect">
            <a:avLst/>
          </a:prstGeom>
        </p:spPr>
      </p:pic>
      <p:pic>
        <p:nvPicPr>
          <p:cNvPr id="8" name="Picture 7" descr="A diagram of a structure&#10;&#10;AI-generated content may be incorrect.">
            <a:extLst>
              <a:ext uri="{FF2B5EF4-FFF2-40B4-BE49-F238E27FC236}">
                <a16:creationId xmlns:a16="http://schemas.microsoft.com/office/drawing/2014/main" id="{BD7578D4-25F3-25E7-0784-B25F1D0BC5B2}"/>
              </a:ext>
            </a:extLst>
          </p:cNvPr>
          <p:cNvPicPr>
            <a:picLocks noChangeAspect="1"/>
          </p:cNvPicPr>
          <p:nvPr/>
        </p:nvPicPr>
        <p:blipFill>
          <a:blip r:embed="rId4"/>
          <a:stretch>
            <a:fillRect/>
          </a:stretch>
        </p:blipFill>
        <p:spPr>
          <a:xfrm>
            <a:off x="4314020" y="1502351"/>
            <a:ext cx="1792558" cy="2121479"/>
          </a:xfrm>
          <a:prstGeom prst="rect">
            <a:avLst/>
          </a:prstGeom>
        </p:spPr>
      </p:pic>
      <p:sp>
        <p:nvSpPr>
          <p:cNvPr id="10" name="TextBox 9">
            <a:extLst>
              <a:ext uri="{FF2B5EF4-FFF2-40B4-BE49-F238E27FC236}">
                <a16:creationId xmlns:a16="http://schemas.microsoft.com/office/drawing/2014/main" id="{91C809EA-E73F-E928-7E79-CE63F0CCE37D}"/>
              </a:ext>
            </a:extLst>
          </p:cNvPr>
          <p:cNvSpPr txBox="1"/>
          <p:nvPr/>
        </p:nvSpPr>
        <p:spPr>
          <a:xfrm>
            <a:off x="702623" y="4799610"/>
            <a:ext cx="596734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TW Cen MT"/>
              </a:rPr>
              <a:t>Figures taken from </a:t>
            </a:r>
            <a:r>
              <a:rPr lang="en-US" sz="1400">
                <a:solidFill>
                  <a:srgbClr val="333333"/>
                </a:solidFill>
                <a:latin typeface="TW Cen MT"/>
                <a:ea typeface="+mn-lt"/>
                <a:cs typeface="+mn-lt"/>
              </a:rPr>
              <a:t>R. R. Das, T. R. </a:t>
            </a:r>
            <a:r>
              <a:rPr lang="en-US" sz="1400" err="1">
                <a:solidFill>
                  <a:srgbClr val="333333"/>
                </a:solidFill>
                <a:latin typeface="TW Cen MT"/>
                <a:ea typeface="+mn-lt"/>
                <a:cs typeface="+mn-lt"/>
              </a:rPr>
              <a:t>Rajalekshmi</a:t>
            </a:r>
            <a:r>
              <a:rPr lang="en-US" sz="1400">
                <a:solidFill>
                  <a:srgbClr val="333333"/>
                </a:solidFill>
                <a:latin typeface="TW Cen MT"/>
                <a:ea typeface="+mn-lt"/>
                <a:cs typeface="+mn-lt"/>
              </a:rPr>
              <a:t> and A. James, "</a:t>
            </a:r>
            <a:r>
              <a:rPr lang="en-US" sz="1400" err="1">
                <a:solidFill>
                  <a:srgbClr val="333333"/>
                </a:solidFill>
                <a:latin typeface="TW Cen MT"/>
                <a:ea typeface="+mn-lt"/>
                <a:cs typeface="+mn-lt"/>
              </a:rPr>
              <a:t>FinFET</a:t>
            </a:r>
            <a:r>
              <a:rPr lang="en-US" sz="1400">
                <a:solidFill>
                  <a:srgbClr val="333333"/>
                </a:solidFill>
                <a:latin typeface="TW Cen MT"/>
                <a:ea typeface="+mn-lt"/>
                <a:cs typeface="+mn-lt"/>
              </a:rPr>
              <a:t> to GAA MBCFET: A Review and Insights," in </a:t>
            </a:r>
            <a:r>
              <a:rPr lang="en-US" sz="1400" i="1">
                <a:solidFill>
                  <a:srgbClr val="333333"/>
                </a:solidFill>
                <a:latin typeface="TW Cen MT"/>
                <a:ea typeface="+mn-lt"/>
                <a:cs typeface="+mn-lt"/>
              </a:rPr>
              <a:t>IEEE Access</a:t>
            </a:r>
            <a:r>
              <a:rPr lang="en-US" sz="1400">
                <a:solidFill>
                  <a:srgbClr val="333333"/>
                </a:solidFill>
                <a:latin typeface="TW Cen MT"/>
                <a:ea typeface="+mn-lt"/>
                <a:cs typeface="+mn-lt"/>
              </a:rPr>
              <a:t>, vol. 12, pp. 50556-50577, 2024, </a:t>
            </a:r>
            <a:r>
              <a:rPr lang="en-US" sz="1400" err="1">
                <a:solidFill>
                  <a:srgbClr val="333333"/>
                </a:solidFill>
                <a:latin typeface="TW Cen MT"/>
                <a:ea typeface="+mn-lt"/>
                <a:cs typeface="+mn-lt"/>
              </a:rPr>
              <a:t>doi</a:t>
            </a:r>
            <a:r>
              <a:rPr lang="en-US" sz="1400">
                <a:solidFill>
                  <a:srgbClr val="333333"/>
                </a:solidFill>
                <a:latin typeface="TW Cen MT"/>
                <a:ea typeface="+mn-lt"/>
                <a:cs typeface="+mn-lt"/>
              </a:rPr>
              <a:t>: 10.1109/ACCESS.2024.3384428.</a:t>
            </a:r>
            <a:endParaRPr lang="en-US" sz="1400">
              <a:latin typeface="TW Cen MT"/>
            </a:endParaRPr>
          </a:p>
        </p:txBody>
      </p:sp>
      <p:sp>
        <p:nvSpPr>
          <p:cNvPr id="11" name="TextBox 10">
            <a:extLst>
              <a:ext uri="{FF2B5EF4-FFF2-40B4-BE49-F238E27FC236}">
                <a16:creationId xmlns:a16="http://schemas.microsoft.com/office/drawing/2014/main" id="{22C8B7BA-D4A0-DF4D-78A4-5EC5B64F4C1B}"/>
              </a:ext>
            </a:extLst>
          </p:cNvPr>
          <p:cNvSpPr txBox="1"/>
          <p:nvPr/>
        </p:nvSpPr>
        <p:spPr>
          <a:xfrm>
            <a:off x="4034642" y="4050246"/>
            <a:ext cx="2632190" cy="523220"/>
          </a:xfrm>
          <a:prstGeom prst="rect">
            <a:avLst/>
          </a:prstGeom>
          <a:noFill/>
        </p:spPr>
        <p:txBody>
          <a:bodyPr wrap="square" lIns="91440" tIns="45720" rIns="91440" bIns="45720" rtlCol="0" anchor="t">
            <a:spAutoFit/>
          </a:bodyPr>
          <a:lstStyle/>
          <a:p>
            <a:r>
              <a:rPr lang="en-GB" sz="1400" b="1"/>
              <a:t>Figure FinFET.12:</a:t>
            </a:r>
            <a:r>
              <a:rPr lang="en-GB" sz="1400"/>
              <a:t> </a:t>
            </a:r>
            <a:r>
              <a:rPr lang="en-GB" sz="1400">
                <a:ea typeface="+mn-lt"/>
                <a:cs typeface="+mn-lt"/>
              </a:rPr>
              <a:t>Schematic diagram of conventional </a:t>
            </a:r>
            <a:r>
              <a:rPr lang="en-GB" sz="1400" err="1">
                <a:ea typeface="+mn-lt"/>
                <a:cs typeface="+mn-lt"/>
              </a:rPr>
              <a:t>FinFET</a:t>
            </a:r>
            <a:r>
              <a:rPr lang="en-GB" sz="1400">
                <a:ea typeface="+mn-lt"/>
                <a:cs typeface="+mn-lt"/>
              </a:rPr>
              <a:t>.</a:t>
            </a:r>
            <a:endParaRPr lang="en-US"/>
          </a:p>
        </p:txBody>
      </p:sp>
    </p:spTree>
    <p:extLst>
      <p:ext uri="{BB962C8B-B14F-4D97-AF65-F5344CB8AC3E}">
        <p14:creationId xmlns:p14="http://schemas.microsoft.com/office/powerpoint/2010/main" val="1329603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2ABB5-01BC-0A45-72EE-6189EB1DFA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60681-7843-51CE-3470-E2CDC4A0D99E}"/>
              </a:ext>
            </a:extLst>
          </p:cNvPr>
          <p:cNvSpPr>
            <a:spLocks noGrp="1"/>
          </p:cNvSpPr>
          <p:nvPr>
            <p:ph type="title"/>
          </p:nvPr>
        </p:nvSpPr>
        <p:spPr>
          <a:xfrm>
            <a:off x="776288" y="147411"/>
            <a:ext cx="10639425" cy="1325563"/>
          </a:xfrm>
        </p:spPr>
        <p:txBody>
          <a:bodyPr anchor="ctr">
            <a:normAutofit/>
          </a:bodyPr>
          <a:lstStyle/>
          <a:p>
            <a:r>
              <a:rPr lang="en-US"/>
              <a:t>Conclusion</a:t>
            </a:r>
          </a:p>
        </p:txBody>
      </p:sp>
      <p:sp>
        <p:nvSpPr>
          <p:cNvPr id="5" name="Date Placeholder 4">
            <a:extLst>
              <a:ext uri="{FF2B5EF4-FFF2-40B4-BE49-F238E27FC236}">
                <a16:creationId xmlns:a16="http://schemas.microsoft.com/office/drawing/2014/main" id="{B4AED1EA-E3EF-C24E-9258-1CB0B5120838}"/>
              </a:ext>
            </a:extLst>
          </p:cNvPr>
          <p:cNvSpPr>
            <a:spLocks noGrp="1"/>
          </p:cNvSpPr>
          <p:nvPr>
            <p:ph type="dt" sz="half" idx="10"/>
          </p:nvPr>
        </p:nvSpPr>
        <p:spPr>
          <a:xfrm>
            <a:off x="838200" y="6492875"/>
            <a:ext cx="2743200" cy="365125"/>
          </a:xfrm>
        </p:spPr>
        <p:txBody>
          <a:bodyPr anchor="ctr">
            <a:normAutofit/>
          </a:bodyPr>
          <a:lstStyle/>
          <a:p>
            <a:pPr>
              <a:spcAft>
                <a:spcPts val="600"/>
              </a:spcAft>
            </a:pPr>
            <a:fld id="{0E53D1C4-5FEF-464B-AFAA-A733CD43D057}" type="datetime3">
              <a:rPr lang="en-US" smtClean="0"/>
              <a:pPr>
                <a:spcAft>
                  <a:spcPts val="600"/>
                </a:spcAft>
              </a:pPr>
              <a:t>14 December 2025</a:t>
            </a:fld>
            <a:endParaRPr lang="en-US"/>
          </a:p>
        </p:txBody>
      </p:sp>
      <p:sp>
        <p:nvSpPr>
          <p:cNvPr id="6" name="Footer Placeholder 5">
            <a:extLst>
              <a:ext uri="{FF2B5EF4-FFF2-40B4-BE49-F238E27FC236}">
                <a16:creationId xmlns:a16="http://schemas.microsoft.com/office/drawing/2014/main" id="{1218F2E0-C5A7-6E87-B3E8-650EF915241C}"/>
              </a:ext>
            </a:extLst>
          </p:cNvPr>
          <p:cNvSpPr>
            <a:spLocks noGrp="1"/>
          </p:cNvSpPr>
          <p:nvPr>
            <p:ph type="ftr" sz="quarter" idx="11"/>
          </p:nvPr>
        </p:nvSpPr>
        <p:spPr>
          <a:xfrm>
            <a:off x="4038600" y="6492875"/>
            <a:ext cx="4114800" cy="365125"/>
          </a:xfrm>
        </p:spPr>
        <p:txBody>
          <a:bodyPr anchor="ctr">
            <a:normAutofit/>
          </a:bodyPr>
          <a:lstStyle/>
          <a:p>
            <a:pPr>
              <a:spcAft>
                <a:spcPts val="600"/>
              </a:spcAft>
            </a:pPr>
            <a:r>
              <a:rPr lang="en-GB"/>
              <a:t>[116] Design of VLSI Systems ┃ Group 02</a:t>
            </a:r>
            <a:endParaRPr lang="en-US"/>
          </a:p>
        </p:txBody>
      </p:sp>
      <p:sp>
        <p:nvSpPr>
          <p:cNvPr id="7" name="Slide Number Placeholder 6">
            <a:extLst>
              <a:ext uri="{FF2B5EF4-FFF2-40B4-BE49-F238E27FC236}">
                <a16:creationId xmlns:a16="http://schemas.microsoft.com/office/drawing/2014/main" id="{1A97A3B7-9102-E2CF-F1B3-8D3DF3720AD2}"/>
              </a:ext>
            </a:extLst>
          </p:cNvPr>
          <p:cNvSpPr>
            <a:spLocks noGrp="1"/>
          </p:cNvSpPr>
          <p:nvPr>
            <p:ph type="sldNum" sz="quarter" idx="12"/>
          </p:nvPr>
        </p:nvSpPr>
        <p:spPr>
          <a:xfrm>
            <a:off x="8610600" y="6492875"/>
            <a:ext cx="2743200" cy="365125"/>
          </a:xfrm>
        </p:spPr>
        <p:txBody>
          <a:bodyPr anchor="ctr">
            <a:normAutofit/>
          </a:bodyPr>
          <a:lstStyle/>
          <a:p>
            <a:pPr>
              <a:spcAft>
                <a:spcPts val="600"/>
              </a:spcAft>
            </a:pPr>
            <a:fld id="{57CA127F-6BC0-40BB-9B02-66AE29583F1C}" type="slidenum">
              <a:rPr lang="en-US" smtClean="0"/>
              <a:pPr>
                <a:spcAft>
                  <a:spcPts val="600"/>
                </a:spcAft>
              </a:pPr>
              <a:t>14</a:t>
            </a:fld>
            <a:endParaRPr lang="en-US"/>
          </a:p>
        </p:txBody>
      </p:sp>
      <p:sp>
        <p:nvSpPr>
          <p:cNvPr id="11" name="Content Placeholder 10">
            <a:extLst>
              <a:ext uri="{FF2B5EF4-FFF2-40B4-BE49-F238E27FC236}">
                <a16:creationId xmlns:a16="http://schemas.microsoft.com/office/drawing/2014/main" id="{8C744723-BCDB-B194-E2F3-806A3566D76E}"/>
              </a:ext>
            </a:extLst>
          </p:cNvPr>
          <p:cNvSpPr>
            <a:spLocks noGrp="1"/>
          </p:cNvSpPr>
          <p:nvPr>
            <p:ph sz="half" idx="2"/>
          </p:nvPr>
        </p:nvSpPr>
        <p:spPr>
          <a:xfrm>
            <a:off x="7034313" y="1741400"/>
            <a:ext cx="4886838" cy="3369073"/>
          </a:xfrm>
        </p:spPr>
        <p:txBody>
          <a:bodyPr vert="horz" lIns="91440" tIns="45720" rIns="91440" bIns="45720" rtlCol="0" anchor="t">
            <a:normAutofit/>
          </a:bodyPr>
          <a:lstStyle/>
          <a:p>
            <a:r>
              <a:rPr lang="en-US" sz="2400" err="1">
                <a:ea typeface="+mn-lt"/>
                <a:cs typeface="+mn-lt"/>
              </a:rPr>
              <a:t>FinFETs</a:t>
            </a:r>
            <a:r>
              <a:rPr lang="en-US" sz="2400">
                <a:ea typeface="+mn-lt"/>
                <a:cs typeface="+mn-lt"/>
              </a:rPr>
              <a:t> provide low power and scalability down to ≈ 5 nm</a:t>
            </a:r>
            <a:endParaRPr lang="en-US" sz="2400"/>
          </a:p>
          <a:p>
            <a:r>
              <a:rPr lang="en-US" sz="2400">
                <a:ea typeface="+mn-lt"/>
                <a:cs typeface="+mn-lt"/>
              </a:rPr>
              <a:t>Remaining issues: thermal management, manufacturing cost</a:t>
            </a:r>
            <a:endParaRPr lang="en-US" sz="2400"/>
          </a:p>
          <a:p>
            <a:r>
              <a:rPr lang="en-US" sz="2400">
                <a:ea typeface="+mn-lt"/>
                <a:cs typeface="+mn-lt"/>
              </a:rPr>
              <a:t>Next step → GAA (Gate-All-Around FET)</a:t>
            </a:r>
            <a:endParaRPr lang="en-US" sz="2400"/>
          </a:p>
        </p:txBody>
      </p:sp>
      <p:sp>
        <p:nvSpPr>
          <p:cNvPr id="4" name="TextBox 3">
            <a:extLst>
              <a:ext uri="{FF2B5EF4-FFF2-40B4-BE49-F238E27FC236}">
                <a16:creationId xmlns:a16="http://schemas.microsoft.com/office/drawing/2014/main" id="{DCFCC422-A9EE-9C7D-4FC4-5E050EB14C37}"/>
              </a:ext>
            </a:extLst>
          </p:cNvPr>
          <p:cNvSpPr txBox="1"/>
          <p:nvPr/>
        </p:nvSpPr>
        <p:spPr>
          <a:xfrm>
            <a:off x="780016" y="4921818"/>
            <a:ext cx="6432293" cy="954107"/>
          </a:xfrm>
          <a:prstGeom prst="rect">
            <a:avLst/>
          </a:prstGeom>
          <a:noFill/>
        </p:spPr>
        <p:txBody>
          <a:bodyPr wrap="square" lIns="91440" tIns="45720" rIns="91440" bIns="45720" rtlCol="0" anchor="t">
            <a:spAutoFit/>
          </a:bodyPr>
          <a:lstStyle/>
          <a:p>
            <a:r>
              <a:rPr lang="en-GB" sz="1400" b="1">
                <a:latin typeface="TW Cen MT"/>
              </a:rPr>
              <a:t>Figure FinFET.13</a:t>
            </a:r>
            <a:r>
              <a:rPr lang="en-GB" sz="1400" b="1"/>
              <a:t>:</a:t>
            </a:r>
            <a:r>
              <a:rPr lang="en-GB" sz="1400"/>
              <a:t> </a:t>
            </a:r>
            <a:r>
              <a:rPr lang="en-GB" sz="1400">
                <a:ea typeface="+mn-lt"/>
                <a:cs typeface="+mn-lt"/>
              </a:rPr>
              <a:t>Schematic diagram of GAA structure along (a) Vertical and</a:t>
            </a:r>
            <a:endParaRPr lang="en-US" sz="1400">
              <a:ea typeface="+mn-lt"/>
              <a:cs typeface="+mn-lt"/>
            </a:endParaRPr>
          </a:p>
          <a:p>
            <a:r>
              <a:rPr lang="en-GB" sz="1400">
                <a:ea typeface="+mn-lt"/>
                <a:cs typeface="+mn-lt"/>
              </a:rPr>
              <a:t>horizontal view (b) &amp; (c).</a:t>
            </a:r>
            <a:r>
              <a:rPr lang="en-US" sz="1400">
                <a:ea typeface="+mn-lt"/>
                <a:cs typeface="+mn-lt"/>
              </a:rPr>
              <a:t> </a:t>
            </a:r>
            <a:r>
              <a:rPr lang="en-US" sz="1400"/>
              <a:t>Figure taken from </a:t>
            </a:r>
            <a:r>
              <a:rPr lang="en-US" sz="1400">
                <a:solidFill>
                  <a:srgbClr val="333333"/>
                </a:solidFill>
                <a:ea typeface="+mn-lt"/>
                <a:cs typeface="+mn-lt"/>
              </a:rPr>
              <a:t>R. R. Das, T. R. </a:t>
            </a:r>
            <a:r>
              <a:rPr lang="en-US" sz="1400" err="1">
                <a:solidFill>
                  <a:srgbClr val="333333"/>
                </a:solidFill>
                <a:ea typeface="+mn-lt"/>
                <a:cs typeface="+mn-lt"/>
              </a:rPr>
              <a:t>Rajalekshmi</a:t>
            </a:r>
            <a:r>
              <a:rPr lang="en-US" sz="1400">
                <a:solidFill>
                  <a:srgbClr val="333333"/>
                </a:solidFill>
                <a:ea typeface="+mn-lt"/>
                <a:cs typeface="+mn-lt"/>
              </a:rPr>
              <a:t> and A. James, "</a:t>
            </a:r>
            <a:r>
              <a:rPr lang="en-US" sz="1400" err="1">
                <a:solidFill>
                  <a:srgbClr val="333333"/>
                </a:solidFill>
                <a:ea typeface="+mn-lt"/>
                <a:cs typeface="+mn-lt"/>
              </a:rPr>
              <a:t>FinFET</a:t>
            </a:r>
            <a:r>
              <a:rPr lang="en-US" sz="1400">
                <a:solidFill>
                  <a:srgbClr val="333333"/>
                </a:solidFill>
                <a:ea typeface="+mn-lt"/>
                <a:cs typeface="+mn-lt"/>
              </a:rPr>
              <a:t> to GAA MBCFET: A Review and Insights," in </a:t>
            </a:r>
            <a:r>
              <a:rPr lang="en-US" sz="1400" i="1">
                <a:solidFill>
                  <a:srgbClr val="333333"/>
                </a:solidFill>
                <a:ea typeface="+mn-lt"/>
                <a:cs typeface="+mn-lt"/>
              </a:rPr>
              <a:t>IEEE Access</a:t>
            </a:r>
            <a:r>
              <a:rPr lang="en-US" sz="1400">
                <a:solidFill>
                  <a:srgbClr val="333333"/>
                </a:solidFill>
                <a:ea typeface="+mn-lt"/>
                <a:cs typeface="+mn-lt"/>
              </a:rPr>
              <a:t>, vol. 12, pp. 50556-50577, 2024, </a:t>
            </a:r>
            <a:r>
              <a:rPr lang="en-US" sz="1400" err="1">
                <a:solidFill>
                  <a:srgbClr val="333333"/>
                </a:solidFill>
                <a:ea typeface="+mn-lt"/>
                <a:cs typeface="+mn-lt"/>
              </a:rPr>
              <a:t>doi</a:t>
            </a:r>
            <a:r>
              <a:rPr lang="en-US" sz="1400">
                <a:solidFill>
                  <a:srgbClr val="333333"/>
                </a:solidFill>
                <a:ea typeface="+mn-lt"/>
                <a:cs typeface="+mn-lt"/>
              </a:rPr>
              <a:t>: 10.1109/ACCESS.2024.3384428.</a:t>
            </a:r>
            <a:r>
              <a:rPr lang="en-US" sz="1400">
                <a:ea typeface="+mn-lt"/>
                <a:cs typeface="+mn-lt"/>
              </a:rPr>
              <a:t> </a:t>
            </a:r>
            <a:endParaRPr lang="en-US" sz="1400"/>
          </a:p>
        </p:txBody>
      </p:sp>
      <p:pic>
        <p:nvPicPr>
          <p:cNvPr id="9" name="Picture 8" descr="A diagram of a rectangular structure">
            <a:extLst>
              <a:ext uri="{FF2B5EF4-FFF2-40B4-BE49-F238E27FC236}">
                <a16:creationId xmlns:a16="http://schemas.microsoft.com/office/drawing/2014/main" id="{DB610ADC-27B1-4644-86B7-963144E56981}"/>
              </a:ext>
            </a:extLst>
          </p:cNvPr>
          <p:cNvPicPr>
            <a:picLocks noChangeAspect="1"/>
          </p:cNvPicPr>
          <p:nvPr/>
        </p:nvPicPr>
        <p:blipFill>
          <a:blip r:embed="rId3"/>
          <a:stretch>
            <a:fillRect/>
          </a:stretch>
        </p:blipFill>
        <p:spPr>
          <a:xfrm>
            <a:off x="1777618" y="1471095"/>
            <a:ext cx="3972958" cy="3153808"/>
          </a:xfrm>
          <a:prstGeom prst="rect">
            <a:avLst/>
          </a:prstGeom>
        </p:spPr>
      </p:pic>
    </p:spTree>
    <p:extLst>
      <p:ext uri="{BB962C8B-B14F-4D97-AF65-F5344CB8AC3E}">
        <p14:creationId xmlns:p14="http://schemas.microsoft.com/office/powerpoint/2010/main" val="611081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61356-25FD-D98B-5DBD-FB2282E775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0E9B8C-004B-19F3-7A22-38CC6D1F20F3}"/>
              </a:ext>
            </a:extLst>
          </p:cNvPr>
          <p:cNvSpPr>
            <a:spLocks noGrp="1"/>
          </p:cNvSpPr>
          <p:nvPr>
            <p:ph type="title"/>
          </p:nvPr>
        </p:nvSpPr>
        <p:spPr>
          <a:xfrm>
            <a:off x="776288" y="147411"/>
            <a:ext cx="10639425" cy="1325563"/>
          </a:xfrm>
        </p:spPr>
        <p:txBody>
          <a:bodyPr anchor="ctr">
            <a:normAutofit/>
          </a:bodyPr>
          <a:lstStyle/>
          <a:p>
            <a:r>
              <a:rPr lang="en-US">
                <a:ea typeface="+mj-lt"/>
                <a:cs typeface="+mj-lt"/>
              </a:rPr>
              <a:t>Where the Industry Stands Today</a:t>
            </a:r>
            <a:endParaRPr lang="en-US"/>
          </a:p>
        </p:txBody>
      </p:sp>
      <p:sp>
        <p:nvSpPr>
          <p:cNvPr id="5" name="Date Placeholder 4">
            <a:extLst>
              <a:ext uri="{FF2B5EF4-FFF2-40B4-BE49-F238E27FC236}">
                <a16:creationId xmlns:a16="http://schemas.microsoft.com/office/drawing/2014/main" id="{32F548E7-9515-2E22-7A57-463E503170B5}"/>
              </a:ext>
            </a:extLst>
          </p:cNvPr>
          <p:cNvSpPr>
            <a:spLocks noGrp="1"/>
          </p:cNvSpPr>
          <p:nvPr>
            <p:ph type="dt" sz="half" idx="10"/>
          </p:nvPr>
        </p:nvSpPr>
        <p:spPr>
          <a:xfrm>
            <a:off x="838200" y="6492875"/>
            <a:ext cx="2743200" cy="365125"/>
          </a:xfrm>
        </p:spPr>
        <p:txBody>
          <a:bodyPr anchor="ctr">
            <a:normAutofit/>
          </a:bodyPr>
          <a:lstStyle/>
          <a:p>
            <a:pPr>
              <a:spcAft>
                <a:spcPts val="600"/>
              </a:spcAft>
            </a:pPr>
            <a:fld id="{0E53D1C4-5FEF-464B-AFAA-A733CD43D057}" type="datetime3">
              <a:rPr lang="en-US" smtClean="0"/>
              <a:pPr>
                <a:spcAft>
                  <a:spcPts val="600"/>
                </a:spcAft>
              </a:pPr>
              <a:t>14 December 2025</a:t>
            </a:fld>
            <a:endParaRPr lang="en-US"/>
          </a:p>
        </p:txBody>
      </p:sp>
      <p:sp>
        <p:nvSpPr>
          <p:cNvPr id="6" name="Footer Placeholder 5">
            <a:extLst>
              <a:ext uri="{FF2B5EF4-FFF2-40B4-BE49-F238E27FC236}">
                <a16:creationId xmlns:a16="http://schemas.microsoft.com/office/drawing/2014/main" id="{A45F9A24-DFF5-96F9-A94E-45624F2BAC81}"/>
              </a:ext>
            </a:extLst>
          </p:cNvPr>
          <p:cNvSpPr>
            <a:spLocks noGrp="1"/>
          </p:cNvSpPr>
          <p:nvPr>
            <p:ph type="ftr" sz="quarter" idx="11"/>
          </p:nvPr>
        </p:nvSpPr>
        <p:spPr>
          <a:xfrm>
            <a:off x="4038600" y="6492875"/>
            <a:ext cx="4114800" cy="365125"/>
          </a:xfrm>
        </p:spPr>
        <p:txBody>
          <a:bodyPr anchor="ctr">
            <a:normAutofit/>
          </a:bodyPr>
          <a:lstStyle/>
          <a:p>
            <a:pPr>
              <a:spcAft>
                <a:spcPts val="600"/>
              </a:spcAft>
            </a:pPr>
            <a:r>
              <a:rPr lang="en-GB"/>
              <a:t>[116] Design of VLSI Systems ┃ Group 02</a:t>
            </a:r>
            <a:endParaRPr lang="en-US"/>
          </a:p>
        </p:txBody>
      </p:sp>
      <p:sp>
        <p:nvSpPr>
          <p:cNvPr id="7" name="Slide Number Placeholder 6">
            <a:extLst>
              <a:ext uri="{FF2B5EF4-FFF2-40B4-BE49-F238E27FC236}">
                <a16:creationId xmlns:a16="http://schemas.microsoft.com/office/drawing/2014/main" id="{286C42C3-9FB8-888B-C529-0137AD5D1137}"/>
              </a:ext>
            </a:extLst>
          </p:cNvPr>
          <p:cNvSpPr>
            <a:spLocks noGrp="1"/>
          </p:cNvSpPr>
          <p:nvPr>
            <p:ph type="sldNum" sz="quarter" idx="12"/>
          </p:nvPr>
        </p:nvSpPr>
        <p:spPr>
          <a:xfrm>
            <a:off x="8610600" y="6492875"/>
            <a:ext cx="2743200" cy="365125"/>
          </a:xfrm>
        </p:spPr>
        <p:txBody>
          <a:bodyPr anchor="ctr">
            <a:normAutofit/>
          </a:bodyPr>
          <a:lstStyle/>
          <a:p>
            <a:pPr>
              <a:spcAft>
                <a:spcPts val="600"/>
              </a:spcAft>
            </a:pPr>
            <a:fld id="{57CA127F-6BC0-40BB-9B02-66AE29583F1C}" type="slidenum">
              <a:rPr lang="en-US" smtClean="0"/>
              <a:pPr>
                <a:spcAft>
                  <a:spcPts val="600"/>
                </a:spcAft>
              </a:pPr>
              <a:t>15</a:t>
            </a:fld>
            <a:endParaRPr lang="en-US"/>
          </a:p>
        </p:txBody>
      </p:sp>
      <p:graphicFrame>
        <p:nvGraphicFramePr>
          <p:cNvPr id="10" name="Content Placeholder 9">
            <a:extLst>
              <a:ext uri="{FF2B5EF4-FFF2-40B4-BE49-F238E27FC236}">
                <a16:creationId xmlns:a16="http://schemas.microsoft.com/office/drawing/2014/main" id="{62DBB004-024A-74B2-0D33-D1E3D5582274}"/>
              </a:ext>
            </a:extLst>
          </p:cNvPr>
          <p:cNvGraphicFramePr>
            <a:graphicFrameLocks noGrp="1"/>
          </p:cNvGraphicFramePr>
          <p:nvPr>
            <p:ph sz="half" idx="2"/>
            <p:extLst>
              <p:ext uri="{D42A27DB-BD31-4B8C-83A1-F6EECF244321}">
                <p14:modId xmlns:p14="http://schemas.microsoft.com/office/powerpoint/2010/main" val="972530009"/>
              </p:ext>
            </p:extLst>
          </p:nvPr>
        </p:nvGraphicFramePr>
        <p:xfrm>
          <a:off x="238699" y="1569904"/>
          <a:ext cx="11855705" cy="2834640"/>
        </p:xfrm>
        <a:graphic>
          <a:graphicData uri="http://schemas.openxmlformats.org/drawingml/2006/table">
            <a:tbl>
              <a:tblPr firstRow="1" bandRow="1">
                <a:tableStyleId>{5C22544A-7EE6-4342-B048-85BDC9FD1C3A}</a:tableStyleId>
              </a:tblPr>
              <a:tblGrid>
                <a:gridCol w="1488498">
                  <a:extLst>
                    <a:ext uri="{9D8B030D-6E8A-4147-A177-3AD203B41FA5}">
                      <a16:colId xmlns:a16="http://schemas.microsoft.com/office/drawing/2014/main" val="2443403334"/>
                    </a:ext>
                  </a:extLst>
                </a:gridCol>
                <a:gridCol w="3449051">
                  <a:extLst>
                    <a:ext uri="{9D8B030D-6E8A-4147-A177-3AD203B41FA5}">
                      <a16:colId xmlns:a16="http://schemas.microsoft.com/office/drawing/2014/main" val="3584868448"/>
                    </a:ext>
                  </a:extLst>
                </a:gridCol>
                <a:gridCol w="2005262">
                  <a:extLst>
                    <a:ext uri="{9D8B030D-6E8A-4147-A177-3AD203B41FA5}">
                      <a16:colId xmlns:a16="http://schemas.microsoft.com/office/drawing/2014/main" val="1349767487"/>
                    </a:ext>
                  </a:extLst>
                </a:gridCol>
                <a:gridCol w="2366210">
                  <a:extLst>
                    <a:ext uri="{9D8B030D-6E8A-4147-A177-3AD203B41FA5}">
                      <a16:colId xmlns:a16="http://schemas.microsoft.com/office/drawing/2014/main" val="2721154153"/>
                    </a:ext>
                  </a:extLst>
                </a:gridCol>
                <a:gridCol w="2546684">
                  <a:extLst>
                    <a:ext uri="{9D8B030D-6E8A-4147-A177-3AD203B41FA5}">
                      <a16:colId xmlns:a16="http://schemas.microsoft.com/office/drawing/2014/main" val="3143650933"/>
                    </a:ext>
                  </a:extLst>
                </a:gridCol>
              </a:tblGrid>
              <a:tr h="360947">
                <a:tc>
                  <a:txBody>
                    <a:bodyPr/>
                    <a:lstStyle/>
                    <a:p>
                      <a:r>
                        <a:rPr lang="en-US"/>
                        <a:t>Company</a:t>
                      </a:r>
                    </a:p>
                  </a:txBody>
                  <a:tcPr/>
                </a:tc>
                <a:tc>
                  <a:txBody>
                    <a:bodyPr/>
                    <a:lstStyle/>
                    <a:p>
                      <a:r>
                        <a:rPr lang="en-US"/>
                        <a:t>Current Node (2024-2025)</a:t>
                      </a:r>
                    </a:p>
                  </a:txBody>
                  <a:tcPr/>
                </a:tc>
                <a:tc>
                  <a:txBody>
                    <a:bodyPr/>
                    <a:lstStyle/>
                    <a:p>
                      <a:pPr lvl="0">
                        <a:buNone/>
                      </a:pPr>
                      <a:r>
                        <a:rPr lang="en-US"/>
                        <a:t>Next-Gen Target</a:t>
                      </a:r>
                    </a:p>
                  </a:txBody>
                  <a:tcPr/>
                </a:tc>
                <a:tc>
                  <a:txBody>
                    <a:bodyPr/>
                    <a:lstStyle/>
                    <a:p>
                      <a:pPr lvl="0">
                        <a:buNone/>
                      </a:pPr>
                      <a:r>
                        <a:rPr lang="en-US"/>
                        <a:t>Technology in Use</a:t>
                      </a:r>
                    </a:p>
                  </a:txBody>
                  <a:tcPr/>
                </a:tc>
                <a:tc>
                  <a:txBody>
                    <a:bodyPr/>
                    <a:lstStyle/>
                    <a:p>
                      <a:pPr lvl="0" algn="l">
                        <a:lnSpc>
                          <a:spcPct val="100000"/>
                        </a:lnSpc>
                        <a:spcBef>
                          <a:spcPts val="0"/>
                        </a:spcBef>
                        <a:spcAft>
                          <a:spcPts val="0"/>
                        </a:spcAft>
                        <a:buNone/>
                      </a:pPr>
                      <a:r>
                        <a:rPr lang="en-US" sz="1800" b="1" i="0" u="none" strike="noStrike" noProof="0">
                          <a:latin typeface="Tw Cen MT"/>
                        </a:rPr>
                        <a:t>Adoption Timeline</a:t>
                      </a:r>
                      <a:endParaRPr lang="en-US"/>
                    </a:p>
                  </a:txBody>
                  <a:tcPr/>
                </a:tc>
                <a:extLst>
                  <a:ext uri="{0D108BD9-81ED-4DB2-BD59-A6C34878D82A}">
                    <a16:rowId xmlns:a16="http://schemas.microsoft.com/office/drawing/2014/main" val="1254161647"/>
                  </a:ext>
                </a:extLst>
              </a:tr>
              <a:tr h="370840">
                <a:tc>
                  <a:txBody>
                    <a:bodyPr/>
                    <a:lstStyle/>
                    <a:p>
                      <a:r>
                        <a:rPr lang="en-US"/>
                        <a:t>Samsung</a:t>
                      </a:r>
                    </a:p>
                  </a:txBody>
                  <a:tcPr/>
                </a:tc>
                <a:tc>
                  <a:txBody>
                    <a:bodyPr/>
                    <a:lstStyle/>
                    <a:p>
                      <a:pPr lvl="0" algn="l">
                        <a:lnSpc>
                          <a:spcPct val="100000"/>
                        </a:lnSpc>
                        <a:spcBef>
                          <a:spcPts val="0"/>
                        </a:spcBef>
                        <a:spcAft>
                          <a:spcPts val="0"/>
                        </a:spcAft>
                        <a:buNone/>
                      </a:pPr>
                      <a:r>
                        <a:rPr lang="en-US" sz="1800" b="0" i="0" u="none" strike="noStrike" noProof="0"/>
                        <a:t>3 nm (3GAE / 3GAP) – world’s first GAA MBCFET chips (since 2022)</a:t>
                      </a:r>
                      <a:r>
                        <a:rPr lang="en-US" sz="1800" b="1" i="0" u="none" strike="noStrike" noProof="0">
                          <a:solidFill>
                            <a:srgbClr val="000000"/>
                          </a:solidFill>
                          <a:latin typeface="TW Cen MT"/>
                        </a:rPr>
                        <a:t>[9]</a:t>
                      </a:r>
                      <a:endParaRPr lang="en-US" b="1"/>
                    </a:p>
                  </a:txBody>
                  <a:tcPr/>
                </a:tc>
                <a:tc>
                  <a:txBody>
                    <a:bodyPr/>
                    <a:lstStyle/>
                    <a:p>
                      <a:pPr lvl="0" algn="l">
                        <a:lnSpc>
                          <a:spcPct val="100000"/>
                        </a:lnSpc>
                        <a:spcBef>
                          <a:spcPts val="0"/>
                        </a:spcBef>
                        <a:spcAft>
                          <a:spcPts val="0"/>
                        </a:spcAft>
                        <a:buNone/>
                      </a:pPr>
                      <a:r>
                        <a:rPr lang="en-US" sz="1800" b="0" i="0" u="none" strike="noStrike" noProof="0">
                          <a:latin typeface="Tw Cen MT"/>
                        </a:rPr>
                        <a:t>2 nm GAA MBCFET</a:t>
                      </a:r>
                    </a:p>
                    <a:p>
                      <a:pPr lvl="0" algn="l">
                        <a:lnSpc>
                          <a:spcPct val="100000"/>
                        </a:lnSpc>
                        <a:spcBef>
                          <a:spcPts val="0"/>
                        </a:spcBef>
                        <a:spcAft>
                          <a:spcPts val="0"/>
                        </a:spcAft>
                        <a:buNone/>
                      </a:pPr>
                      <a:endParaRPr lang="en-US" sz="1800" b="0" i="0" u="none" strike="noStrike" noProof="0">
                        <a:latin typeface="Tw Cen MT"/>
                      </a:endParaRPr>
                    </a:p>
                  </a:txBody>
                  <a:tcPr/>
                </a:tc>
                <a:tc>
                  <a:txBody>
                    <a:bodyPr/>
                    <a:lstStyle/>
                    <a:p>
                      <a:pPr lvl="0" algn="l">
                        <a:lnSpc>
                          <a:spcPct val="100000"/>
                        </a:lnSpc>
                        <a:spcBef>
                          <a:spcPts val="0"/>
                        </a:spcBef>
                        <a:spcAft>
                          <a:spcPts val="0"/>
                        </a:spcAft>
                        <a:buNone/>
                      </a:pPr>
                      <a:r>
                        <a:rPr lang="en-US" sz="1800" b="1" i="0" u="none" strike="noStrike" noProof="0">
                          <a:latin typeface="Tw Cen MT"/>
                        </a:rPr>
                        <a:t>GAA MBCFET (3 nm)</a:t>
                      </a:r>
                      <a:r>
                        <a:rPr lang="en-US" sz="1800" b="0" i="0" u="none" strike="noStrike" noProof="0">
                          <a:latin typeface="Tw Cen MT"/>
                        </a:rPr>
                        <a:t> + </a:t>
                      </a:r>
                      <a:r>
                        <a:rPr lang="en-US" sz="1800" b="0" i="0" u="none" strike="noStrike" noProof="0" err="1">
                          <a:latin typeface="Tw Cen MT"/>
                        </a:rPr>
                        <a:t>FinFET</a:t>
                      </a:r>
                      <a:r>
                        <a:rPr lang="en-US" sz="1800" b="0" i="0" u="none" strike="noStrike" noProof="0">
                          <a:latin typeface="Tw Cen MT"/>
                        </a:rPr>
                        <a:t> legacy nodes</a:t>
                      </a:r>
                      <a:endParaRPr lang="en-US"/>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TW Cen MT"/>
                        </a:rPr>
                        <a:t>First gen GAA → 2022</a:t>
                      </a:r>
                      <a:endParaRPr lang="en-US"/>
                    </a:p>
                    <a:p>
                      <a:pPr lvl="0" algn="l">
                        <a:lnSpc>
                          <a:spcPct val="100000"/>
                        </a:lnSpc>
                        <a:spcBef>
                          <a:spcPts val="0"/>
                        </a:spcBef>
                        <a:spcAft>
                          <a:spcPts val="0"/>
                        </a:spcAft>
                        <a:buNone/>
                      </a:pPr>
                      <a:r>
                        <a:rPr lang="en-US" sz="1800" b="0" i="0" u="none" strike="noStrike" noProof="0">
                          <a:solidFill>
                            <a:srgbClr val="000000"/>
                          </a:solidFill>
                          <a:latin typeface="TW Cen MT"/>
                        </a:rPr>
                        <a:t>2nd gen → 2023</a:t>
                      </a:r>
                      <a:endParaRPr lang="en-US"/>
                    </a:p>
                    <a:p>
                      <a:pPr lvl="0" algn="l">
                        <a:lnSpc>
                          <a:spcPct val="100000"/>
                        </a:lnSpc>
                        <a:spcBef>
                          <a:spcPts val="0"/>
                        </a:spcBef>
                        <a:spcAft>
                          <a:spcPts val="0"/>
                        </a:spcAft>
                        <a:buNone/>
                      </a:pPr>
                      <a:r>
                        <a:rPr lang="en-US" sz="1800" b="0" i="0" u="none" strike="noStrike" noProof="0">
                          <a:solidFill>
                            <a:srgbClr val="000000"/>
                          </a:solidFill>
                          <a:latin typeface="TW Cen MT"/>
                        </a:rPr>
                        <a:t>2 nm planned 2025</a:t>
                      </a:r>
                      <a:endParaRPr lang="en-US"/>
                    </a:p>
                  </a:txBody>
                  <a:tcPr/>
                </a:tc>
                <a:extLst>
                  <a:ext uri="{0D108BD9-81ED-4DB2-BD59-A6C34878D82A}">
                    <a16:rowId xmlns:a16="http://schemas.microsoft.com/office/drawing/2014/main" val="3291902548"/>
                  </a:ext>
                </a:extLst>
              </a:tr>
              <a:tr h="370840">
                <a:tc>
                  <a:txBody>
                    <a:bodyPr/>
                    <a:lstStyle/>
                    <a:p>
                      <a:r>
                        <a:rPr lang="en-US" sz="1800" b="0" i="0" u="none" strike="noStrike" noProof="0">
                          <a:solidFill>
                            <a:srgbClr val="000000"/>
                          </a:solidFill>
                          <a:latin typeface="TW Cen MT"/>
                        </a:rPr>
                        <a:t>TSMC</a:t>
                      </a:r>
                    </a:p>
                  </a:txBody>
                  <a:tcPr/>
                </a:tc>
                <a:tc>
                  <a:txBody>
                    <a:bodyPr/>
                    <a:lstStyle/>
                    <a:p>
                      <a:r>
                        <a:rPr lang="en-US"/>
                        <a:t>3 nm </a:t>
                      </a:r>
                      <a:r>
                        <a:rPr lang="en-US" err="1"/>
                        <a:t>FinFET</a:t>
                      </a:r>
                      <a:r>
                        <a:rPr lang="en-US"/>
                        <a:t> (N3 series) </a:t>
                      </a:r>
                      <a:r>
                        <a:rPr lang="en-US" b="1"/>
                        <a:t>[10]</a:t>
                      </a:r>
                    </a:p>
                  </a:txBody>
                  <a:tcPr/>
                </a:tc>
                <a:tc>
                  <a:txBody>
                    <a:bodyPr/>
                    <a:lstStyle/>
                    <a:p>
                      <a:pPr lvl="0" algn="l">
                        <a:lnSpc>
                          <a:spcPct val="100000"/>
                        </a:lnSpc>
                        <a:spcBef>
                          <a:spcPts val="0"/>
                        </a:spcBef>
                        <a:spcAft>
                          <a:spcPts val="0"/>
                        </a:spcAft>
                        <a:buNone/>
                      </a:pPr>
                      <a:r>
                        <a:rPr lang="en-US" sz="1800" b="0" i="0" u="none" strike="noStrike" noProof="0">
                          <a:latin typeface="Tw Cen MT"/>
                        </a:rPr>
                        <a:t>2 nm GAA Nanosheet (N2)</a:t>
                      </a:r>
                      <a:endParaRPr lang="en-US"/>
                    </a:p>
                  </a:txBody>
                  <a:tcPr/>
                </a:tc>
                <a:tc>
                  <a:txBody>
                    <a:bodyPr/>
                    <a:lstStyle/>
                    <a:p>
                      <a:pPr lvl="0" algn="l">
                        <a:lnSpc>
                          <a:spcPct val="100000"/>
                        </a:lnSpc>
                        <a:spcBef>
                          <a:spcPts val="0"/>
                        </a:spcBef>
                        <a:spcAft>
                          <a:spcPts val="0"/>
                        </a:spcAft>
                        <a:buNone/>
                      </a:pPr>
                      <a:r>
                        <a:rPr lang="en-US" sz="1800" b="1" i="0" u="none" strike="noStrike" noProof="0" err="1">
                          <a:latin typeface="Tw Cen MT"/>
                        </a:rPr>
                        <a:t>FinFET</a:t>
                      </a:r>
                      <a:endParaRPr lang="en-US" err="1"/>
                    </a:p>
                  </a:txBody>
                  <a:tcPr/>
                </a:tc>
                <a:tc>
                  <a:txBody>
                    <a:bodyPr/>
                    <a:lstStyle/>
                    <a:p>
                      <a:pPr lvl="0" algn="l">
                        <a:lnSpc>
                          <a:spcPct val="100000"/>
                        </a:lnSpc>
                        <a:spcBef>
                          <a:spcPts val="0"/>
                        </a:spcBef>
                        <a:spcAft>
                          <a:spcPts val="0"/>
                        </a:spcAft>
                        <a:buNone/>
                      </a:pPr>
                      <a:r>
                        <a:rPr lang="en-US" sz="1800" b="0" i="0" u="none" strike="noStrike" noProof="0">
                          <a:latin typeface="Tw Cen MT"/>
                        </a:rPr>
                        <a:t>Developing GAA for ~2026 launch</a:t>
                      </a:r>
                      <a:endParaRPr lang="en-US"/>
                    </a:p>
                  </a:txBody>
                  <a:tcPr/>
                </a:tc>
                <a:extLst>
                  <a:ext uri="{0D108BD9-81ED-4DB2-BD59-A6C34878D82A}">
                    <a16:rowId xmlns:a16="http://schemas.microsoft.com/office/drawing/2014/main" val="973768974"/>
                  </a:ext>
                </a:extLst>
              </a:tr>
              <a:tr h="370840">
                <a:tc>
                  <a:txBody>
                    <a:bodyPr/>
                    <a:lstStyle/>
                    <a:p>
                      <a:pPr lvl="0">
                        <a:buNone/>
                      </a:pPr>
                      <a:r>
                        <a:rPr lang="en-US" sz="1800" b="0" i="0" u="none" strike="noStrike" noProof="0">
                          <a:solidFill>
                            <a:srgbClr val="000000"/>
                          </a:solidFill>
                          <a:latin typeface="TW Cen MT"/>
                        </a:rPr>
                        <a:t>Intel</a:t>
                      </a:r>
                      <a:endParaRPr lang="en-US"/>
                    </a:p>
                  </a:txBody>
                  <a:tcPr/>
                </a:tc>
                <a:tc>
                  <a:txBody>
                    <a:bodyPr/>
                    <a:lstStyle/>
                    <a:p>
                      <a:pPr lvl="0" algn="l">
                        <a:lnSpc>
                          <a:spcPct val="100000"/>
                        </a:lnSpc>
                        <a:spcBef>
                          <a:spcPts val="0"/>
                        </a:spcBef>
                        <a:spcAft>
                          <a:spcPts val="0"/>
                        </a:spcAft>
                        <a:buNone/>
                      </a:pPr>
                      <a:r>
                        <a:rPr lang="en-US" sz="1800" b="0" i="0" u="none" strike="noStrike" noProof="0">
                          <a:latin typeface="Tw Cen MT"/>
                        </a:rPr>
                        <a:t>Intel 4 / Intel 3 </a:t>
                      </a:r>
                      <a:r>
                        <a:rPr lang="en-US" sz="1800" b="0" i="0" u="none" strike="noStrike" noProof="0" err="1">
                          <a:latin typeface="Tw Cen MT"/>
                        </a:rPr>
                        <a:t>FinFET</a:t>
                      </a:r>
                      <a:endParaRPr lang="en-US" err="1"/>
                    </a:p>
                  </a:txBody>
                  <a:tcPr/>
                </a:tc>
                <a:tc>
                  <a:txBody>
                    <a:bodyPr/>
                    <a:lstStyle/>
                    <a:p>
                      <a:pPr lvl="0" algn="l">
                        <a:lnSpc>
                          <a:spcPct val="100000"/>
                        </a:lnSpc>
                        <a:spcBef>
                          <a:spcPts val="0"/>
                        </a:spcBef>
                        <a:spcAft>
                          <a:spcPts val="0"/>
                        </a:spcAft>
                        <a:buNone/>
                      </a:pPr>
                      <a:r>
                        <a:rPr lang="en-US" sz="1800" b="0" i="0" u="none" strike="noStrike" noProof="0">
                          <a:latin typeface="Tw Cen MT"/>
                        </a:rPr>
                        <a:t>2 nm “Intel 20A” = </a:t>
                      </a:r>
                      <a:r>
                        <a:rPr lang="en-US" sz="1800" b="1" i="0" u="none" strike="noStrike" noProof="0" err="1">
                          <a:latin typeface="Tw Cen MT"/>
                        </a:rPr>
                        <a:t>RibbonFET</a:t>
                      </a:r>
                      <a:r>
                        <a:rPr lang="en-US" sz="1800" b="1" i="0" u="none" strike="noStrike" noProof="0">
                          <a:latin typeface="Tw Cen MT"/>
                        </a:rPr>
                        <a:t> (GAA) [11]</a:t>
                      </a:r>
                      <a:endParaRPr lang="en-US" b="1"/>
                    </a:p>
                  </a:txBody>
                  <a:tcPr/>
                </a:tc>
                <a:tc>
                  <a:txBody>
                    <a:bodyPr/>
                    <a:lstStyle/>
                    <a:p>
                      <a:pPr lvl="0" algn="l">
                        <a:lnSpc>
                          <a:spcPct val="100000"/>
                        </a:lnSpc>
                        <a:spcBef>
                          <a:spcPts val="0"/>
                        </a:spcBef>
                        <a:spcAft>
                          <a:spcPts val="0"/>
                        </a:spcAft>
                        <a:buNone/>
                      </a:pPr>
                      <a:r>
                        <a:rPr lang="en-US" sz="1800" b="1" i="0" u="none" strike="noStrike" noProof="0" err="1">
                          <a:latin typeface="Tw Cen MT"/>
                        </a:rPr>
                        <a:t>FinFET</a:t>
                      </a:r>
                      <a:endParaRPr lang="en-US" err="1"/>
                    </a:p>
                  </a:txBody>
                  <a:tcPr/>
                </a:tc>
                <a:tc>
                  <a:txBody>
                    <a:bodyPr/>
                    <a:lstStyle/>
                    <a:p>
                      <a:pPr lvl="0" algn="l">
                        <a:lnSpc>
                          <a:spcPct val="100000"/>
                        </a:lnSpc>
                        <a:spcBef>
                          <a:spcPts val="0"/>
                        </a:spcBef>
                        <a:spcAft>
                          <a:spcPts val="0"/>
                        </a:spcAft>
                        <a:buNone/>
                      </a:pPr>
                      <a:r>
                        <a:rPr lang="en-US" sz="1800" b="0" i="0" u="none" strike="noStrike" noProof="0">
                          <a:latin typeface="Tw Cen MT"/>
                        </a:rPr>
                        <a:t>GAA introduction ~2024 (20A node)</a:t>
                      </a:r>
                      <a:endParaRPr lang="en-US"/>
                    </a:p>
                  </a:txBody>
                  <a:tcPr/>
                </a:tc>
                <a:extLst>
                  <a:ext uri="{0D108BD9-81ED-4DB2-BD59-A6C34878D82A}">
                    <a16:rowId xmlns:a16="http://schemas.microsoft.com/office/drawing/2014/main" val="3525198954"/>
                  </a:ext>
                </a:extLst>
              </a:tr>
            </a:tbl>
          </a:graphicData>
        </a:graphic>
      </p:graphicFrame>
      <p:sp>
        <p:nvSpPr>
          <p:cNvPr id="3" name="TextBox 2">
            <a:extLst>
              <a:ext uri="{FF2B5EF4-FFF2-40B4-BE49-F238E27FC236}">
                <a16:creationId xmlns:a16="http://schemas.microsoft.com/office/drawing/2014/main" id="{D02EE059-0C45-AFD7-104B-AEB20C9D810A}"/>
              </a:ext>
            </a:extLst>
          </p:cNvPr>
          <p:cNvSpPr txBox="1"/>
          <p:nvPr/>
        </p:nvSpPr>
        <p:spPr>
          <a:xfrm>
            <a:off x="777300" y="4569450"/>
            <a:ext cx="572325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a:latin typeface="TW Cen MT"/>
              </a:rPr>
              <a:t>Table FinFET.3: </a:t>
            </a:r>
            <a:r>
              <a:rPr lang="en-GB" sz="1400">
                <a:latin typeface="TW Cen MT"/>
              </a:rPr>
              <a:t>Technology used by Samsung, TSMC and Intel</a:t>
            </a:r>
            <a:endParaRPr lang="en-US"/>
          </a:p>
        </p:txBody>
      </p:sp>
    </p:spTree>
    <p:extLst>
      <p:ext uri="{BB962C8B-B14F-4D97-AF65-F5344CB8AC3E}">
        <p14:creationId xmlns:p14="http://schemas.microsoft.com/office/powerpoint/2010/main" val="1981531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7E7D6-0DAC-4FF0-DDC6-B34A9FE35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F5901A-8D5B-D651-0EA8-1A802427743E}"/>
              </a:ext>
            </a:extLst>
          </p:cNvPr>
          <p:cNvSpPr>
            <a:spLocks noGrp="1"/>
          </p:cNvSpPr>
          <p:nvPr>
            <p:ph type="title"/>
          </p:nvPr>
        </p:nvSpPr>
        <p:spPr/>
        <p:txBody>
          <a:bodyPr/>
          <a:lstStyle/>
          <a:p>
            <a:r>
              <a:rPr lang="en-US"/>
              <a:t>FD-SOI</a:t>
            </a:r>
          </a:p>
        </p:txBody>
      </p:sp>
      <p:sp>
        <p:nvSpPr>
          <p:cNvPr id="3" name="Text Placeholder 2">
            <a:extLst>
              <a:ext uri="{FF2B5EF4-FFF2-40B4-BE49-F238E27FC236}">
                <a16:creationId xmlns:a16="http://schemas.microsoft.com/office/drawing/2014/main" id="{66CDD046-10B2-9EFC-868D-A0E16ECBA7E0}"/>
              </a:ext>
            </a:extLst>
          </p:cNvPr>
          <p:cNvSpPr>
            <a:spLocks noGrp="1"/>
          </p:cNvSpPr>
          <p:nvPr>
            <p:ph type="body" idx="1"/>
          </p:nvPr>
        </p:nvSpPr>
        <p:spPr/>
        <p:txBody>
          <a:bodyPr>
            <a:normAutofit lnSpcReduction="10000"/>
          </a:bodyPr>
          <a:lstStyle/>
          <a:p>
            <a:pPr marL="342900" indent="-342900">
              <a:buFont typeface="Arial" panose="020B0604020202020204" pitchFamily="34" charset="0"/>
              <a:buChar char="•"/>
            </a:pPr>
            <a:r>
              <a:rPr lang="en-US" b="1">
                <a:solidFill>
                  <a:schemeClr val="tx1"/>
                </a:solidFill>
              </a:rPr>
              <a:t>Technology overview</a:t>
            </a:r>
          </a:p>
          <a:p>
            <a:pPr marL="342900" indent="-342900">
              <a:buFont typeface="Arial" panose="020B0604020202020204" pitchFamily="34" charset="0"/>
              <a:buChar char="•"/>
            </a:pPr>
            <a:r>
              <a:rPr lang="en-GB"/>
              <a:t>“A Novel 1T-APS Using 22nm FD-SOI Technology With Record High </a:t>
            </a:r>
            <a:r>
              <a:rPr lang="en-GB" err="1"/>
              <a:t>Tunable</a:t>
            </a:r>
            <a:r>
              <a:rPr lang="en-GB"/>
              <a:t> Sensitivity Range”, </a:t>
            </a:r>
            <a:r>
              <a:rPr lang="en-US"/>
              <a:t>H. Xie et al. [3]</a:t>
            </a:r>
          </a:p>
          <a:p>
            <a:pPr marL="342900" indent="-342900">
              <a:buFont typeface="Arial" panose="020B0604020202020204" pitchFamily="34" charset="0"/>
              <a:buChar char="•"/>
            </a:pPr>
            <a:r>
              <a:rPr lang="en-US"/>
              <a:t>“</a:t>
            </a:r>
            <a:r>
              <a:rPr lang="en-GB"/>
              <a:t>A Wideband Sub-6GHz Transceiver Front End for 5G Base Stations in 22-nm FD-SOI CMOS”, </a:t>
            </a:r>
            <a:r>
              <a:rPr lang="en-US"/>
              <a:t>C. Elgaard et al. [4]</a:t>
            </a:r>
          </a:p>
        </p:txBody>
      </p:sp>
      <p:sp>
        <p:nvSpPr>
          <p:cNvPr id="4" name="Date Placeholder 3">
            <a:extLst>
              <a:ext uri="{FF2B5EF4-FFF2-40B4-BE49-F238E27FC236}">
                <a16:creationId xmlns:a16="http://schemas.microsoft.com/office/drawing/2014/main" id="{F090C622-BB38-EAA0-A07C-1A7480431D0B}"/>
              </a:ext>
            </a:extLst>
          </p:cNvPr>
          <p:cNvSpPr>
            <a:spLocks noGrp="1"/>
          </p:cNvSpPr>
          <p:nvPr>
            <p:ph type="dt" sz="half" idx="10"/>
          </p:nvPr>
        </p:nvSpPr>
        <p:spPr/>
        <p:txBody>
          <a:bodyPr/>
          <a:lstStyle/>
          <a:p>
            <a:fld id="{58C211B4-85A7-488E-BFBE-0FFA928309BE}" type="datetime3">
              <a:rPr lang="en-US" smtClean="0"/>
              <a:t>14 December 2025</a:t>
            </a:fld>
            <a:endParaRPr lang="en-US"/>
          </a:p>
        </p:txBody>
      </p:sp>
      <p:sp>
        <p:nvSpPr>
          <p:cNvPr id="5" name="Slide Number Placeholder 4">
            <a:extLst>
              <a:ext uri="{FF2B5EF4-FFF2-40B4-BE49-F238E27FC236}">
                <a16:creationId xmlns:a16="http://schemas.microsoft.com/office/drawing/2014/main" id="{6285BC4E-3335-9D3E-964E-33C45AAC9D21}"/>
              </a:ext>
            </a:extLst>
          </p:cNvPr>
          <p:cNvSpPr>
            <a:spLocks noGrp="1"/>
          </p:cNvSpPr>
          <p:nvPr>
            <p:ph type="sldNum" sz="quarter" idx="12"/>
          </p:nvPr>
        </p:nvSpPr>
        <p:spPr/>
        <p:txBody>
          <a:bodyPr/>
          <a:lstStyle/>
          <a:p>
            <a:fld id="{57CA127F-6BC0-40BB-9B02-66AE29583F1C}" type="slidenum">
              <a:rPr lang="en-US" smtClean="0"/>
              <a:t>16</a:t>
            </a:fld>
            <a:endParaRPr lang="en-US"/>
          </a:p>
        </p:txBody>
      </p:sp>
      <p:sp>
        <p:nvSpPr>
          <p:cNvPr id="7" name="Footer Placeholder 6">
            <a:extLst>
              <a:ext uri="{FF2B5EF4-FFF2-40B4-BE49-F238E27FC236}">
                <a16:creationId xmlns:a16="http://schemas.microsoft.com/office/drawing/2014/main" id="{478C0C42-4675-4CEF-FE96-F1345218E235}"/>
              </a:ext>
            </a:extLst>
          </p:cNvPr>
          <p:cNvSpPr>
            <a:spLocks noGrp="1"/>
          </p:cNvSpPr>
          <p:nvPr>
            <p:ph type="ftr" sz="quarter" idx="11"/>
          </p:nvPr>
        </p:nvSpPr>
        <p:spPr/>
        <p:txBody>
          <a:bodyPr/>
          <a:lstStyle/>
          <a:p>
            <a:r>
              <a:rPr lang="en-GB"/>
              <a:t>[116] Design of VLSI Systems ┃ Group 02</a:t>
            </a:r>
            <a:endParaRPr lang="en-US"/>
          </a:p>
        </p:txBody>
      </p:sp>
    </p:spTree>
    <p:extLst>
      <p:ext uri="{BB962C8B-B14F-4D97-AF65-F5344CB8AC3E}">
        <p14:creationId xmlns:p14="http://schemas.microsoft.com/office/powerpoint/2010/main" val="1635341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8AED2-9CDC-E523-CCFA-5B99509CBE23}"/>
            </a:ext>
          </a:extLst>
        </p:cNvPr>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8B9F36AE-994A-E370-8CAC-89C39248EE0A}"/>
              </a:ext>
            </a:extLst>
          </p:cNvPr>
          <p:cNvSpPr>
            <a:spLocks noGrp="1"/>
          </p:cNvSpPr>
          <p:nvPr>
            <p:ph sz="half" idx="1"/>
          </p:nvPr>
        </p:nvSpPr>
        <p:spPr>
          <a:xfrm>
            <a:off x="838199" y="1485900"/>
            <a:ext cx="4933951" cy="4581525"/>
          </a:xfrm>
        </p:spPr>
        <p:txBody>
          <a:bodyPr>
            <a:normAutofit fontScale="85000" lnSpcReduction="20000"/>
          </a:bodyPr>
          <a:lstStyle/>
          <a:p>
            <a:pPr>
              <a:lnSpc>
                <a:spcPct val="110000"/>
              </a:lnSpc>
            </a:pPr>
            <a:r>
              <a:rPr lang="en-US"/>
              <a:t>Thin Si channel (body) depleted of free carriers.</a:t>
            </a:r>
          </a:p>
          <a:p>
            <a:pPr>
              <a:lnSpc>
                <a:spcPct val="110000"/>
              </a:lnSpc>
            </a:pPr>
            <a:r>
              <a:rPr lang="en-US"/>
              <a:t>Back-gate </a:t>
            </a:r>
            <a:r>
              <a:rPr lang="en-US" i="1">
                <a:latin typeface="CMU Serif" panose="02000603000000000000" pitchFamily="2" charset="0"/>
                <a:ea typeface="CMU Serif" panose="02000603000000000000" pitchFamily="2" charset="0"/>
                <a:cs typeface="CMU Serif" panose="02000603000000000000" pitchFamily="2" charset="0"/>
              </a:rPr>
              <a:t>V</a:t>
            </a:r>
            <a:r>
              <a:rPr lang="en-US" baseline="-25000">
                <a:latin typeface="CMU Serif" panose="02000603000000000000" pitchFamily="2" charset="0"/>
                <a:ea typeface="CMU Serif" panose="02000603000000000000" pitchFamily="2" charset="0"/>
                <a:cs typeface="CMU Serif" panose="02000603000000000000" pitchFamily="2" charset="0"/>
              </a:rPr>
              <a:t>th</a:t>
            </a:r>
            <a:r>
              <a:rPr lang="en-US"/>
              <a:t> control </a:t>
            </a:r>
            <a:r>
              <a:rPr lang="en-US">
                <a:solidFill>
                  <a:schemeClr val="tx1">
                    <a:lumMod val="50000"/>
                    <a:lumOff val="50000"/>
                  </a:schemeClr>
                </a:solidFill>
              </a:rPr>
              <a:t>[5][6][8]</a:t>
            </a:r>
          </a:p>
          <a:p>
            <a:pPr>
              <a:lnSpc>
                <a:spcPct val="110000"/>
              </a:lnSpc>
            </a:pPr>
            <a:r>
              <a:rPr lang="en-US"/>
              <a:t>Reduced:</a:t>
            </a:r>
          </a:p>
          <a:p>
            <a:pPr lvl="1">
              <a:lnSpc>
                <a:spcPct val="110000"/>
              </a:lnSpc>
            </a:pPr>
            <a:r>
              <a:rPr lang="en-US"/>
              <a:t>Junction capacitance </a:t>
            </a:r>
            <a:r>
              <a:rPr lang="en-US">
                <a:solidFill>
                  <a:schemeClr val="tx1">
                    <a:lumMod val="50000"/>
                    <a:lumOff val="50000"/>
                  </a:schemeClr>
                </a:solidFill>
              </a:rPr>
              <a:t>[5]</a:t>
            </a:r>
            <a:endParaRPr lang="en-US"/>
          </a:p>
          <a:p>
            <a:pPr lvl="1">
              <a:lnSpc>
                <a:spcPct val="110000"/>
              </a:lnSpc>
            </a:pPr>
            <a:r>
              <a:rPr lang="en-US"/>
              <a:t>Leakage current </a:t>
            </a:r>
            <a:r>
              <a:rPr lang="en-US">
                <a:solidFill>
                  <a:schemeClr val="tx1">
                    <a:lumMod val="50000"/>
                    <a:lumOff val="50000"/>
                  </a:schemeClr>
                </a:solidFill>
              </a:rPr>
              <a:t>[5]</a:t>
            </a:r>
            <a:endParaRPr lang="en-US"/>
          </a:p>
          <a:p>
            <a:pPr lvl="1">
              <a:lnSpc>
                <a:spcPct val="110000"/>
              </a:lnSpc>
            </a:pPr>
            <a:r>
              <a:rPr lang="en-US"/>
              <a:t>Power consumption </a:t>
            </a:r>
            <a:r>
              <a:rPr lang="en-US">
                <a:solidFill>
                  <a:schemeClr val="tx1">
                    <a:lumMod val="50000"/>
                    <a:lumOff val="50000"/>
                  </a:schemeClr>
                </a:solidFill>
              </a:rPr>
              <a:t>[5]</a:t>
            </a:r>
            <a:endParaRPr lang="en-US"/>
          </a:p>
          <a:p>
            <a:pPr lvl="1">
              <a:lnSpc>
                <a:spcPct val="110000"/>
              </a:lnSpc>
            </a:pPr>
            <a:r>
              <a:rPr lang="en-US"/>
              <a:t>Output conductance </a:t>
            </a:r>
            <a:r>
              <a:rPr lang="en-US" i="1" err="1">
                <a:latin typeface="CMU Serif" panose="02000603000000000000" pitchFamily="2" charset="0"/>
                <a:ea typeface="CMU Serif" panose="02000603000000000000" pitchFamily="2" charset="0"/>
                <a:cs typeface="CMU Serif" panose="02000603000000000000" pitchFamily="2" charset="0"/>
              </a:rPr>
              <a:t>g</a:t>
            </a:r>
            <a:r>
              <a:rPr lang="en-US" baseline="-25000" err="1">
                <a:latin typeface="CMU Serif" panose="02000603000000000000" pitchFamily="2" charset="0"/>
                <a:ea typeface="CMU Serif" panose="02000603000000000000" pitchFamily="2" charset="0"/>
                <a:cs typeface="CMU Serif" panose="02000603000000000000" pitchFamily="2" charset="0"/>
              </a:rPr>
              <a:t>ds</a:t>
            </a:r>
            <a:r>
              <a:rPr lang="en-US">
                <a:latin typeface="CMU Serif" panose="02000603000000000000" pitchFamily="2" charset="0"/>
                <a:ea typeface="CMU Serif" panose="02000603000000000000" pitchFamily="2" charset="0"/>
                <a:cs typeface="CMU Serif" panose="02000603000000000000" pitchFamily="2" charset="0"/>
              </a:rPr>
              <a:t> </a:t>
            </a:r>
            <a:r>
              <a:rPr lang="en-US">
                <a:solidFill>
                  <a:schemeClr val="tx1">
                    <a:lumMod val="50000"/>
                    <a:lumOff val="50000"/>
                  </a:schemeClr>
                </a:solidFill>
              </a:rPr>
              <a:t>[15]</a:t>
            </a:r>
            <a:endParaRPr lang="en-US"/>
          </a:p>
          <a:p>
            <a:pPr>
              <a:lnSpc>
                <a:spcPct val="110000"/>
              </a:lnSpc>
            </a:pPr>
            <a:r>
              <a:rPr lang="en-US"/>
              <a:t>Increased:</a:t>
            </a:r>
          </a:p>
          <a:p>
            <a:pPr lvl="1">
              <a:lnSpc>
                <a:spcPct val="110000"/>
              </a:lnSpc>
            </a:pPr>
            <a:r>
              <a:rPr lang="en-US"/>
              <a:t>transconductance-to-drain-current ratios, </a:t>
            </a:r>
            <a:r>
              <a:rPr lang="en-US" i="1">
                <a:latin typeface="CMU Serif" panose="02000603000000000000" pitchFamily="2" charset="0"/>
                <a:ea typeface="CMU Serif" panose="02000603000000000000" pitchFamily="2" charset="0"/>
                <a:cs typeface="CMU Serif" panose="02000603000000000000" pitchFamily="2" charset="0"/>
              </a:rPr>
              <a:t>g</a:t>
            </a:r>
            <a:r>
              <a:rPr lang="en-US" i="1" baseline="-25000">
                <a:latin typeface="CMU Serif" panose="02000603000000000000" pitchFamily="2" charset="0"/>
                <a:ea typeface="CMU Serif" panose="02000603000000000000" pitchFamily="2" charset="0"/>
                <a:cs typeface="CMU Serif" panose="02000603000000000000" pitchFamily="2" charset="0"/>
              </a:rPr>
              <a:t>m</a:t>
            </a:r>
            <a:r>
              <a:rPr lang="en-US">
                <a:latin typeface="CMU Serif" panose="02000603000000000000" pitchFamily="2" charset="0"/>
                <a:ea typeface="CMU Serif" panose="02000603000000000000" pitchFamily="2" charset="0"/>
                <a:cs typeface="CMU Serif" panose="02000603000000000000" pitchFamily="2" charset="0"/>
              </a:rPr>
              <a:t>/</a:t>
            </a:r>
            <a:r>
              <a:rPr lang="en-US" i="1">
                <a:latin typeface="CMU Serif" panose="02000603000000000000" pitchFamily="2" charset="0"/>
                <a:ea typeface="CMU Serif" panose="02000603000000000000" pitchFamily="2" charset="0"/>
                <a:cs typeface="CMU Serif" panose="02000603000000000000" pitchFamily="2" charset="0"/>
              </a:rPr>
              <a:t>I</a:t>
            </a:r>
            <a:r>
              <a:rPr lang="en-US" baseline="-25000">
                <a:latin typeface="CMU Serif" panose="02000603000000000000" pitchFamily="2" charset="0"/>
                <a:ea typeface="CMU Serif" panose="02000603000000000000" pitchFamily="2" charset="0"/>
                <a:cs typeface="CMU Serif" panose="02000603000000000000" pitchFamily="2" charset="0"/>
              </a:rPr>
              <a:t>d</a:t>
            </a:r>
            <a:r>
              <a:rPr lang="en-US"/>
              <a:t>, </a:t>
            </a:r>
            <a:r>
              <a:rPr lang="en-US">
                <a:solidFill>
                  <a:schemeClr val="tx1">
                    <a:lumMod val="50000"/>
                    <a:lumOff val="50000"/>
                  </a:schemeClr>
                </a:solidFill>
              </a:rPr>
              <a:t>[15]</a:t>
            </a:r>
          </a:p>
          <a:p>
            <a:pPr lvl="1">
              <a:lnSpc>
                <a:spcPct val="110000"/>
              </a:lnSpc>
            </a:pPr>
            <a:r>
              <a:rPr lang="en-US"/>
              <a:t>Intrinsic voltage gain </a:t>
            </a:r>
            <a:r>
              <a:rPr lang="en-US" i="1">
                <a:latin typeface="CMU Serif" panose="02000603000000000000" pitchFamily="2" charset="0"/>
                <a:ea typeface="CMU Serif" panose="02000603000000000000" pitchFamily="2" charset="0"/>
                <a:cs typeface="CMU Serif" panose="02000603000000000000" pitchFamily="2" charset="0"/>
              </a:rPr>
              <a:t>A</a:t>
            </a:r>
            <a:r>
              <a:rPr lang="en-US" i="1" baseline="-25000">
                <a:latin typeface="CMU Serif" panose="02000603000000000000" pitchFamily="2" charset="0"/>
                <a:ea typeface="CMU Serif" panose="02000603000000000000" pitchFamily="2" charset="0"/>
                <a:cs typeface="CMU Serif" panose="02000603000000000000" pitchFamily="2" charset="0"/>
              </a:rPr>
              <a:t>v</a:t>
            </a:r>
            <a:r>
              <a:rPr lang="en-US">
                <a:latin typeface="CMU Serif" panose="02000603000000000000" pitchFamily="2" charset="0"/>
                <a:ea typeface="CMU Serif" panose="02000603000000000000" pitchFamily="2" charset="0"/>
                <a:cs typeface="CMU Serif" panose="02000603000000000000" pitchFamily="2" charset="0"/>
              </a:rPr>
              <a:t>=-</a:t>
            </a:r>
            <a:r>
              <a:rPr lang="en-US" i="1" err="1">
                <a:latin typeface="CMU Serif" panose="02000603000000000000" pitchFamily="2" charset="0"/>
                <a:ea typeface="CMU Serif" panose="02000603000000000000" pitchFamily="2" charset="0"/>
                <a:cs typeface="CMU Serif" panose="02000603000000000000" pitchFamily="2" charset="0"/>
              </a:rPr>
              <a:t>g</a:t>
            </a:r>
            <a:r>
              <a:rPr lang="en-US" i="1" baseline="-25000" err="1">
                <a:latin typeface="CMU Serif" panose="02000603000000000000" pitchFamily="2" charset="0"/>
                <a:ea typeface="CMU Serif" panose="02000603000000000000" pitchFamily="2" charset="0"/>
                <a:cs typeface="CMU Serif" panose="02000603000000000000" pitchFamily="2" charset="0"/>
              </a:rPr>
              <a:t>m</a:t>
            </a:r>
            <a:r>
              <a:rPr lang="en-US" i="1" err="1">
                <a:latin typeface="CMU Serif" panose="02000603000000000000" pitchFamily="2" charset="0"/>
                <a:ea typeface="CMU Serif" panose="02000603000000000000" pitchFamily="2" charset="0"/>
                <a:cs typeface="CMU Serif" panose="02000603000000000000" pitchFamily="2" charset="0"/>
              </a:rPr>
              <a:t>r</a:t>
            </a:r>
            <a:r>
              <a:rPr lang="en-US" baseline="-25000" err="1">
                <a:latin typeface="CMU Serif" panose="02000603000000000000" pitchFamily="2" charset="0"/>
                <a:ea typeface="CMU Serif" panose="02000603000000000000" pitchFamily="2" charset="0"/>
                <a:cs typeface="CMU Serif" panose="02000603000000000000" pitchFamily="2" charset="0"/>
              </a:rPr>
              <a:t>ds</a:t>
            </a:r>
            <a:endParaRPr lang="en-US" baseline="-25000">
              <a:latin typeface="CMU Serif" panose="02000603000000000000" pitchFamily="2" charset="0"/>
              <a:ea typeface="CMU Serif" panose="02000603000000000000" pitchFamily="2" charset="0"/>
              <a:cs typeface="CMU Serif" panose="02000603000000000000" pitchFamily="2" charset="0"/>
            </a:endParaRPr>
          </a:p>
        </p:txBody>
      </p:sp>
      <p:sp>
        <p:nvSpPr>
          <p:cNvPr id="2" name="Title 1">
            <a:extLst>
              <a:ext uri="{FF2B5EF4-FFF2-40B4-BE49-F238E27FC236}">
                <a16:creationId xmlns:a16="http://schemas.microsoft.com/office/drawing/2014/main" id="{470BF903-F457-26B2-3964-614BA9E636A3}"/>
              </a:ext>
            </a:extLst>
          </p:cNvPr>
          <p:cNvSpPr>
            <a:spLocks noGrp="1"/>
          </p:cNvSpPr>
          <p:nvPr>
            <p:ph type="title"/>
          </p:nvPr>
        </p:nvSpPr>
        <p:spPr>
          <a:xfrm>
            <a:off x="838200" y="365126"/>
            <a:ext cx="10515600" cy="689900"/>
          </a:xfrm>
        </p:spPr>
        <p:txBody>
          <a:bodyPr anchor="b">
            <a:normAutofit/>
          </a:bodyPr>
          <a:lstStyle/>
          <a:p>
            <a:r>
              <a:rPr lang="en-US" b="1"/>
              <a:t>Fully Depleted-Silicon On Insulator: Overview</a:t>
            </a:r>
          </a:p>
        </p:txBody>
      </p:sp>
      <p:pic>
        <p:nvPicPr>
          <p:cNvPr id="18" name="Content Placeholder 17">
            <a:extLst>
              <a:ext uri="{FF2B5EF4-FFF2-40B4-BE49-F238E27FC236}">
                <a16:creationId xmlns:a16="http://schemas.microsoft.com/office/drawing/2014/main" id="{55C286AC-58BE-1CD2-9486-825856982A34}"/>
              </a:ext>
            </a:extLst>
          </p:cNvPr>
          <p:cNvPicPr preferRelativeResize="0">
            <a:picLocks noGrp="1" noChangeAspect="1"/>
          </p:cNvPicPr>
          <p:nvPr>
            <p:ph sz="half" idx="2"/>
          </p:nvPr>
        </p:nvPicPr>
        <p:blipFill>
          <a:blip r:embed="rId3">
            <a:extLst>
              <a:ext uri="{28A0092B-C50C-407E-A947-70E740481C1C}">
                <a14:useLocalDpi xmlns:a14="http://schemas.microsoft.com/office/drawing/2010/main" val="0"/>
              </a:ext>
            </a:extLst>
          </a:blip>
          <a:stretch/>
        </p:blipFill>
        <p:spPr>
          <a:xfrm>
            <a:off x="6259399" y="1801906"/>
            <a:ext cx="5093027" cy="3192458"/>
          </a:xfrm>
        </p:spPr>
      </p:pic>
      <p:sp>
        <p:nvSpPr>
          <p:cNvPr id="5" name="Date Placeholder 4">
            <a:extLst>
              <a:ext uri="{FF2B5EF4-FFF2-40B4-BE49-F238E27FC236}">
                <a16:creationId xmlns:a16="http://schemas.microsoft.com/office/drawing/2014/main" id="{CFA1F7E1-1107-A3D3-5ED3-C4ACFB12060D}"/>
              </a:ext>
            </a:extLst>
          </p:cNvPr>
          <p:cNvSpPr>
            <a:spLocks noGrp="1"/>
          </p:cNvSpPr>
          <p:nvPr>
            <p:ph type="dt" sz="half" idx="10"/>
          </p:nvPr>
        </p:nvSpPr>
        <p:spPr/>
        <p:txBody>
          <a:bodyPr anchor="ctr">
            <a:normAutofit/>
          </a:bodyPr>
          <a:lstStyle/>
          <a:p>
            <a:fld id="{0E53D1C4-5FEF-464B-AFAA-A733CD43D057}" type="datetime3">
              <a:rPr lang="en-US" smtClean="0"/>
              <a:pPr/>
              <a:t>14 December 2025</a:t>
            </a:fld>
            <a:endParaRPr lang="en-US"/>
          </a:p>
        </p:txBody>
      </p:sp>
      <p:sp>
        <p:nvSpPr>
          <p:cNvPr id="6" name="Footer Placeholder 5">
            <a:extLst>
              <a:ext uri="{FF2B5EF4-FFF2-40B4-BE49-F238E27FC236}">
                <a16:creationId xmlns:a16="http://schemas.microsoft.com/office/drawing/2014/main" id="{7B236B3D-F60B-F034-6F22-2DC0524A468B}"/>
              </a:ext>
            </a:extLst>
          </p:cNvPr>
          <p:cNvSpPr>
            <a:spLocks noGrp="1"/>
          </p:cNvSpPr>
          <p:nvPr>
            <p:ph type="ftr" sz="quarter" idx="11"/>
          </p:nvPr>
        </p:nvSpPr>
        <p:spPr/>
        <p:txBody>
          <a:bodyPr anchor="ctr">
            <a:normAutofit/>
          </a:bodyPr>
          <a:lstStyle/>
          <a:p>
            <a:r>
              <a:rPr lang="en-GB"/>
              <a:t>[116] Design of VLSI Systems ┃ Group 02</a:t>
            </a:r>
            <a:endParaRPr lang="en-US"/>
          </a:p>
        </p:txBody>
      </p:sp>
      <p:sp>
        <p:nvSpPr>
          <p:cNvPr id="7" name="Slide Number Placeholder 6">
            <a:extLst>
              <a:ext uri="{FF2B5EF4-FFF2-40B4-BE49-F238E27FC236}">
                <a16:creationId xmlns:a16="http://schemas.microsoft.com/office/drawing/2014/main" id="{C2DB6D53-2035-5BA8-BE52-26BFB7199870}"/>
              </a:ext>
            </a:extLst>
          </p:cNvPr>
          <p:cNvSpPr>
            <a:spLocks noGrp="1"/>
          </p:cNvSpPr>
          <p:nvPr>
            <p:ph type="sldNum" sz="quarter" idx="12"/>
          </p:nvPr>
        </p:nvSpPr>
        <p:spPr/>
        <p:txBody>
          <a:bodyPr anchor="ctr">
            <a:normAutofit/>
          </a:bodyPr>
          <a:lstStyle/>
          <a:p>
            <a:fld id="{57CA127F-6BC0-40BB-9B02-66AE29583F1C}" type="slidenum">
              <a:rPr lang="en-US" smtClean="0"/>
              <a:pPr/>
              <a:t>17</a:t>
            </a:fld>
            <a:endParaRPr lang="en-US"/>
          </a:p>
        </p:txBody>
      </p:sp>
      <p:sp>
        <p:nvSpPr>
          <p:cNvPr id="19" name="TextBox 18">
            <a:extLst>
              <a:ext uri="{FF2B5EF4-FFF2-40B4-BE49-F238E27FC236}">
                <a16:creationId xmlns:a16="http://schemas.microsoft.com/office/drawing/2014/main" id="{CBD9DBC0-3BD9-2802-F8B1-0E9ED7A63EAD}"/>
              </a:ext>
            </a:extLst>
          </p:cNvPr>
          <p:cNvSpPr txBox="1"/>
          <p:nvPr/>
        </p:nvSpPr>
        <p:spPr>
          <a:xfrm>
            <a:off x="6259399" y="5152320"/>
            <a:ext cx="5094402" cy="738664"/>
          </a:xfrm>
          <a:prstGeom prst="rect">
            <a:avLst/>
          </a:prstGeom>
          <a:noFill/>
        </p:spPr>
        <p:txBody>
          <a:bodyPr wrap="square" rtlCol="0">
            <a:spAutoFit/>
          </a:bodyPr>
          <a:lstStyle/>
          <a:p>
            <a:r>
              <a:rPr lang="en-GB" sz="1400" b="1"/>
              <a:t>Figure FD-SOI.1:</a:t>
            </a:r>
            <a:r>
              <a:rPr lang="en-GB" sz="1400"/>
              <a:t> Cross-section of the n- and p-channel MOSFETs with back-gate wells and deep n-well in  28nm UTBB FD-SOI CMOS process </a:t>
            </a:r>
            <a:r>
              <a:rPr lang="en-GB" sz="1400">
                <a:solidFill>
                  <a:schemeClr val="tx1">
                    <a:lumMod val="50000"/>
                    <a:lumOff val="50000"/>
                  </a:schemeClr>
                </a:solidFill>
              </a:rPr>
              <a:t>[13]</a:t>
            </a:r>
            <a:r>
              <a:rPr lang="en-GB" sz="1400"/>
              <a:t> .</a:t>
            </a:r>
            <a:endParaRPr lang="en-US" sz="1400"/>
          </a:p>
        </p:txBody>
      </p:sp>
    </p:spTree>
    <p:extLst>
      <p:ext uri="{BB962C8B-B14F-4D97-AF65-F5344CB8AC3E}">
        <p14:creationId xmlns:p14="http://schemas.microsoft.com/office/powerpoint/2010/main" val="25090769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FAB9E-5FC7-4D83-86BE-BB07425762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A893F9-CD2C-3801-1DD4-79A33A565695}"/>
              </a:ext>
            </a:extLst>
          </p:cNvPr>
          <p:cNvSpPr>
            <a:spLocks noGrp="1"/>
          </p:cNvSpPr>
          <p:nvPr>
            <p:ph type="title"/>
          </p:nvPr>
        </p:nvSpPr>
        <p:spPr/>
        <p:txBody>
          <a:bodyPr/>
          <a:lstStyle/>
          <a:p>
            <a:r>
              <a:rPr lang="en-US"/>
              <a:t>FD-SOI</a:t>
            </a:r>
          </a:p>
        </p:txBody>
      </p:sp>
      <p:sp>
        <p:nvSpPr>
          <p:cNvPr id="3" name="Text Placeholder 2">
            <a:extLst>
              <a:ext uri="{FF2B5EF4-FFF2-40B4-BE49-F238E27FC236}">
                <a16:creationId xmlns:a16="http://schemas.microsoft.com/office/drawing/2014/main" id="{9DE6504E-C6D2-DDB3-B523-7485DD9E39C3}"/>
              </a:ext>
            </a:extLst>
          </p:cNvPr>
          <p:cNvSpPr>
            <a:spLocks noGrp="1"/>
          </p:cNvSpPr>
          <p:nvPr>
            <p:ph type="body" idx="1"/>
          </p:nvPr>
        </p:nvSpPr>
        <p:spPr/>
        <p:txBody>
          <a:bodyPr>
            <a:normAutofit lnSpcReduction="10000"/>
          </a:bodyPr>
          <a:lstStyle/>
          <a:p>
            <a:pPr marL="342900" indent="-342900">
              <a:buFont typeface="Arial" panose="020B0604020202020204" pitchFamily="34" charset="0"/>
              <a:buChar char="•"/>
            </a:pPr>
            <a:r>
              <a:rPr lang="en-US"/>
              <a:t>Technology overview</a:t>
            </a:r>
          </a:p>
          <a:p>
            <a:pPr marL="342900" indent="-342900">
              <a:buFont typeface="Arial" panose="020B0604020202020204" pitchFamily="34" charset="0"/>
              <a:buChar char="•"/>
            </a:pPr>
            <a:r>
              <a:rPr lang="en-GB" b="1">
                <a:solidFill>
                  <a:schemeClr val="tx1"/>
                </a:solidFill>
              </a:rPr>
              <a:t>“A Novel 1T-APS Using 22nm FD-SOI Technology With Record High </a:t>
            </a:r>
            <a:r>
              <a:rPr lang="en-GB" b="1" err="1">
                <a:solidFill>
                  <a:schemeClr val="tx1"/>
                </a:solidFill>
              </a:rPr>
              <a:t>Tunable</a:t>
            </a:r>
            <a:r>
              <a:rPr lang="en-GB" b="1">
                <a:solidFill>
                  <a:schemeClr val="tx1"/>
                </a:solidFill>
              </a:rPr>
              <a:t> Sensitivity Range”, </a:t>
            </a:r>
            <a:r>
              <a:rPr lang="en-US" b="1">
                <a:solidFill>
                  <a:schemeClr val="tx1"/>
                </a:solidFill>
              </a:rPr>
              <a:t>H. Xie et al. </a:t>
            </a:r>
            <a:r>
              <a:rPr lang="en-US" b="1">
                <a:solidFill>
                  <a:schemeClr val="tx1">
                    <a:lumMod val="50000"/>
                    <a:lumOff val="50000"/>
                  </a:schemeClr>
                </a:solidFill>
              </a:rPr>
              <a:t>[3]</a:t>
            </a:r>
          </a:p>
          <a:p>
            <a:pPr marL="342900" indent="-342900">
              <a:buFont typeface="Arial" panose="020B0604020202020204" pitchFamily="34" charset="0"/>
              <a:buChar char="•"/>
            </a:pPr>
            <a:r>
              <a:rPr lang="en-US"/>
              <a:t>“</a:t>
            </a:r>
            <a:r>
              <a:rPr lang="en-GB"/>
              <a:t>A Wideband Sub-6GHz Transceiver Front End for 5G Base Stations in 22-nm FD-SOI CMOS”, </a:t>
            </a:r>
            <a:r>
              <a:rPr lang="en-US"/>
              <a:t>C. Elgaard et al. [4]</a:t>
            </a:r>
          </a:p>
        </p:txBody>
      </p:sp>
      <p:sp>
        <p:nvSpPr>
          <p:cNvPr id="4" name="Date Placeholder 3">
            <a:extLst>
              <a:ext uri="{FF2B5EF4-FFF2-40B4-BE49-F238E27FC236}">
                <a16:creationId xmlns:a16="http://schemas.microsoft.com/office/drawing/2014/main" id="{2830E0C9-48CF-D6D1-123E-A706297C265E}"/>
              </a:ext>
            </a:extLst>
          </p:cNvPr>
          <p:cNvSpPr>
            <a:spLocks noGrp="1"/>
          </p:cNvSpPr>
          <p:nvPr>
            <p:ph type="dt" sz="half" idx="10"/>
          </p:nvPr>
        </p:nvSpPr>
        <p:spPr/>
        <p:txBody>
          <a:bodyPr/>
          <a:lstStyle/>
          <a:p>
            <a:fld id="{58C211B4-85A7-488E-BFBE-0FFA928309BE}" type="datetime3">
              <a:rPr lang="en-US" smtClean="0"/>
              <a:t>14 December 2025</a:t>
            </a:fld>
            <a:endParaRPr lang="en-US"/>
          </a:p>
        </p:txBody>
      </p:sp>
      <p:sp>
        <p:nvSpPr>
          <p:cNvPr id="5" name="Slide Number Placeholder 4">
            <a:extLst>
              <a:ext uri="{FF2B5EF4-FFF2-40B4-BE49-F238E27FC236}">
                <a16:creationId xmlns:a16="http://schemas.microsoft.com/office/drawing/2014/main" id="{6E6E1FD3-AF7A-A2DE-480C-1755BD42D257}"/>
              </a:ext>
            </a:extLst>
          </p:cNvPr>
          <p:cNvSpPr>
            <a:spLocks noGrp="1"/>
          </p:cNvSpPr>
          <p:nvPr>
            <p:ph type="sldNum" sz="quarter" idx="12"/>
          </p:nvPr>
        </p:nvSpPr>
        <p:spPr/>
        <p:txBody>
          <a:bodyPr/>
          <a:lstStyle/>
          <a:p>
            <a:fld id="{57CA127F-6BC0-40BB-9B02-66AE29583F1C}" type="slidenum">
              <a:rPr lang="en-US" smtClean="0"/>
              <a:t>18</a:t>
            </a:fld>
            <a:endParaRPr lang="en-US"/>
          </a:p>
        </p:txBody>
      </p:sp>
      <p:sp>
        <p:nvSpPr>
          <p:cNvPr id="7" name="Footer Placeholder 6">
            <a:extLst>
              <a:ext uri="{FF2B5EF4-FFF2-40B4-BE49-F238E27FC236}">
                <a16:creationId xmlns:a16="http://schemas.microsoft.com/office/drawing/2014/main" id="{14BC598D-2BEA-F10D-0337-53D55EF1ABB7}"/>
              </a:ext>
            </a:extLst>
          </p:cNvPr>
          <p:cNvSpPr>
            <a:spLocks noGrp="1"/>
          </p:cNvSpPr>
          <p:nvPr>
            <p:ph type="ftr" sz="quarter" idx="11"/>
          </p:nvPr>
        </p:nvSpPr>
        <p:spPr/>
        <p:txBody>
          <a:bodyPr/>
          <a:lstStyle/>
          <a:p>
            <a:r>
              <a:rPr lang="en-GB"/>
              <a:t>[116] Design of VLSI Systems ┃ Group 02</a:t>
            </a:r>
            <a:endParaRPr lang="en-US"/>
          </a:p>
        </p:txBody>
      </p:sp>
    </p:spTree>
    <p:extLst>
      <p:ext uri="{BB962C8B-B14F-4D97-AF65-F5344CB8AC3E}">
        <p14:creationId xmlns:p14="http://schemas.microsoft.com/office/powerpoint/2010/main" val="42077686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E1C96-4A70-49AE-0A0A-DF1628624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9C41EB-6C59-A315-E2D9-0D6FDF3CC18B}"/>
              </a:ext>
            </a:extLst>
          </p:cNvPr>
          <p:cNvSpPr>
            <a:spLocks noGrp="1"/>
          </p:cNvSpPr>
          <p:nvPr>
            <p:ph type="title"/>
          </p:nvPr>
        </p:nvSpPr>
        <p:spPr>
          <a:xfrm>
            <a:off x="841248" y="365125"/>
            <a:ext cx="10515600" cy="685800"/>
          </a:xfrm>
        </p:spPr>
        <p:txBody>
          <a:bodyPr anchor="b">
            <a:normAutofit/>
          </a:bodyPr>
          <a:lstStyle/>
          <a:p>
            <a:r>
              <a:rPr lang="en-GB" b="1"/>
              <a:t>1T-APS Using 22nm FD-SOI Technology</a:t>
            </a:r>
            <a:endParaRPr lang="en-US"/>
          </a:p>
        </p:txBody>
      </p:sp>
      <p:sp>
        <p:nvSpPr>
          <p:cNvPr id="149" name="Text Placeholder 148">
            <a:extLst>
              <a:ext uri="{FF2B5EF4-FFF2-40B4-BE49-F238E27FC236}">
                <a16:creationId xmlns:a16="http://schemas.microsoft.com/office/drawing/2014/main" id="{76E73775-0241-DE7A-D199-47E49A1210CF}"/>
              </a:ext>
            </a:extLst>
          </p:cNvPr>
          <p:cNvSpPr>
            <a:spLocks noGrp="1"/>
          </p:cNvSpPr>
          <p:nvPr>
            <p:ph type="body" idx="1"/>
          </p:nvPr>
        </p:nvSpPr>
        <p:spPr>
          <a:xfrm>
            <a:off x="6517341" y="5136777"/>
            <a:ext cx="4657165" cy="1056848"/>
          </a:xfrm>
        </p:spPr>
        <p:txBody>
          <a:bodyPr>
            <a:normAutofit/>
          </a:bodyPr>
          <a:lstStyle/>
          <a:p>
            <a:pPr>
              <a:lnSpc>
                <a:spcPct val="120000"/>
              </a:lnSpc>
            </a:pPr>
            <a:r>
              <a:rPr lang="en-GB" sz="1600"/>
              <a:t>Figure FD-SOI.</a:t>
            </a:r>
            <a:r>
              <a:rPr lang="el-GR" sz="1600"/>
              <a:t>2</a:t>
            </a:r>
            <a:r>
              <a:rPr lang="en-GB" sz="1600"/>
              <a:t>:</a:t>
            </a:r>
            <a:r>
              <a:rPr lang="en-GB" sz="1600" b="0"/>
              <a:t> (a) Schematic 3D structure and (b) 2D cross-section of 1T-APS. (c) XTEM image and (d) the simplified process flow. Taken from </a:t>
            </a:r>
            <a:r>
              <a:rPr lang="en-GB" sz="1600" b="0">
                <a:solidFill>
                  <a:schemeClr val="tx1">
                    <a:lumMod val="50000"/>
                    <a:lumOff val="50000"/>
                  </a:schemeClr>
                </a:solidFill>
              </a:rPr>
              <a:t>[3]</a:t>
            </a:r>
            <a:r>
              <a:rPr lang="en-GB" sz="1600" b="0"/>
              <a:t>.</a:t>
            </a:r>
            <a:endParaRPr lang="en-US" sz="1600"/>
          </a:p>
        </p:txBody>
      </p:sp>
      <p:sp>
        <p:nvSpPr>
          <p:cNvPr id="5" name="Date Placeholder 4">
            <a:extLst>
              <a:ext uri="{FF2B5EF4-FFF2-40B4-BE49-F238E27FC236}">
                <a16:creationId xmlns:a16="http://schemas.microsoft.com/office/drawing/2014/main" id="{3358D7A3-4229-08F7-36E8-DC41F8C03E9C}"/>
              </a:ext>
            </a:extLst>
          </p:cNvPr>
          <p:cNvSpPr>
            <a:spLocks noGrp="1"/>
          </p:cNvSpPr>
          <p:nvPr>
            <p:ph type="dt" sz="half" idx="10"/>
          </p:nvPr>
        </p:nvSpPr>
        <p:spPr/>
        <p:txBody>
          <a:bodyPr anchor="ctr">
            <a:normAutofit/>
          </a:bodyPr>
          <a:lstStyle/>
          <a:p>
            <a:fld id="{0E53D1C4-5FEF-464B-AFAA-A733CD43D057}" type="datetime3">
              <a:rPr lang="en-US" smtClean="0"/>
              <a:pPr/>
              <a:t>14 December 2025</a:t>
            </a:fld>
            <a:endParaRPr lang="en-US"/>
          </a:p>
        </p:txBody>
      </p:sp>
      <p:sp>
        <p:nvSpPr>
          <p:cNvPr id="6" name="Footer Placeholder 5">
            <a:extLst>
              <a:ext uri="{FF2B5EF4-FFF2-40B4-BE49-F238E27FC236}">
                <a16:creationId xmlns:a16="http://schemas.microsoft.com/office/drawing/2014/main" id="{32495467-4A43-B4AF-71AF-2E744A725A46}"/>
              </a:ext>
            </a:extLst>
          </p:cNvPr>
          <p:cNvSpPr>
            <a:spLocks noGrp="1"/>
          </p:cNvSpPr>
          <p:nvPr>
            <p:ph type="ftr" sz="quarter" idx="11"/>
          </p:nvPr>
        </p:nvSpPr>
        <p:spPr/>
        <p:txBody>
          <a:bodyPr anchor="ctr">
            <a:normAutofit/>
          </a:bodyPr>
          <a:lstStyle/>
          <a:p>
            <a:r>
              <a:rPr lang="en-GB"/>
              <a:t>[116] Design of VLSI Systems ┃ Group 02</a:t>
            </a:r>
            <a:endParaRPr lang="en-US"/>
          </a:p>
        </p:txBody>
      </p:sp>
      <p:sp>
        <p:nvSpPr>
          <p:cNvPr id="7" name="Slide Number Placeholder 6">
            <a:extLst>
              <a:ext uri="{FF2B5EF4-FFF2-40B4-BE49-F238E27FC236}">
                <a16:creationId xmlns:a16="http://schemas.microsoft.com/office/drawing/2014/main" id="{3BEF3EA9-072B-65C2-12A6-6EE22063D4E8}"/>
              </a:ext>
            </a:extLst>
          </p:cNvPr>
          <p:cNvSpPr>
            <a:spLocks noGrp="1"/>
          </p:cNvSpPr>
          <p:nvPr>
            <p:ph type="sldNum" sz="quarter" idx="12"/>
          </p:nvPr>
        </p:nvSpPr>
        <p:spPr/>
        <p:txBody>
          <a:bodyPr anchor="ctr">
            <a:normAutofit/>
          </a:bodyPr>
          <a:lstStyle/>
          <a:p>
            <a:fld id="{57CA127F-6BC0-40BB-9B02-66AE29583F1C}" type="slidenum">
              <a:rPr lang="en-US" smtClean="0"/>
              <a:pPr/>
              <a:t>19</a:t>
            </a:fld>
            <a:endParaRPr lang="en-US"/>
          </a:p>
        </p:txBody>
      </p:sp>
      <p:pic>
        <p:nvPicPr>
          <p:cNvPr id="13" name="Content Placeholder 12" descr="A diagram of a structure&#10;&#10;AI-generated content may be incorrect.">
            <a:extLst>
              <a:ext uri="{FF2B5EF4-FFF2-40B4-BE49-F238E27FC236}">
                <a16:creationId xmlns:a16="http://schemas.microsoft.com/office/drawing/2014/main" id="{A6E66A93-2DFF-DA55-DDB5-021212D2E07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839787" y="1165413"/>
            <a:ext cx="5456721" cy="5028212"/>
          </a:xfrm>
        </p:spPr>
      </p:pic>
      <p:sp>
        <p:nvSpPr>
          <p:cNvPr id="3" name="TextBox 2">
            <a:extLst>
              <a:ext uri="{FF2B5EF4-FFF2-40B4-BE49-F238E27FC236}">
                <a16:creationId xmlns:a16="http://schemas.microsoft.com/office/drawing/2014/main" id="{AAE8C1AF-5111-B52A-05BF-A30C861836AF}"/>
              </a:ext>
            </a:extLst>
          </p:cNvPr>
          <p:cNvSpPr txBox="1"/>
          <p:nvPr/>
        </p:nvSpPr>
        <p:spPr>
          <a:xfrm>
            <a:off x="6517341" y="1165509"/>
            <a:ext cx="4616824" cy="3539430"/>
          </a:xfrm>
          <a:prstGeom prst="rect">
            <a:avLst/>
          </a:prstGeom>
          <a:noFill/>
        </p:spPr>
        <p:txBody>
          <a:bodyPr wrap="square" rtlCol="0">
            <a:spAutoFit/>
          </a:bodyPr>
          <a:lstStyle/>
          <a:p>
            <a:pPr marL="285750" indent="-285750">
              <a:buFont typeface="Arial" panose="020B0604020202020204" pitchFamily="34" charset="0"/>
              <a:buChar char="•"/>
            </a:pPr>
            <a:r>
              <a:rPr lang="en-US" sz="2800"/>
              <a:t>Negative BG and SUB voltage pulse act as reset.</a:t>
            </a:r>
          </a:p>
          <a:p>
            <a:pPr marL="285750" indent="-285750">
              <a:buFont typeface="Arial" panose="020B0604020202020204" pitchFamily="34" charset="0"/>
              <a:buChar char="•"/>
            </a:pPr>
            <a:r>
              <a:rPr lang="en-US" sz="2800"/>
              <a:t>Maximum load-stored is controlled mainly by BG.</a:t>
            </a:r>
          </a:p>
          <a:p>
            <a:pPr marL="285750" indent="-285750">
              <a:buFont typeface="Arial" panose="020B0604020202020204" pitchFamily="34" charset="0"/>
              <a:buChar char="•"/>
            </a:pPr>
            <a:r>
              <a:rPr lang="en-US" sz="2800"/>
              <a:t>BG and SUB voltage regulation pushes or extracts photoelectrons from the depletion region.</a:t>
            </a:r>
          </a:p>
        </p:txBody>
      </p:sp>
    </p:spTree>
    <p:extLst>
      <p:ext uri="{BB962C8B-B14F-4D97-AF65-F5344CB8AC3E}">
        <p14:creationId xmlns:p14="http://schemas.microsoft.com/office/powerpoint/2010/main" val="809524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576A0-18DA-D21C-CD07-1C460EE80B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3C89B8-176C-107F-6A4B-5388867B47D3}"/>
              </a:ext>
            </a:extLst>
          </p:cNvPr>
          <p:cNvSpPr>
            <a:spLocks noGrp="1"/>
          </p:cNvSpPr>
          <p:nvPr>
            <p:ph type="title"/>
          </p:nvPr>
        </p:nvSpPr>
        <p:spPr/>
        <p:txBody>
          <a:bodyPr/>
          <a:lstStyle/>
          <a:p>
            <a:r>
              <a:rPr lang="en-US"/>
              <a:t>FD-SOI</a:t>
            </a:r>
          </a:p>
        </p:txBody>
      </p:sp>
      <p:sp>
        <p:nvSpPr>
          <p:cNvPr id="3" name="Text Placeholder 2">
            <a:extLst>
              <a:ext uri="{FF2B5EF4-FFF2-40B4-BE49-F238E27FC236}">
                <a16:creationId xmlns:a16="http://schemas.microsoft.com/office/drawing/2014/main" id="{D757506C-B6DE-74C7-59C0-7D8375268428}"/>
              </a:ext>
            </a:extLst>
          </p:cNvPr>
          <p:cNvSpPr>
            <a:spLocks noGrp="1"/>
          </p:cNvSpPr>
          <p:nvPr>
            <p:ph type="body" idx="1"/>
          </p:nvPr>
        </p:nvSpPr>
        <p:spPr/>
        <p:txBody>
          <a:bodyPr>
            <a:normAutofit lnSpcReduction="10000"/>
          </a:bodyPr>
          <a:lstStyle/>
          <a:p>
            <a:pPr marL="342900" indent="-342900">
              <a:buFont typeface="Arial" panose="020B0604020202020204" pitchFamily="34" charset="0"/>
              <a:buChar char="•"/>
            </a:pPr>
            <a:r>
              <a:rPr lang="en-US"/>
              <a:t>Technology overview</a:t>
            </a:r>
          </a:p>
          <a:p>
            <a:pPr marL="342900" indent="-342900">
              <a:buFont typeface="Arial" panose="020B0604020202020204" pitchFamily="34" charset="0"/>
              <a:buChar char="•"/>
            </a:pPr>
            <a:r>
              <a:rPr lang="en-GB"/>
              <a:t>“A Novel 1T-APS Using 22nm FD-SOI Technology With Record High </a:t>
            </a:r>
            <a:r>
              <a:rPr lang="en-GB" err="1"/>
              <a:t>Tunable</a:t>
            </a:r>
            <a:r>
              <a:rPr lang="en-GB"/>
              <a:t> Sensitivity Range”, </a:t>
            </a:r>
            <a:r>
              <a:rPr lang="en-US"/>
              <a:t>H. Xie et al. [3]</a:t>
            </a:r>
          </a:p>
          <a:p>
            <a:pPr marL="342900" indent="-342900">
              <a:buFont typeface="Arial" panose="020B0604020202020204" pitchFamily="34" charset="0"/>
              <a:buChar char="•"/>
            </a:pPr>
            <a:r>
              <a:rPr lang="en-US" b="1">
                <a:solidFill>
                  <a:schemeClr val="tx1"/>
                </a:solidFill>
              </a:rPr>
              <a:t>“</a:t>
            </a:r>
            <a:r>
              <a:rPr lang="en-GB" b="1">
                <a:solidFill>
                  <a:schemeClr val="tx1"/>
                </a:solidFill>
              </a:rPr>
              <a:t>A Wideband Sub-6GHz Transceiver Front End for 5G Base Stations in 22-nm FD-SOI CMOS”, </a:t>
            </a:r>
            <a:r>
              <a:rPr lang="en-US" b="1">
                <a:solidFill>
                  <a:schemeClr val="tx1"/>
                </a:solidFill>
              </a:rPr>
              <a:t>C. Elgaard et al. </a:t>
            </a:r>
            <a:r>
              <a:rPr lang="en-US" b="1">
                <a:solidFill>
                  <a:schemeClr val="tx1">
                    <a:lumMod val="50000"/>
                    <a:lumOff val="50000"/>
                  </a:schemeClr>
                </a:solidFill>
              </a:rPr>
              <a:t>[4]</a:t>
            </a:r>
          </a:p>
        </p:txBody>
      </p:sp>
      <p:sp>
        <p:nvSpPr>
          <p:cNvPr id="4" name="Date Placeholder 3">
            <a:extLst>
              <a:ext uri="{FF2B5EF4-FFF2-40B4-BE49-F238E27FC236}">
                <a16:creationId xmlns:a16="http://schemas.microsoft.com/office/drawing/2014/main" id="{345B775C-6F16-F3E0-C307-ABC1D0280918}"/>
              </a:ext>
            </a:extLst>
          </p:cNvPr>
          <p:cNvSpPr>
            <a:spLocks noGrp="1"/>
          </p:cNvSpPr>
          <p:nvPr>
            <p:ph type="dt" sz="half" idx="10"/>
          </p:nvPr>
        </p:nvSpPr>
        <p:spPr/>
        <p:txBody>
          <a:bodyPr/>
          <a:lstStyle/>
          <a:p>
            <a:fld id="{58C211B4-85A7-488E-BFBE-0FFA928309BE}" type="datetime3">
              <a:rPr lang="en-US" smtClean="0"/>
              <a:t>14 December 2025</a:t>
            </a:fld>
            <a:endParaRPr lang="en-US"/>
          </a:p>
        </p:txBody>
      </p:sp>
      <p:sp>
        <p:nvSpPr>
          <p:cNvPr id="5" name="Slide Number Placeholder 4">
            <a:extLst>
              <a:ext uri="{FF2B5EF4-FFF2-40B4-BE49-F238E27FC236}">
                <a16:creationId xmlns:a16="http://schemas.microsoft.com/office/drawing/2014/main" id="{8D907E88-00F9-C1F0-E450-DD16C0EEBD6D}"/>
              </a:ext>
            </a:extLst>
          </p:cNvPr>
          <p:cNvSpPr>
            <a:spLocks noGrp="1"/>
          </p:cNvSpPr>
          <p:nvPr>
            <p:ph type="sldNum" sz="quarter" idx="12"/>
          </p:nvPr>
        </p:nvSpPr>
        <p:spPr/>
        <p:txBody>
          <a:bodyPr/>
          <a:lstStyle/>
          <a:p>
            <a:fld id="{57CA127F-6BC0-40BB-9B02-66AE29583F1C}" type="slidenum">
              <a:rPr lang="en-US" smtClean="0"/>
              <a:t>20</a:t>
            </a:fld>
            <a:endParaRPr lang="en-US"/>
          </a:p>
        </p:txBody>
      </p:sp>
      <p:sp>
        <p:nvSpPr>
          <p:cNvPr id="7" name="Footer Placeholder 6">
            <a:extLst>
              <a:ext uri="{FF2B5EF4-FFF2-40B4-BE49-F238E27FC236}">
                <a16:creationId xmlns:a16="http://schemas.microsoft.com/office/drawing/2014/main" id="{C6A8D29F-9F14-757E-5F6D-5E68610F2C5C}"/>
              </a:ext>
            </a:extLst>
          </p:cNvPr>
          <p:cNvSpPr>
            <a:spLocks noGrp="1"/>
          </p:cNvSpPr>
          <p:nvPr>
            <p:ph type="ftr" sz="quarter" idx="11"/>
          </p:nvPr>
        </p:nvSpPr>
        <p:spPr/>
        <p:txBody>
          <a:bodyPr/>
          <a:lstStyle/>
          <a:p>
            <a:r>
              <a:rPr lang="en-GB"/>
              <a:t>[116] Design of VLSI Systems ┃ Group 02</a:t>
            </a:r>
            <a:endParaRPr lang="en-US"/>
          </a:p>
        </p:txBody>
      </p:sp>
    </p:spTree>
    <p:extLst>
      <p:ext uri="{BB962C8B-B14F-4D97-AF65-F5344CB8AC3E}">
        <p14:creationId xmlns:p14="http://schemas.microsoft.com/office/powerpoint/2010/main" val="174536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62CD-AB87-15B8-04BF-5DA838F346AB}"/>
            </a:ext>
          </a:extLst>
        </p:cNvPr>
        <p:cNvGrpSpPr/>
        <p:nvPr/>
      </p:nvGrpSpPr>
      <p:grpSpPr>
        <a:xfrm>
          <a:off x="0" y="0"/>
          <a:ext cx="0" cy="0"/>
          <a:chOff x="0" y="0"/>
          <a:chExt cx="0" cy="0"/>
        </a:xfrm>
      </p:grpSpPr>
      <p:pic>
        <p:nvPicPr>
          <p:cNvPr id="15" name="Content Placeholder 14" descr="A diagram of a circuit&#10;&#10;AI-generated content may be incorrect.">
            <a:extLst>
              <a:ext uri="{FF2B5EF4-FFF2-40B4-BE49-F238E27FC236}">
                <a16:creationId xmlns:a16="http://schemas.microsoft.com/office/drawing/2014/main" id="{E7D2834C-0359-935E-2AAE-D4DB9FFC975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2365656" y="1199497"/>
            <a:ext cx="7460688" cy="5144806"/>
          </a:xfrm>
        </p:spPr>
      </p:pic>
      <p:sp>
        <p:nvSpPr>
          <p:cNvPr id="2" name="Title 1">
            <a:extLst>
              <a:ext uri="{FF2B5EF4-FFF2-40B4-BE49-F238E27FC236}">
                <a16:creationId xmlns:a16="http://schemas.microsoft.com/office/drawing/2014/main" id="{3A49F21C-7C4F-A70D-818B-1CAE9A94F431}"/>
              </a:ext>
            </a:extLst>
          </p:cNvPr>
          <p:cNvSpPr>
            <a:spLocks noGrp="1"/>
          </p:cNvSpPr>
          <p:nvPr>
            <p:ph type="title"/>
          </p:nvPr>
        </p:nvSpPr>
        <p:spPr>
          <a:xfrm>
            <a:off x="841248" y="365125"/>
            <a:ext cx="10515600" cy="685800"/>
          </a:xfrm>
        </p:spPr>
        <p:txBody>
          <a:bodyPr anchor="b">
            <a:normAutofit/>
          </a:bodyPr>
          <a:lstStyle/>
          <a:p>
            <a:r>
              <a:rPr lang="en-GB" b="1"/>
              <a:t>Simplified Integrated </a:t>
            </a:r>
            <a:r>
              <a:rPr lang="en-GB" b="1" err="1"/>
              <a:t>TRx</a:t>
            </a:r>
            <a:r>
              <a:rPr lang="en-GB" b="1"/>
              <a:t> Schematic</a:t>
            </a:r>
            <a:endParaRPr lang="en-US"/>
          </a:p>
        </p:txBody>
      </p:sp>
      <p:sp>
        <p:nvSpPr>
          <p:cNvPr id="5" name="Date Placeholder 4">
            <a:extLst>
              <a:ext uri="{FF2B5EF4-FFF2-40B4-BE49-F238E27FC236}">
                <a16:creationId xmlns:a16="http://schemas.microsoft.com/office/drawing/2014/main" id="{C4050851-058F-29BE-2C46-028AB0FC62CB}"/>
              </a:ext>
            </a:extLst>
          </p:cNvPr>
          <p:cNvSpPr>
            <a:spLocks noGrp="1"/>
          </p:cNvSpPr>
          <p:nvPr>
            <p:ph type="dt" sz="half" idx="10"/>
          </p:nvPr>
        </p:nvSpPr>
        <p:spPr/>
        <p:txBody>
          <a:bodyPr anchor="ctr">
            <a:normAutofit/>
          </a:bodyPr>
          <a:lstStyle/>
          <a:p>
            <a:fld id="{0E53D1C4-5FEF-464B-AFAA-A733CD43D057}" type="datetime3">
              <a:rPr lang="en-US" smtClean="0"/>
              <a:pPr/>
              <a:t>14 December 2025</a:t>
            </a:fld>
            <a:endParaRPr lang="en-US"/>
          </a:p>
        </p:txBody>
      </p:sp>
      <p:sp>
        <p:nvSpPr>
          <p:cNvPr id="6" name="Footer Placeholder 5">
            <a:extLst>
              <a:ext uri="{FF2B5EF4-FFF2-40B4-BE49-F238E27FC236}">
                <a16:creationId xmlns:a16="http://schemas.microsoft.com/office/drawing/2014/main" id="{4DAEB3D3-FC5F-169C-E51A-D4D0B363A259}"/>
              </a:ext>
            </a:extLst>
          </p:cNvPr>
          <p:cNvSpPr>
            <a:spLocks noGrp="1"/>
          </p:cNvSpPr>
          <p:nvPr>
            <p:ph type="ftr" sz="quarter" idx="11"/>
          </p:nvPr>
        </p:nvSpPr>
        <p:spPr/>
        <p:txBody>
          <a:bodyPr anchor="ctr">
            <a:normAutofit/>
          </a:bodyPr>
          <a:lstStyle/>
          <a:p>
            <a:r>
              <a:rPr lang="en-GB"/>
              <a:t>[116] Design of VLSI Systems ┃ Group 02</a:t>
            </a:r>
            <a:endParaRPr lang="en-US"/>
          </a:p>
        </p:txBody>
      </p:sp>
      <p:sp>
        <p:nvSpPr>
          <p:cNvPr id="7" name="Slide Number Placeholder 6">
            <a:extLst>
              <a:ext uri="{FF2B5EF4-FFF2-40B4-BE49-F238E27FC236}">
                <a16:creationId xmlns:a16="http://schemas.microsoft.com/office/drawing/2014/main" id="{7A3574D8-E92B-F445-EE85-39AFEB68C4BA}"/>
              </a:ext>
            </a:extLst>
          </p:cNvPr>
          <p:cNvSpPr>
            <a:spLocks noGrp="1"/>
          </p:cNvSpPr>
          <p:nvPr>
            <p:ph type="sldNum" sz="quarter" idx="12"/>
          </p:nvPr>
        </p:nvSpPr>
        <p:spPr/>
        <p:txBody>
          <a:bodyPr anchor="ctr">
            <a:normAutofit/>
          </a:bodyPr>
          <a:lstStyle/>
          <a:p>
            <a:fld id="{57CA127F-6BC0-40BB-9B02-66AE29583F1C}" type="slidenum">
              <a:rPr lang="en-US" smtClean="0"/>
              <a:pPr/>
              <a:t>21</a:t>
            </a:fld>
            <a:endParaRPr lang="en-US"/>
          </a:p>
        </p:txBody>
      </p:sp>
      <p:cxnSp>
        <p:nvCxnSpPr>
          <p:cNvPr id="18" name="Straight Connector 17">
            <a:extLst>
              <a:ext uri="{FF2B5EF4-FFF2-40B4-BE49-F238E27FC236}">
                <a16:creationId xmlns:a16="http://schemas.microsoft.com/office/drawing/2014/main" id="{5E31D3F4-DC65-7241-6AC9-1E8C04CFE12D}"/>
              </a:ext>
            </a:extLst>
          </p:cNvPr>
          <p:cNvCxnSpPr>
            <a:cxnSpLocks/>
          </p:cNvCxnSpPr>
          <p:nvPr/>
        </p:nvCxnSpPr>
        <p:spPr>
          <a:xfrm>
            <a:off x="2365656" y="3718560"/>
            <a:ext cx="5345376" cy="0"/>
          </a:xfrm>
          <a:prstGeom prst="line">
            <a:avLst/>
          </a:prstGeom>
          <a:ln w="28575">
            <a:prstDash val="dash"/>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26F4A51A-618F-A3FC-AA5F-00C8A21BD6E9}"/>
              </a:ext>
            </a:extLst>
          </p:cNvPr>
          <p:cNvSpPr txBox="1"/>
          <p:nvPr/>
        </p:nvSpPr>
        <p:spPr>
          <a:xfrm>
            <a:off x="2373845" y="3174974"/>
            <a:ext cx="607069" cy="523219"/>
          </a:xfrm>
          <a:prstGeom prst="rect">
            <a:avLst/>
          </a:prstGeom>
          <a:solidFill>
            <a:schemeClr val="bg1"/>
          </a:solidFill>
        </p:spPr>
        <p:txBody>
          <a:bodyPr wrap="square" rtlCol="0" anchor="b">
            <a:spAutoFit/>
          </a:bodyPr>
          <a:lstStyle/>
          <a:p>
            <a:r>
              <a:rPr lang="en-US" sz="2800" b="1">
                <a:solidFill>
                  <a:schemeClr val="accent1"/>
                </a:solidFill>
              </a:rPr>
              <a:t>Tx</a:t>
            </a:r>
          </a:p>
        </p:txBody>
      </p:sp>
      <p:sp>
        <p:nvSpPr>
          <p:cNvPr id="20" name="TextBox 19">
            <a:extLst>
              <a:ext uri="{FF2B5EF4-FFF2-40B4-BE49-F238E27FC236}">
                <a16:creationId xmlns:a16="http://schemas.microsoft.com/office/drawing/2014/main" id="{26DD31E4-4309-3B5E-8BFF-9ED36CE2CF55}"/>
              </a:ext>
            </a:extLst>
          </p:cNvPr>
          <p:cNvSpPr txBox="1"/>
          <p:nvPr/>
        </p:nvSpPr>
        <p:spPr>
          <a:xfrm>
            <a:off x="2373845" y="5821084"/>
            <a:ext cx="607069" cy="523219"/>
          </a:xfrm>
          <a:prstGeom prst="rect">
            <a:avLst/>
          </a:prstGeom>
          <a:solidFill>
            <a:schemeClr val="bg1"/>
          </a:solidFill>
        </p:spPr>
        <p:txBody>
          <a:bodyPr wrap="square" rtlCol="0" anchor="b">
            <a:spAutoFit/>
          </a:bodyPr>
          <a:lstStyle/>
          <a:p>
            <a:r>
              <a:rPr lang="en-US" sz="2800" b="1">
                <a:solidFill>
                  <a:schemeClr val="accent1"/>
                </a:solidFill>
              </a:rPr>
              <a:t>Rx</a:t>
            </a:r>
          </a:p>
        </p:txBody>
      </p:sp>
      <p:sp>
        <p:nvSpPr>
          <p:cNvPr id="16" name="Rectangle: Rounded Corners 15">
            <a:extLst>
              <a:ext uri="{FF2B5EF4-FFF2-40B4-BE49-F238E27FC236}">
                <a16:creationId xmlns:a16="http://schemas.microsoft.com/office/drawing/2014/main" id="{039D506B-D271-E005-2E88-20825B8B5D4E}"/>
              </a:ext>
            </a:extLst>
          </p:cNvPr>
          <p:cNvSpPr/>
          <p:nvPr/>
        </p:nvSpPr>
        <p:spPr>
          <a:xfrm>
            <a:off x="2365656" y="1199497"/>
            <a:ext cx="5345376" cy="5144806"/>
          </a:xfrm>
          <a:prstGeom prst="roundRect">
            <a:avLst>
              <a:gd name="adj" fmla="val 1943"/>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Top Corners Rounded 21">
            <a:extLst>
              <a:ext uri="{FF2B5EF4-FFF2-40B4-BE49-F238E27FC236}">
                <a16:creationId xmlns:a16="http://schemas.microsoft.com/office/drawing/2014/main" id="{0D26FC73-DBB8-3CCE-F65C-3D47BFB15FC3}"/>
              </a:ext>
            </a:extLst>
          </p:cNvPr>
          <p:cNvSpPr/>
          <p:nvPr/>
        </p:nvSpPr>
        <p:spPr>
          <a:xfrm rot="5400000">
            <a:off x="6624706" y="2568400"/>
            <a:ext cx="3290885" cy="1118235"/>
          </a:xfrm>
          <a:prstGeom prst="round2SameRect">
            <a:avLst/>
          </a:prstGeom>
          <a:noFill/>
          <a:ln w="28575">
            <a:solidFill>
              <a:schemeClr val="accent1"/>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148">
            <a:extLst>
              <a:ext uri="{FF2B5EF4-FFF2-40B4-BE49-F238E27FC236}">
                <a16:creationId xmlns:a16="http://schemas.microsoft.com/office/drawing/2014/main" id="{FC747CD9-D25F-FBAD-FA2C-C5B9F77EA6A1}"/>
              </a:ext>
            </a:extLst>
          </p:cNvPr>
          <p:cNvSpPr>
            <a:spLocks noGrp="1"/>
          </p:cNvSpPr>
          <p:nvPr>
            <p:ph type="body" idx="1"/>
          </p:nvPr>
        </p:nvSpPr>
        <p:spPr>
          <a:xfrm>
            <a:off x="7917772" y="5979177"/>
            <a:ext cx="3315006" cy="365126"/>
          </a:xfrm>
        </p:spPr>
        <p:txBody>
          <a:bodyPr>
            <a:normAutofit fontScale="85000" lnSpcReduction="10000"/>
          </a:bodyPr>
          <a:lstStyle/>
          <a:p>
            <a:pPr>
              <a:lnSpc>
                <a:spcPct val="120000"/>
              </a:lnSpc>
            </a:pPr>
            <a:r>
              <a:rPr lang="en-GB" sz="2000"/>
              <a:t>Figure FD-SOI.</a:t>
            </a:r>
            <a:r>
              <a:rPr lang="el-GR" sz="2000"/>
              <a:t>3</a:t>
            </a:r>
            <a:r>
              <a:rPr lang="en-GB" sz="2000"/>
              <a:t>:</a:t>
            </a:r>
            <a:r>
              <a:rPr lang="en-GB" sz="2000" b="0"/>
              <a:t> </a:t>
            </a:r>
            <a:r>
              <a:rPr lang="en-US" sz="2000" b="0" err="1"/>
              <a:t>TRx</a:t>
            </a:r>
            <a:r>
              <a:rPr lang="en-US" sz="2000" b="0"/>
              <a:t> schematic </a:t>
            </a:r>
            <a:r>
              <a:rPr lang="en-GB" sz="2000" b="0">
                <a:solidFill>
                  <a:schemeClr val="tx1">
                    <a:lumMod val="50000"/>
                    <a:lumOff val="50000"/>
                  </a:schemeClr>
                </a:solidFill>
              </a:rPr>
              <a:t>[4]</a:t>
            </a:r>
            <a:r>
              <a:rPr lang="en-GB" sz="2000" b="0"/>
              <a:t>.</a:t>
            </a:r>
            <a:endParaRPr lang="en-US" sz="2000"/>
          </a:p>
        </p:txBody>
      </p:sp>
    </p:spTree>
    <p:extLst>
      <p:ext uri="{BB962C8B-B14F-4D97-AF65-F5344CB8AC3E}">
        <p14:creationId xmlns:p14="http://schemas.microsoft.com/office/powerpoint/2010/main" val="749799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C944D-92A6-E86A-4BF1-D792BA583A2F}"/>
            </a:ext>
          </a:extLst>
        </p:cNvPr>
        <p:cNvGrpSpPr/>
        <p:nvPr/>
      </p:nvGrpSpPr>
      <p:grpSpPr>
        <a:xfrm>
          <a:off x="0" y="0"/>
          <a:ext cx="0" cy="0"/>
          <a:chOff x="0" y="0"/>
          <a:chExt cx="0" cy="0"/>
        </a:xfrm>
      </p:grpSpPr>
      <p:sp>
        <p:nvSpPr>
          <p:cNvPr id="17" name="Content Placeholder 15">
            <a:extLst>
              <a:ext uri="{FF2B5EF4-FFF2-40B4-BE49-F238E27FC236}">
                <a16:creationId xmlns:a16="http://schemas.microsoft.com/office/drawing/2014/main" id="{95DE7EEA-2021-3D67-905A-4AE4D74B77BF}"/>
              </a:ext>
            </a:extLst>
          </p:cNvPr>
          <p:cNvSpPr txBox="1">
            <a:spLocks/>
          </p:cNvSpPr>
          <p:nvPr/>
        </p:nvSpPr>
        <p:spPr>
          <a:xfrm>
            <a:off x="838200" y="1286901"/>
            <a:ext cx="6821032" cy="4806435"/>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342900" indent="-342900">
              <a:lnSpc>
                <a:spcPct val="130000"/>
              </a:lnSpc>
              <a:buFont typeface="Arial" panose="020B0604020202020204" pitchFamily="34" charset="0"/>
              <a:buChar char="•"/>
            </a:pPr>
            <a:r>
              <a:rPr lang="en-GB" sz="2000" b="0">
                <a:latin typeface="CMU Serif" panose="02000603000000000000" pitchFamily="2" charset="0"/>
                <a:ea typeface="CMU Serif" panose="02000603000000000000" pitchFamily="2" charset="0"/>
                <a:cs typeface="CMU Serif" panose="02000603000000000000" pitchFamily="2" charset="0"/>
              </a:rPr>
              <a:t>𝒮</a:t>
            </a:r>
            <a:r>
              <a:rPr lang="en-GB" sz="2000" b="0" baseline="-25000">
                <a:latin typeface="CMU Serif" panose="02000603000000000000" pitchFamily="2" charset="0"/>
                <a:ea typeface="CMU Serif" panose="02000603000000000000" pitchFamily="2" charset="0"/>
                <a:cs typeface="CMU Serif" panose="02000603000000000000" pitchFamily="2" charset="0"/>
              </a:rPr>
              <a:t>in</a:t>
            </a:r>
            <a:r>
              <a:rPr lang="en-GB" b="0"/>
              <a:t>, </a:t>
            </a:r>
            <a:r>
              <a:rPr lang="en-GB" sz="2000" b="0">
                <a:latin typeface="CMU Serif" panose="02000603000000000000" pitchFamily="2" charset="0"/>
                <a:ea typeface="CMU Serif" panose="02000603000000000000" pitchFamily="2" charset="0"/>
                <a:cs typeface="CMU Serif" panose="02000603000000000000" pitchFamily="2" charset="0"/>
              </a:rPr>
              <a:t>𝒮</a:t>
            </a:r>
            <a:r>
              <a:rPr lang="en-GB" sz="2000" b="0" baseline="-25000">
                <a:latin typeface="CMU Serif" panose="02000603000000000000" pitchFamily="2" charset="0"/>
                <a:ea typeface="CMU Serif" panose="02000603000000000000" pitchFamily="2" charset="0"/>
                <a:cs typeface="CMU Serif" panose="02000603000000000000" pitchFamily="2" charset="0"/>
              </a:rPr>
              <a:t>out</a:t>
            </a:r>
            <a:r>
              <a:rPr lang="en-GB" b="0">
                <a:latin typeface="+mj-lt"/>
              </a:rPr>
              <a:t> :</a:t>
            </a:r>
            <a:r>
              <a:rPr lang="en-GB" b="0">
                <a:latin typeface="+mj-lt"/>
                <a:ea typeface="CMU Serif" panose="02000603000000000000" pitchFamily="2" charset="0"/>
                <a:cs typeface="CMU Serif" panose="02000603000000000000" pitchFamily="2" charset="0"/>
              </a:rPr>
              <a:t> </a:t>
            </a:r>
            <a:r>
              <a:rPr lang="en-GB" b="0"/>
              <a:t>input and output signal power, respectively.</a:t>
            </a:r>
          </a:p>
          <a:p>
            <a:pPr marL="342900" indent="-342900">
              <a:lnSpc>
                <a:spcPct val="130000"/>
              </a:lnSpc>
              <a:buFont typeface="Arial" panose="020B0604020202020204" pitchFamily="34" charset="0"/>
              <a:buChar char="•"/>
            </a:pPr>
            <a:r>
              <a:rPr lang="en-GB" sz="2000" b="0">
                <a:latin typeface="CMU Serif" panose="02000603000000000000" pitchFamily="2" charset="0"/>
                <a:ea typeface="CMU Serif" panose="02000603000000000000" pitchFamily="2" charset="0"/>
                <a:cs typeface="CMU Serif" panose="02000603000000000000" pitchFamily="2" charset="0"/>
              </a:rPr>
              <a:t>𝒩</a:t>
            </a:r>
            <a:r>
              <a:rPr lang="en-GB" sz="2000" b="0" baseline="-25000">
                <a:latin typeface="CMU Serif" panose="02000603000000000000" pitchFamily="2" charset="0"/>
                <a:ea typeface="CMU Serif" panose="02000603000000000000" pitchFamily="2" charset="0"/>
                <a:cs typeface="CMU Serif" panose="02000603000000000000" pitchFamily="2" charset="0"/>
              </a:rPr>
              <a:t>in</a:t>
            </a:r>
            <a:r>
              <a:rPr lang="en-GB" b="0"/>
              <a:t>, </a:t>
            </a:r>
            <a:r>
              <a:rPr lang="en-GB" sz="2000" b="0">
                <a:latin typeface="CMU Serif" panose="02000603000000000000" pitchFamily="2" charset="0"/>
                <a:ea typeface="CMU Serif" panose="02000603000000000000" pitchFamily="2" charset="0"/>
                <a:cs typeface="CMU Serif" panose="02000603000000000000" pitchFamily="2" charset="0"/>
              </a:rPr>
              <a:t>𝒩</a:t>
            </a:r>
            <a:r>
              <a:rPr lang="en-GB" sz="2000" b="0" baseline="-25000">
                <a:latin typeface="CMU Serif" panose="02000603000000000000" pitchFamily="2" charset="0"/>
                <a:ea typeface="CMU Serif" panose="02000603000000000000" pitchFamily="2" charset="0"/>
                <a:cs typeface="CMU Serif" panose="02000603000000000000" pitchFamily="2" charset="0"/>
              </a:rPr>
              <a:t>out</a:t>
            </a:r>
            <a:r>
              <a:rPr lang="en-GB" b="0"/>
              <a:t>, </a:t>
            </a:r>
            <a:r>
              <a:rPr lang="en-GB" sz="2000" b="0">
                <a:latin typeface="CMU Serif" panose="02000603000000000000" pitchFamily="2" charset="0"/>
                <a:ea typeface="CMU Serif" panose="02000603000000000000" pitchFamily="2" charset="0"/>
                <a:cs typeface="CMU Serif" panose="02000603000000000000" pitchFamily="2" charset="0"/>
              </a:rPr>
              <a:t>𝒩</a:t>
            </a:r>
            <a:r>
              <a:rPr lang="en-GB" sz="2000" b="0" i="1" baseline="-25000">
                <a:latin typeface="CMU Serif" panose="02000603000000000000" pitchFamily="2" charset="0"/>
                <a:ea typeface="CMU Serif" panose="02000603000000000000" pitchFamily="2" charset="0"/>
                <a:cs typeface="CMU Serif" panose="02000603000000000000" pitchFamily="2" charset="0"/>
              </a:rPr>
              <a:t>d</a:t>
            </a:r>
            <a:r>
              <a:rPr lang="en-GB" b="0"/>
              <a:t> : input, output and device-added noise power, respectively.</a:t>
            </a:r>
          </a:p>
          <a:p>
            <a:pPr marL="342900" indent="-342900">
              <a:lnSpc>
                <a:spcPct val="130000"/>
              </a:lnSpc>
              <a:buFont typeface="Arial" panose="020B0604020202020204" pitchFamily="34" charset="0"/>
              <a:buChar char="•"/>
            </a:pPr>
            <a:r>
              <a:rPr lang="en-US" b="0"/>
              <a:t>Noise factor: </a:t>
            </a:r>
            <a:r>
              <a:rPr lang="en-US" sz="2000" b="0">
                <a:latin typeface="CMU Serif" panose="02000603000000000000" pitchFamily="2" charset="0"/>
                <a:ea typeface="CMU Serif" panose="02000603000000000000" pitchFamily="2" charset="0"/>
                <a:cs typeface="CMU Serif" panose="02000603000000000000" pitchFamily="2" charset="0"/>
              </a:rPr>
              <a:t>F</a:t>
            </a:r>
            <a:r>
              <a:rPr lang="en-GB" sz="2000" b="0"/>
              <a:t>.</a:t>
            </a:r>
            <a:endParaRPr lang="en-US" sz="2000" b="0">
              <a:latin typeface="CMU Serif" panose="02000603000000000000" pitchFamily="2" charset="0"/>
              <a:ea typeface="CMU Serif" panose="02000603000000000000" pitchFamily="2" charset="0"/>
              <a:cs typeface="CMU Serif" panose="02000603000000000000" pitchFamily="2" charset="0"/>
            </a:endParaRPr>
          </a:p>
          <a:p>
            <a:pPr marL="342900" indent="-342900">
              <a:lnSpc>
                <a:spcPct val="130000"/>
              </a:lnSpc>
              <a:buFont typeface="Arial" panose="020B0604020202020204" pitchFamily="34" charset="0"/>
              <a:buChar char="•"/>
            </a:pPr>
            <a:r>
              <a:rPr lang="en-US" b="0"/>
              <a:t>Noise figure: </a:t>
            </a:r>
            <a:r>
              <a:rPr lang="en-US" sz="2000" b="0">
                <a:latin typeface="CMU Serif" panose="02000603000000000000" pitchFamily="2" charset="0"/>
                <a:ea typeface="CMU Serif" panose="02000603000000000000" pitchFamily="2" charset="0"/>
                <a:cs typeface="CMU Serif" panose="02000603000000000000" pitchFamily="2" charset="0"/>
              </a:rPr>
              <a:t>NF</a:t>
            </a:r>
            <a:r>
              <a:rPr lang="en-GB" sz="2000" b="0"/>
              <a:t>.</a:t>
            </a:r>
            <a:endParaRPr lang="en-US" sz="2000" b="0">
              <a:latin typeface="CMU Serif" panose="02000603000000000000" pitchFamily="2" charset="0"/>
              <a:ea typeface="CMU Serif" panose="02000603000000000000" pitchFamily="2" charset="0"/>
              <a:cs typeface="CMU Serif" panose="02000603000000000000" pitchFamily="2" charset="0"/>
            </a:endParaRPr>
          </a:p>
          <a:p>
            <a:pPr marL="342900" indent="-342900">
              <a:lnSpc>
                <a:spcPct val="130000"/>
              </a:lnSpc>
              <a:buFont typeface="Arial" panose="020B0604020202020204" pitchFamily="34" charset="0"/>
              <a:buChar char="•"/>
            </a:pPr>
            <a:r>
              <a:rPr lang="en-US" b="0"/>
              <a:t>LNA proposed by [4]:</a:t>
            </a:r>
          </a:p>
          <a:p>
            <a:pPr marL="800100" lvl="1" indent="-342900">
              <a:lnSpc>
                <a:spcPct val="130000"/>
              </a:lnSpc>
              <a:buFont typeface="Arial" panose="020B0604020202020204" pitchFamily="34" charset="0"/>
              <a:buChar char="•"/>
            </a:pPr>
            <a:r>
              <a:rPr lang="en-US" b="0">
                <a:latin typeface="CMU Serif" panose="02000603000000000000" pitchFamily="2" charset="0"/>
                <a:ea typeface="CMU Serif" panose="02000603000000000000" pitchFamily="2" charset="0"/>
                <a:cs typeface="CMU Serif" panose="02000603000000000000" pitchFamily="2" charset="0"/>
              </a:rPr>
              <a:t>NF≦1.05dB </a:t>
            </a:r>
            <a:r>
              <a:rPr lang="en-US" sz="2400" b="0"/>
              <a:t>for</a:t>
            </a:r>
            <a:r>
              <a:rPr lang="en-US" b="0">
                <a:latin typeface="CMU Serif" panose="02000603000000000000" pitchFamily="2" charset="0"/>
                <a:ea typeface="CMU Serif" panose="02000603000000000000" pitchFamily="2" charset="0"/>
                <a:cs typeface="CMU Serif" panose="02000603000000000000" pitchFamily="2" charset="0"/>
              </a:rPr>
              <a:t> 𝑓≧1GHz</a:t>
            </a:r>
          </a:p>
          <a:p>
            <a:pPr marL="800100" lvl="1" indent="-342900">
              <a:lnSpc>
                <a:spcPct val="130000"/>
              </a:lnSpc>
              <a:buFont typeface="Arial" panose="020B0604020202020204" pitchFamily="34" charset="0"/>
              <a:buChar char="•"/>
            </a:pPr>
            <a:r>
              <a:rPr lang="en-US" b="0">
                <a:latin typeface="CMU Serif" panose="02000603000000000000" pitchFamily="2" charset="0"/>
                <a:ea typeface="CMU Serif" panose="02000603000000000000" pitchFamily="2" charset="0"/>
                <a:cs typeface="CMU Serif" panose="02000603000000000000" pitchFamily="2" charset="0"/>
              </a:rPr>
              <a:t>min(NF)≅0.9dB</a:t>
            </a:r>
          </a:p>
          <a:p>
            <a:pPr marL="342900" indent="-342900">
              <a:lnSpc>
                <a:spcPct val="130000"/>
              </a:lnSpc>
              <a:buFont typeface="Arial" panose="020B0604020202020204" pitchFamily="34" charset="0"/>
              <a:buChar char="•"/>
            </a:pPr>
            <a:endParaRPr lang="en-US" b="0"/>
          </a:p>
        </p:txBody>
      </p:sp>
      <p:pic>
        <p:nvPicPr>
          <p:cNvPr id="11" name="Picture 10" descr="A diagram of a triangle&#10;&#10;AI-generated content may be incorrect.">
            <a:extLst>
              <a:ext uri="{FF2B5EF4-FFF2-40B4-BE49-F238E27FC236}">
                <a16:creationId xmlns:a16="http://schemas.microsoft.com/office/drawing/2014/main" id="{17335B42-B5DC-1193-344E-A71C2E27F717}"/>
              </a:ext>
            </a:extLst>
          </p:cNvPr>
          <p:cNvPicPr>
            <a:picLocks noChangeAspect="1"/>
          </p:cNvPicPr>
          <p:nvPr/>
        </p:nvPicPr>
        <p:blipFill>
          <a:blip r:embed="rId3">
            <a:alphaModFix/>
            <a:extLst>
              <a:ext uri="{28A0092B-C50C-407E-A947-70E740481C1C}">
                <a14:useLocalDpi xmlns:a14="http://schemas.microsoft.com/office/drawing/2010/main" val="0"/>
              </a:ext>
            </a:extLst>
          </a:blip>
          <a:stretch>
            <a:fillRect/>
          </a:stretch>
        </p:blipFill>
        <p:spPr>
          <a:xfrm>
            <a:off x="4634599" y="3509646"/>
            <a:ext cx="2922802" cy="1721828"/>
          </a:xfrm>
          <a:prstGeom prst="rect">
            <a:avLst/>
          </a:prstGeom>
        </p:spPr>
      </p:pic>
      <p:sp>
        <p:nvSpPr>
          <p:cNvPr id="2" name="Title 1">
            <a:extLst>
              <a:ext uri="{FF2B5EF4-FFF2-40B4-BE49-F238E27FC236}">
                <a16:creationId xmlns:a16="http://schemas.microsoft.com/office/drawing/2014/main" id="{53652380-1782-69FA-C0CE-5BD96C22B022}"/>
              </a:ext>
            </a:extLst>
          </p:cNvPr>
          <p:cNvSpPr>
            <a:spLocks noGrp="1"/>
          </p:cNvSpPr>
          <p:nvPr>
            <p:ph type="title"/>
          </p:nvPr>
        </p:nvSpPr>
        <p:spPr>
          <a:xfrm>
            <a:off x="841248" y="365125"/>
            <a:ext cx="10515600" cy="685800"/>
          </a:xfrm>
        </p:spPr>
        <p:txBody>
          <a:bodyPr anchor="b">
            <a:normAutofit/>
          </a:bodyPr>
          <a:lstStyle/>
          <a:p>
            <a:r>
              <a:rPr lang="en-GB" b="1"/>
              <a:t>Noise measures </a:t>
            </a:r>
            <a:r>
              <a:rPr lang="en-GB">
                <a:solidFill>
                  <a:schemeClr val="tx1">
                    <a:lumMod val="50000"/>
                    <a:lumOff val="50000"/>
                  </a:schemeClr>
                </a:solidFill>
              </a:rPr>
              <a:t>[16]</a:t>
            </a:r>
            <a:endParaRPr lang="en-US">
              <a:solidFill>
                <a:schemeClr val="tx1">
                  <a:lumMod val="50000"/>
                  <a:lumOff val="50000"/>
                </a:schemeClr>
              </a:solidFill>
            </a:endParaRPr>
          </a:p>
        </p:txBody>
      </p:sp>
      <p:sp>
        <p:nvSpPr>
          <p:cNvPr id="5" name="Date Placeholder 4">
            <a:extLst>
              <a:ext uri="{FF2B5EF4-FFF2-40B4-BE49-F238E27FC236}">
                <a16:creationId xmlns:a16="http://schemas.microsoft.com/office/drawing/2014/main" id="{02993360-8B0E-1B44-2027-480FEB92B6D1}"/>
              </a:ext>
            </a:extLst>
          </p:cNvPr>
          <p:cNvSpPr>
            <a:spLocks noGrp="1"/>
          </p:cNvSpPr>
          <p:nvPr>
            <p:ph type="dt" sz="half" idx="10"/>
          </p:nvPr>
        </p:nvSpPr>
        <p:spPr/>
        <p:txBody>
          <a:bodyPr anchor="ctr">
            <a:normAutofit/>
          </a:bodyPr>
          <a:lstStyle/>
          <a:p>
            <a:fld id="{0E53D1C4-5FEF-464B-AFAA-A733CD43D057}" type="datetime3">
              <a:rPr lang="en-US" smtClean="0"/>
              <a:pPr/>
              <a:t>14 December 2025</a:t>
            </a:fld>
            <a:endParaRPr lang="en-US"/>
          </a:p>
        </p:txBody>
      </p:sp>
      <p:sp>
        <p:nvSpPr>
          <p:cNvPr id="6" name="Footer Placeholder 5">
            <a:extLst>
              <a:ext uri="{FF2B5EF4-FFF2-40B4-BE49-F238E27FC236}">
                <a16:creationId xmlns:a16="http://schemas.microsoft.com/office/drawing/2014/main" id="{DFEE44FE-D87A-7059-5ED4-05E10734AB63}"/>
              </a:ext>
            </a:extLst>
          </p:cNvPr>
          <p:cNvSpPr>
            <a:spLocks noGrp="1"/>
          </p:cNvSpPr>
          <p:nvPr>
            <p:ph type="ftr" sz="quarter" idx="11"/>
          </p:nvPr>
        </p:nvSpPr>
        <p:spPr/>
        <p:txBody>
          <a:bodyPr anchor="ctr">
            <a:normAutofit/>
          </a:bodyPr>
          <a:lstStyle/>
          <a:p>
            <a:r>
              <a:rPr lang="en-GB"/>
              <a:t>[116] Design of VLSI Systems ┃ Group 02</a:t>
            </a:r>
            <a:endParaRPr lang="en-US"/>
          </a:p>
        </p:txBody>
      </p:sp>
      <p:sp>
        <p:nvSpPr>
          <p:cNvPr id="7" name="Slide Number Placeholder 6">
            <a:extLst>
              <a:ext uri="{FF2B5EF4-FFF2-40B4-BE49-F238E27FC236}">
                <a16:creationId xmlns:a16="http://schemas.microsoft.com/office/drawing/2014/main" id="{753D77F1-1841-0664-A0D5-5E9B9E13F44B}"/>
              </a:ext>
            </a:extLst>
          </p:cNvPr>
          <p:cNvSpPr>
            <a:spLocks noGrp="1"/>
          </p:cNvSpPr>
          <p:nvPr>
            <p:ph type="sldNum" sz="quarter" idx="12"/>
          </p:nvPr>
        </p:nvSpPr>
        <p:spPr/>
        <p:txBody>
          <a:bodyPr anchor="ctr">
            <a:normAutofit/>
          </a:bodyPr>
          <a:lstStyle/>
          <a:p>
            <a:fld id="{57CA127F-6BC0-40BB-9B02-66AE29583F1C}" type="slidenum">
              <a:rPr lang="en-US" smtClean="0"/>
              <a:pPr/>
              <a:t>22</a:t>
            </a:fld>
            <a:endParaRPr lang="en-US"/>
          </a:p>
        </p:txBody>
      </p:sp>
      <p:pic>
        <p:nvPicPr>
          <p:cNvPr id="4" name="Picture 3">
            <a:extLst>
              <a:ext uri="{FF2B5EF4-FFF2-40B4-BE49-F238E27FC236}">
                <a16:creationId xmlns:a16="http://schemas.microsoft.com/office/drawing/2014/main" id="{7BD16F58-B0D4-B450-0F22-A1C751C0BBC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782984" y="736344"/>
            <a:ext cx="3567768" cy="5385311"/>
          </a:xfrm>
          <a:prstGeom prst="rect">
            <a:avLst/>
          </a:prstGeom>
        </p:spPr>
      </p:pic>
    </p:spTree>
    <p:extLst>
      <p:ext uri="{BB962C8B-B14F-4D97-AF65-F5344CB8AC3E}">
        <p14:creationId xmlns:p14="http://schemas.microsoft.com/office/powerpoint/2010/main" val="1992251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9D4B3-B8DC-C698-EE18-7A22DFE0A5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235D91-12F9-A062-B175-DDE8B82AA0B6}"/>
              </a:ext>
            </a:extLst>
          </p:cNvPr>
          <p:cNvSpPr>
            <a:spLocks noGrp="1"/>
          </p:cNvSpPr>
          <p:nvPr>
            <p:ph type="title"/>
          </p:nvPr>
        </p:nvSpPr>
        <p:spPr>
          <a:xfrm>
            <a:off x="841248" y="365124"/>
            <a:ext cx="5166262" cy="1234440"/>
          </a:xfrm>
        </p:spPr>
        <p:txBody>
          <a:bodyPr anchor="b">
            <a:normAutofit/>
          </a:bodyPr>
          <a:lstStyle/>
          <a:p>
            <a:r>
              <a:rPr lang="en-GB" b="1"/>
              <a:t>Rx Front-End: Low Noise Amplifier (LNA)</a:t>
            </a:r>
            <a:endParaRPr lang="en-US"/>
          </a:p>
        </p:txBody>
      </p:sp>
      <p:sp>
        <p:nvSpPr>
          <p:cNvPr id="5" name="Date Placeholder 4">
            <a:extLst>
              <a:ext uri="{FF2B5EF4-FFF2-40B4-BE49-F238E27FC236}">
                <a16:creationId xmlns:a16="http://schemas.microsoft.com/office/drawing/2014/main" id="{7178C475-28C2-A9DF-4115-9FF539B8F30A}"/>
              </a:ext>
            </a:extLst>
          </p:cNvPr>
          <p:cNvSpPr>
            <a:spLocks noGrp="1"/>
          </p:cNvSpPr>
          <p:nvPr>
            <p:ph type="dt" sz="half" idx="10"/>
          </p:nvPr>
        </p:nvSpPr>
        <p:spPr/>
        <p:txBody>
          <a:bodyPr anchor="ctr">
            <a:normAutofit/>
          </a:bodyPr>
          <a:lstStyle/>
          <a:p>
            <a:fld id="{0E53D1C4-5FEF-464B-AFAA-A733CD43D057}" type="datetime3">
              <a:rPr lang="en-US" smtClean="0"/>
              <a:pPr/>
              <a:t>14 December 2025</a:t>
            </a:fld>
            <a:endParaRPr lang="en-US"/>
          </a:p>
        </p:txBody>
      </p:sp>
      <p:sp>
        <p:nvSpPr>
          <p:cNvPr id="6" name="Footer Placeholder 5">
            <a:extLst>
              <a:ext uri="{FF2B5EF4-FFF2-40B4-BE49-F238E27FC236}">
                <a16:creationId xmlns:a16="http://schemas.microsoft.com/office/drawing/2014/main" id="{7C9644B9-AD20-6282-25C8-D15209E9BF5E}"/>
              </a:ext>
            </a:extLst>
          </p:cNvPr>
          <p:cNvSpPr>
            <a:spLocks noGrp="1"/>
          </p:cNvSpPr>
          <p:nvPr>
            <p:ph type="ftr" sz="quarter" idx="11"/>
          </p:nvPr>
        </p:nvSpPr>
        <p:spPr/>
        <p:txBody>
          <a:bodyPr anchor="ctr">
            <a:normAutofit/>
          </a:bodyPr>
          <a:lstStyle/>
          <a:p>
            <a:r>
              <a:rPr lang="en-GB"/>
              <a:t>[116] Design of VLSI Systems ┃ Group 02</a:t>
            </a:r>
            <a:endParaRPr lang="en-US"/>
          </a:p>
        </p:txBody>
      </p:sp>
      <p:sp>
        <p:nvSpPr>
          <p:cNvPr id="7" name="Slide Number Placeholder 6">
            <a:extLst>
              <a:ext uri="{FF2B5EF4-FFF2-40B4-BE49-F238E27FC236}">
                <a16:creationId xmlns:a16="http://schemas.microsoft.com/office/drawing/2014/main" id="{7547B12E-8422-779E-76E5-2277069449C8}"/>
              </a:ext>
            </a:extLst>
          </p:cNvPr>
          <p:cNvSpPr>
            <a:spLocks noGrp="1"/>
          </p:cNvSpPr>
          <p:nvPr>
            <p:ph type="sldNum" sz="quarter" idx="12"/>
          </p:nvPr>
        </p:nvSpPr>
        <p:spPr/>
        <p:txBody>
          <a:bodyPr anchor="ctr">
            <a:normAutofit/>
          </a:bodyPr>
          <a:lstStyle/>
          <a:p>
            <a:fld id="{57CA127F-6BC0-40BB-9B02-66AE29583F1C}" type="slidenum">
              <a:rPr lang="en-US" smtClean="0"/>
              <a:pPr/>
              <a:t>23</a:t>
            </a:fld>
            <a:endParaRPr lang="en-US"/>
          </a:p>
        </p:txBody>
      </p:sp>
      <p:sp>
        <p:nvSpPr>
          <p:cNvPr id="16" name="Content Placeholder 15">
            <a:extLst>
              <a:ext uri="{FF2B5EF4-FFF2-40B4-BE49-F238E27FC236}">
                <a16:creationId xmlns:a16="http://schemas.microsoft.com/office/drawing/2014/main" id="{566D5E6C-80E8-4CFF-FF59-138DFF5C9627}"/>
              </a:ext>
            </a:extLst>
          </p:cNvPr>
          <p:cNvSpPr txBox="1">
            <a:spLocks/>
          </p:cNvSpPr>
          <p:nvPr/>
        </p:nvSpPr>
        <p:spPr>
          <a:xfrm>
            <a:off x="838199" y="1892767"/>
            <a:ext cx="5381531" cy="4284197"/>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342900" indent="-342900">
              <a:lnSpc>
                <a:spcPct val="100000"/>
              </a:lnSpc>
              <a:buFont typeface="Arial" panose="020B0604020202020204" pitchFamily="34" charset="0"/>
              <a:buChar char="•"/>
            </a:pPr>
            <a:r>
              <a:rPr lang="en-US" b="0"/>
              <a:t>Fully differential structure.</a:t>
            </a:r>
          </a:p>
          <a:p>
            <a:pPr marL="342900" indent="-342900">
              <a:lnSpc>
                <a:spcPct val="100000"/>
              </a:lnSpc>
              <a:buFont typeface="Arial" panose="020B0604020202020204" pitchFamily="34" charset="0"/>
              <a:buChar char="•"/>
            </a:pPr>
            <a:r>
              <a:rPr lang="en-US" b="0"/>
              <a:t>Source degenerated </a:t>
            </a:r>
            <a:r>
              <a:rPr lang="en-US" b="0">
                <a:latin typeface="CMU Serif" panose="02000603000000000000" pitchFamily="2" charset="0"/>
                <a:ea typeface="CMU Serif" panose="02000603000000000000" pitchFamily="2" charset="0"/>
                <a:cs typeface="CMU Serif" panose="02000603000000000000" pitchFamily="2" charset="0"/>
              </a:rPr>
              <a:t>M</a:t>
            </a:r>
            <a:r>
              <a:rPr lang="en-US" b="0" baseline="-25000">
                <a:latin typeface="CMU Serif" panose="02000603000000000000" pitchFamily="2" charset="0"/>
                <a:ea typeface="CMU Serif" panose="02000603000000000000" pitchFamily="2" charset="0"/>
                <a:cs typeface="CMU Serif" panose="02000603000000000000" pitchFamily="2" charset="0"/>
              </a:rPr>
              <a:t>11</a:t>
            </a:r>
            <a:r>
              <a:rPr lang="en-US" b="0"/>
              <a:t> &amp; </a:t>
            </a:r>
            <a:r>
              <a:rPr lang="en-US" b="0">
                <a:latin typeface="CMU Serif" panose="02000603000000000000" pitchFamily="2" charset="0"/>
                <a:ea typeface="CMU Serif" panose="02000603000000000000" pitchFamily="2" charset="0"/>
                <a:cs typeface="CMU Serif" panose="02000603000000000000" pitchFamily="2" charset="0"/>
              </a:rPr>
              <a:t>M</a:t>
            </a:r>
            <a:r>
              <a:rPr lang="en-US" b="0" baseline="-25000">
                <a:latin typeface="CMU Serif" panose="02000603000000000000" pitchFamily="2" charset="0"/>
                <a:ea typeface="CMU Serif" panose="02000603000000000000" pitchFamily="2" charset="0"/>
                <a:cs typeface="CMU Serif" panose="02000603000000000000" pitchFamily="2" charset="0"/>
              </a:rPr>
              <a:t>12</a:t>
            </a:r>
            <a:r>
              <a:rPr lang="en-US" b="0"/>
              <a:t> (input pair) for:</a:t>
            </a:r>
          </a:p>
          <a:p>
            <a:pPr marL="800100" lvl="1" indent="-342900">
              <a:lnSpc>
                <a:spcPct val="100000"/>
              </a:lnSpc>
              <a:buFont typeface="Arial" panose="020B0604020202020204" pitchFamily="34" charset="0"/>
              <a:buChar char="•"/>
            </a:pPr>
            <a:r>
              <a:rPr lang="en-US" b="0"/>
              <a:t>Improved input impedance matching </a:t>
            </a:r>
            <a:r>
              <a:rPr lang="en-US" b="0">
                <a:solidFill>
                  <a:schemeClr val="tx1">
                    <a:lumMod val="50000"/>
                    <a:lumOff val="50000"/>
                  </a:schemeClr>
                </a:solidFill>
              </a:rPr>
              <a:t>[14]</a:t>
            </a:r>
            <a:r>
              <a:rPr lang="en-US" b="0"/>
              <a:t>,</a:t>
            </a:r>
            <a:endParaRPr lang="en-US" b="0">
              <a:solidFill>
                <a:schemeClr val="tx1">
                  <a:lumMod val="50000"/>
                  <a:lumOff val="50000"/>
                </a:schemeClr>
              </a:solidFill>
            </a:endParaRPr>
          </a:p>
          <a:p>
            <a:pPr marL="800100" lvl="1" indent="-342900">
              <a:lnSpc>
                <a:spcPct val="100000"/>
              </a:lnSpc>
              <a:buFont typeface="Arial" panose="020B0604020202020204" pitchFamily="34" charset="0"/>
              <a:buChar char="•"/>
            </a:pPr>
            <a:r>
              <a:rPr lang="en-US" b="0"/>
              <a:t>Reduced common-mode gain.</a:t>
            </a:r>
          </a:p>
          <a:p>
            <a:pPr marL="342900" indent="-342900">
              <a:lnSpc>
                <a:spcPct val="100000"/>
              </a:lnSpc>
              <a:buFont typeface="Arial" panose="020B0604020202020204" pitchFamily="34" charset="0"/>
              <a:buChar char="•"/>
            </a:pPr>
            <a:r>
              <a:rPr lang="en-US" b="0"/>
              <a:t>Reactive feedback using transformers for improved:</a:t>
            </a:r>
          </a:p>
          <a:p>
            <a:pPr marL="800100" lvl="1" indent="-342900">
              <a:lnSpc>
                <a:spcPct val="100000"/>
              </a:lnSpc>
              <a:buFont typeface="Arial" panose="020B0604020202020204" pitchFamily="34" charset="0"/>
              <a:buChar char="•"/>
            </a:pPr>
            <a:r>
              <a:rPr lang="en-US" b="0"/>
              <a:t>Bandwidth,</a:t>
            </a:r>
          </a:p>
          <a:p>
            <a:pPr marL="800100" lvl="1" indent="-342900">
              <a:lnSpc>
                <a:spcPct val="100000"/>
              </a:lnSpc>
              <a:buFont typeface="Arial" panose="020B0604020202020204" pitchFamily="34" charset="0"/>
              <a:buChar char="•"/>
            </a:pPr>
            <a:r>
              <a:rPr lang="en-US" b="0"/>
              <a:t>Low additional noise.</a:t>
            </a:r>
          </a:p>
          <a:p>
            <a:pPr marL="342900" indent="-342900">
              <a:lnSpc>
                <a:spcPct val="100000"/>
              </a:lnSpc>
              <a:buFont typeface="Arial" panose="020B0604020202020204" pitchFamily="34" charset="0"/>
              <a:buChar char="•"/>
            </a:pPr>
            <a:r>
              <a:rPr lang="en-US" b="0" i="1">
                <a:latin typeface="CMU Serif" panose="02000603000000000000" pitchFamily="2" charset="0"/>
                <a:ea typeface="CMU Serif" panose="02000603000000000000" pitchFamily="2" charset="0"/>
                <a:cs typeface="CMU Serif" panose="02000603000000000000" pitchFamily="2" charset="0"/>
              </a:rPr>
              <a:t>L</a:t>
            </a:r>
            <a:r>
              <a:rPr lang="en-US" b="0" baseline="-25000">
                <a:latin typeface="CMU Serif" panose="02000603000000000000" pitchFamily="2" charset="0"/>
                <a:ea typeface="CMU Serif" panose="02000603000000000000" pitchFamily="2" charset="0"/>
                <a:cs typeface="CMU Serif" panose="02000603000000000000" pitchFamily="2" charset="0"/>
              </a:rPr>
              <a:t>out</a:t>
            </a:r>
            <a:r>
              <a:rPr lang="en-US" b="0"/>
              <a:t> resonates with the output-node capacitances.</a:t>
            </a:r>
          </a:p>
        </p:txBody>
      </p:sp>
      <p:sp>
        <p:nvSpPr>
          <p:cNvPr id="17" name="Text Placeholder 148">
            <a:extLst>
              <a:ext uri="{FF2B5EF4-FFF2-40B4-BE49-F238E27FC236}">
                <a16:creationId xmlns:a16="http://schemas.microsoft.com/office/drawing/2014/main" id="{7308A908-A9AB-577D-D6BC-24D394E9B633}"/>
              </a:ext>
            </a:extLst>
          </p:cNvPr>
          <p:cNvSpPr>
            <a:spLocks noGrp="1"/>
          </p:cNvSpPr>
          <p:nvPr>
            <p:ph type="body" idx="1"/>
          </p:nvPr>
        </p:nvSpPr>
        <p:spPr>
          <a:xfrm>
            <a:off x="6334863" y="5671108"/>
            <a:ext cx="5015889" cy="634442"/>
          </a:xfrm>
        </p:spPr>
        <p:txBody>
          <a:bodyPr>
            <a:normAutofit fontScale="85000" lnSpcReduction="20000"/>
          </a:bodyPr>
          <a:lstStyle/>
          <a:p>
            <a:pPr>
              <a:lnSpc>
                <a:spcPct val="120000"/>
              </a:lnSpc>
            </a:pPr>
            <a:r>
              <a:rPr lang="en-GB" sz="2000"/>
              <a:t>Figure FD-SOI.</a:t>
            </a:r>
            <a:r>
              <a:rPr lang="el-GR" sz="2000"/>
              <a:t>4</a:t>
            </a:r>
            <a:r>
              <a:rPr lang="en-GB" sz="2000"/>
              <a:t>:</a:t>
            </a:r>
            <a:r>
              <a:rPr lang="en-GB" sz="2000" b="0"/>
              <a:t> </a:t>
            </a:r>
            <a:r>
              <a:rPr lang="en-US" sz="2000" b="0"/>
              <a:t>LNA schematic </a:t>
            </a:r>
            <a:r>
              <a:rPr lang="en-GB" sz="2000" b="0">
                <a:solidFill>
                  <a:schemeClr val="tx1">
                    <a:lumMod val="50000"/>
                    <a:lumOff val="50000"/>
                  </a:schemeClr>
                </a:solidFill>
              </a:rPr>
              <a:t>[4]</a:t>
            </a:r>
            <a:r>
              <a:rPr lang="en-GB" sz="2000" b="0"/>
              <a:t>. S</a:t>
            </a:r>
            <a:r>
              <a:rPr lang="en-GB" sz="2000" b="0" baseline="-25000"/>
              <a:t>1x</a:t>
            </a:r>
            <a:r>
              <a:rPr lang="en-GB" sz="2000" b="0"/>
              <a:t>=0.9mm/28nm, S</a:t>
            </a:r>
            <a:r>
              <a:rPr lang="en-GB" sz="2000" b="0" baseline="-25000"/>
              <a:t>2x</a:t>
            </a:r>
            <a:r>
              <a:rPr lang="en-GB" sz="2000" b="0"/>
              <a:t>=0.8mm/150nm.</a:t>
            </a:r>
            <a:endParaRPr lang="en-US" sz="2000"/>
          </a:p>
        </p:txBody>
      </p:sp>
      <p:pic>
        <p:nvPicPr>
          <p:cNvPr id="9" name="Content Placeholder 8">
            <a:extLst>
              <a:ext uri="{FF2B5EF4-FFF2-40B4-BE49-F238E27FC236}">
                <a16:creationId xmlns:a16="http://schemas.microsoft.com/office/drawing/2014/main" id="{327C3E63-9071-0A3D-CA34-03034384A0C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6334862" y="323937"/>
            <a:ext cx="5015889" cy="5342689"/>
          </a:xfrm>
        </p:spPr>
      </p:pic>
    </p:spTree>
    <p:extLst>
      <p:ext uri="{BB962C8B-B14F-4D97-AF65-F5344CB8AC3E}">
        <p14:creationId xmlns:p14="http://schemas.microsoft.com/office/powerpoint/2010/main" val="662341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5DF16-7904-E549-2B1C-49D87124A0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6DACCC-88AB-3BDC-5F47-D137F693647A}"/>
              </a:ext>
            </a:extLst>
          </p:cNvPr>
          <p:cNvSpPr>
            <a:spLocks noGrp="1"/>
          </p:cNvSpPr>
          <p:nvPr>
            <p:ph type="title"/>
          </p:nvPr>
        </p:nvSpPr>
        <p:spPr>
          <a:xfrm>
            <a:off x="841248" y="365125"/>
            <a:ext cx="10515600" cy="685800"/>
          </a:xfrm>
        </p:spPr>
        <p:txBody>
          <a:bodyPr anchor="b">
            <a:normAutofit/>
          </a:bodyPr>
          <a:lstStyle/>
          <a:p>
            <a:r>
              <a:rPr lang="en-GB" b="1"/>
              <a:t>CS Amplifier: Source Degeneration in CM</a:t>
            </a:r>
            <a:endParaRPr lang="en-US"/>
          </a:p>
        </p:txBody>
      </p:sp>
      <p:sp>
        <p:nvSpPr>
          <p:cNvPr id="5" name="Date Placeholder 4">
            <a:extLst>
              <a:ext uri="{FF2B5EF4-FFF2-40B4-BE49-F238E27FC236}">
                <a16:creationId xmlns:a16="http://schemas.microsoft.com/office/drawing/2014/main" id="{BEF5CDC4-0ECE-B8F2-95E9-8329956F37D1}"/>
              </a:ext>
            </a:extLst>
          </p:cNvPr>
          <p:cNvSpPr>
            <a:spLocks noGrp="1"/>
          </p:cNvSpPr>
          <p:nvPr>
            <p:ph type="dt" sz="half" idx="10"/>
          </p:nvPr>
        </p:nvSpPr>
        <p:spPr/>
        <p:txBody>
          <a:bodyPr anchor="ctr">
            <a:normAutofit/>
          </a:bodyPr>
          <a:lstStyle/>
          <a:p>
            <a:fld id="{0E53D1C4-5FEF-464B-AFAA-A733CD43D057}" type="datetime3">
              <a:rPr lang="en-US" smtClean="0"/>
              <a:pPr/>
              <a:t>14 December 2025</a:t>
            </a:fld>
            <a:endParaRPr lang="en-US"/>
          </a:p>
        </p:txBody>
      </p:sp>
      <p:sp>
        <p:nvSpPr>
          <p:cNvPr id="6" name="Footer Placeholder 5">
            <a:extLst>
              <a:ext uri="{FF2B5EF4-FFF2-40B4-BE49-F238E27FC236}">
                <a16:creationId xmlns:a16="http://schemas.microsoft.com/office/drawing/2014/main" id="{E809EE3D-3A8F-F243-5E86-141A87D8ABE9}"/>
              </a:ext>
            </a:extLst>
          </p:cNvPr>
          <p:cNvSpPr>
            <a:spLocks noGrp="1"/>
          </p:cNvSpPr>
          <p:nvPr>
            <p:ph type="ftr" sz="quarter" idx="11"/>
          </p:nvPr>
        </p:nvSpPr>
        <p:spPr/>
        <p:txBody>
          <a:bodyPr anchor="ctr">
            <a:normAutofit/>
          </a:bodyPr>
          <a:lstStyle/>
          <a:p>
            <a:r>
              <a:rPr lang="en-GB"/>
              <a:t>[116] Design of VLSI Systems ┃ Group 02</a:t>
            </a:r>
            <a:endParaRPr lang="en-US"/>
          </a:p>
        </p:txBody>
      </p:sp>
      <p:sp>
        <p:nvSpPr>
          <p:cNvPr id="7" name="Slide Number Placeholder 6">
            <a:extLst>
              <a:ext uri="{FF2B5EF4-FFF2-40B4-BE49-F238E27FC236}">
                <a16:creationId xmlns:a16="http://schemas.microsoft.com/office/drawing/2014/main" id="{71A9BF6F-3E8A-16B3-5911-1E1CE1B2558F}"/>
              </a:ext>
            </a:extLst>
          </p:cNvPr>
          <p:cNvSpPr>
            <a:spLocks noGrp="1"/>
          </p:cNvSpPr>
          <p:nvPr>
            <p:ph type="sldNum" sz="quarter" idx="12"/>
          </p:nvPr>
        </p:nvSpPr>
        <p:spPr/>
        <p:txBody>
          <a:bodyPr anchor="ctr">
            <a:normAutofit/>
          </a:bodyPr>
          <a:lstStyle/>
          <a:p>
            <a:fld id="{57CA127F-6BC0-40BB-9B02-66AE29583F1C}" type="slidenum">
              <a:rPr lang="en-US" smtClean="0"/>
              <a:pPr/>
              <a:t>24</a:t>
            </a:fld>
            <a:endParaRPr lang="en-US"/>
          </a:p>
        </p:txBody>
      </p:sp>
      <mc:AlternateContent xmlns:mc="http://schemas.openxmlformats.org/markup-compatibility/2006" xmlns:a14="http://schemas.microsoft.com/office/drawing/2010/main">
        <mc:Choice Requires="a14">
          <p:sp>
            <p:nvSpPr>
              <p:cNvPr id="16" name="Text Placeholder 148">
                <a:extLst>
                  <a:ext uri="{FF2B5EF4-FFF2-40B4-BE49-F238E27FC236}">
                    <a16:creationId xmlns:a16="http://schemas.microsoft.com/office/drawing/2014/main" id="{54823632-9994-3EF5-A054-32DA35AB01F8}"/>
                  </a:ext>
                </a:extLst>
              </p:cNvPr>
              <p:cNvSpPr>
                <a:spLocks noGrp="1"/>
              </p:cNvSpPr>
              <p:nvPr>
                <p:ph type="body" idx="1"/>
              </p:nvPr>
            </p:nvSpPr>
            <p:spPr>
              <a:xfrm>
                <a:off x="1160325" y="5683250"/>
                <a:ext cx="9871350" cy="708585"/>
              </a:xfrm>
            </p:spPr>
            <p:txBody>
              <a:bodyPr anchor="ctr">
                <a:noAutofit/>
              </a:bodyPr>
              <a:lstStyle/>
              <a:p>
                <a:pPr>
                  <a:lnSpc>
                    <a:spcPct val="120000"/>
                  </a:lnSpc>
                </a:pPr>
                <a:r>
                  <a:rPr lang="en-GB" sz="1600"/>
                  <a:t>Figure FD-SOI.</a:t>
                </a:r>
                <a:r>
                  <a:rPr lang="el-GR" sz="1600"/>
                  <a:t>5</a:t>
                </a:r>
                <a:r>
                  <a:rPr lang="en-GB" sz="1600"/>
                  <a:t>:</a:t>
                </a:r>
                <a:r>
                  <a:rPr lang="en-GB" sz="1600" b="0"/>
                  <a:t> </a:t>
                </a:r>
                <a:r>
                  <a:rPr lang="en-GB" sz="1600"/>
                  <a:t>(a)</a:t>
                </a:r>
                <a:r>
                  <a:rPr lang="en-GB" sz="1600" b="0"/>
                  <a:t> Differential common source (CS) </a:t>
                </a:r>
                <a:r>
                  <a:rPr lang="en-GB" sz="1600" b="0" err="1"/>
                  <a:t>nMOS</a:t>
                </a:r>
                <a:r>
                  <a:rPr lang="en-GB" sz="1600" b="0"/>
                  <a:t> pair in common-mode (CM). The CS amplifier is preceded by a system with output impedance </a:t>
                </a:r>
                <a14:m>
                  <m:oMath xmlns:m="http://schemas.openxmlformats.org/officeDocument/2006/math">
                    <m:r>
                      <a:rPr lang="en-GB" sz="1600" b="0" i="1" smtClean="0">
                        <a:latin typeface="Cambria Math" panose="02040503050406030204" pitchFamily="18" charset="0"/>
                        <a:ea typeface="Cambria Math" panose="02040503050406030204" pitchFamily="18" charset="0"/>
                      </a:rPr>
                      <m:t>ℝ</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𝑍</m:t>
                        </m:r>
                      </m:e>
                      <m:sub>
                        <m:r>
                          <a:rPr lang="en-US" sz="1600" b="0" i="1" smtClean="0">
                            <a:latin typeface="Cambria Math" panose="02040503050406030204" pitchFamily="18" charset="0"/>
                            <a:ea typeface="Cambria Math" panose="02040503050406030204" pitchFamily="18" charset="0"/>
                          </a:rPr>
                          <m:t>0</m:t>
                        </m:r>
                      </m:sub>
                    </m:sSub>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𝑅</m:t>
                        </m:r>
                      </m:e>
                      <m:sub>
                        <m:r>
                          <a:rPr lang="en-US" sz="1600" b="0" i="1" smtClean="0">
                            <a:latin typeface="Cambria Math" panose="02040503050406030204" pitchFamily="18" charset="0"/>
                            <a:ea typeface="Cambria Math" panose="02040503050406030204" pitchFamily="18" charset="0"/>
                          </a:rPr>
                          <m:t>0</m:t>
                        </m:r>
                      </m:sub>
                    </m:sSub>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𝑗</m:t>
                    </m:r>
                    <m:r>
                      <a:rPr lang="en-US" sz="1600" b="0" i="1" smtClean="0">
                        <a:latin typeface="Cambria Math" panose="02040503050406030204" pitchFamily="18" charset="0"/>
                        <a:ea typeface="Cambria Math" panose="02040503050406030204" pitchFamily="18" charset="0"/>
                      </a:rPr>
                      <m:t>0</m:t>
                    </m:r>
                  </m:oMath>
                </a14:m>
                <a:r>
                  <a:rPr lang="en-GB" sz="1600" b="0"/>
                  <a:t>. </a:t>
                </a:r>
                <a:r>
                  <a:rPr lang="en-GB" sz="1600"/>
                  <a:t>(b) </a:t>
                </a:r>
                <a:r>
                  <a:rPr lang="en-GB" sz="1600" b="0"/>
                  <a:t>shows the small-signal equivalent of (a).</a:t>
                </a:r>
                <a:r>
                  <a:rPr lang="en-US" sz="1600"/>
                  <a:t> </a:t>
                </a:r>
              </a:p>
            </p:txBody>
          </p:sp>
        </mc:Choice>
        <mc:Fallback xmlns="">
          <p:sp>
            <p:nvSpPr>
              <p:cNvPr id="16" name="Text Placeholder 148">
                <a:extLst>
                  <a:ext uri="{FF2B5EF4-FFF2-40B4-BE49-F238E27FC236}">
                    <a16:creationId xmlns:a16="http://schemas.microsoft.com/office/drawing/2014/main" id="{54823632-9994-3EF5-A054-32DA35AB01F8}"/>
                  </a:ext>
                </a:extLst>
              </p:cNvPr>
              <p:cNvSpPr>
                <a:spLocks noGrp="1" noRot="1" noChangeAspect="1" noMove="1" noResize="1" noEditPoints="1" noAdjustHandles="1" noChangeArrowheads="1" noChangeShapeType="1" noTextEdit="1"/>
              </p:cNvSpPr>
              <p:nvPr>
                <p:ph type="body" idx="1"/>
              </p:nvPr>
            </p:nvSpPr>
            <p:spPr>
              <a:xfrm>
                <a:off x="1160325" y="5683250"/>
                <a:ext cx="9871350" cy="708585"/>
              </a:xfrm>
              <a:blipFill>
                <a:blip r:embed="rId3"/>
                <a:stretch>
                  <a:fillRect l="-309" r="-432" b="-7692"/>
                </a:stretch>
              </a:blipFill>
            </p:spPr>
            <p:txBody>
              <a:bodyPr/>
              <a:lstStyle/>
              <a:p>
                <a:r>
                  <a:rPr lang="en-US">
                    <a:noFill/>
                  </a:rPr>
                  <a:t> </a:t>
                </a:r>
              </a:p>
            </p:txBody>
          </p:sp>
        </mc:Fallback>
      </mc:AlternateContent>
      <p:pic>
        <p:nvPicPr>
          <p:cNvPr id="9" name="Content Placeholder 8">
            <a:extLst>
              <a:ext uri="{FF2B5EF4-FFF2-40B4-BE49-F238E27FC236}">
                <a16:creationId xmlns:a16="http://schemas.microsoft.com/office/drawing/2014/main" id="{58590CCA-B105-64A3-A3B1-C2CD1AAB2EAE}"/>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1625724" y="1051098"/>
            <a:ext cx="8940552" cy="4531111"/>
          </a:xfrm>
        </p:spPr>
      </p:pic>
    </p:spTree>
    <p:extLst>
      <p:ext uri="{BB962C8B-B14F-4D97-AF65-F5344CB8AC3E}">
        <p14:creationId xmlns:p14="http://schemas.microsoft.com/office/powerpoint/2010/main" val="10718820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5BCBC-9B76-4710-1F6A-CA1789CA3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FF8B81-864C-4336-5297-E25533E9153E}"/>
              </a:ext>
            </a:extLst>
          </p:cNvPr>
          <p:cNvSpPr>
            <a:spLocks noGrp="1"/>
          </p:cNvSpPr>
          <p:nvPr>
            <p:ph type="title"/>
          </p:nvPr>
        </p:nvSpPr>
        <p:spPr>
          <a:xfrm>
            <a:off x="841248" y="365125"/>
            <a:ext cx="10515600" cy="685800"/>
          </a:xfrm>
        </p:spPr>
        <p:txBody>
          <a:bodyPr anchor="b">
            <a:normAutofit/>
          </a:bodyPr>
          <a:lstStyle/>
          <a:p>
            <a:r>
              <a:rPr lang="en-GB" b="1"/>
              <a:t>Reactive Feedback: Small Signal Model</a:t>
            </a:r>
            <a:endParaRPr lang="en-US"/>
          </a:p>
        </p:txBody>
      </p:sp>
      <p:sp>
        <p:nvSpPr>
          <p:cNvPr id="5" name="Date Placeholder 4">
            <a:extLst>
              <a:ext uri="{FF2B5EF4-FFF2-40B4-BE49-F238E27FC236}">
                <a16:creationId xmlns:a16="http://schemas.microsoft.com/office/drawing/2014/main" id="{E2FCCE27-6526-EAE5-7F32-7E2650DFD444}"/>
              </a:ext>
            </a:extLst>
          </p:cNvPr>
          <p:cNvSpPr>
            <a:spLocks noGrp="1"/>
          </p:cNvSpPr>
          <p:nvPr>
            <p:ph type="dt" sz="half" idx="10"/>
          </p:nvPr>
        </p:nvSpPr>
        <p:spPr/>
        <p:txBody>
          <a:bodyPr anchor="ctr">
            <a:normAutofit/>
          </a:bodyPr>
          <a:lstStyle/>
          <a:p>
            <a:fld id="{0E53D1C4-5FEF-464B-AFAA-A733CD43D057}" type="datetime3">
              <a:rPr lang="en-US" smtClean="0"/>
              <a:pPr/>
              <a:t>14 December 2025</a:t>
            </a:fld>
            <a:endParaRPr lang="en-US"/>
          </a:p>
        </p:txBody>
      </p:sp>
      <p:sp>
        <p:nvSpPr>
          <p:cNvPr id="6" name="Footer Placeholder 5">
            <a:extLst>
              <a:ext uri="{FF2B5EF4-FFF2-40B4-BE49-F238E27FC236}">
                <a16:creationId xmlns:a16="http://schemas.microsoft.com/office/drawing/2014/main" id="{CD3A2797-84CD-4195-5779-09151D0739A8}"/>
              </a:ext>
            </a:extLst>
          </p:cNvPr>
          <p:cNvSpPr>
            <a:spLocks noGrp="1"/>
          </p:cNvSpPr>
          <p:nvPr>
            <p:ph type="ftr" sz="quarter" idx="11"/>
          </p:nvPr>
        </p:nvSpPr>
        <p:spPr/>
        <p:txBody>
          <a:bodyPr anchor="ctr">
            <a:normAutofit/>
          </a:bodyPr>
          <a:lstStyle/>
          <a:p>
            <a:r>
              <a:rPr lang="en-GB"/>
              <a:t>[116] Design of VLSI Systems ┃ Group 02</a:t>
            </a:r>
            <a:endParaRPr lang="en-US"/>
          </a:p>
        </p:txBody>
      </p:sp>
      <p:sp>
        <p:nvSpPr>
          <p:cNvPr id="7" name="Slide Number Placeholder 6">
            <a:extLst>
              <a:ext uri="{FF2B5EF4-FFF2-40B4-BE49-F238E27FC236}">
                <a16:creationId xmlns:a16="http://schemas.microsoft.com/office/drawing/2014/main" id="{985582A4-91DC-00CF-8B74-FA5D1A779A82}"/>
              </a:ext>
            </a:extLst>
          </p:cNvPr>
          <p:cNvSpPr>
            <a:spLocks noGrp="1"/>
          </p:cNvSpPr>
          <p:nvPr>
            <p:ph type="sldNum" sz="quarter" idx="12"/>
          </p:nvPr>
        </p:nvSpPr>
        <p:spPr/>
        <p:txBody>
          <a:bodyPr anchor="ctr">
            <a:normAutofit/>
          </a:bodyPr>
          <a:lstStyle/>
          <a:p>
            <a:fld id="{57CA127F-6BC0-40BB-9B02-66AE29583F1C}" type="slidenum">
              <a:rPr lang="en-US" smtClean="0"/>
              <a:pPr/>
              <a:t>25</a:t>
            </a:fld>
            <a:endParaRPr lang="en-US"/>
          </a:p>
        </p:txBody>
      </p:sp>
      <p:sp>
        <p:nvSpPr>
          <p:cNvPr id="16" name="Text Placeholder 148">
            <a:extLst>
              <a:ext uri="{FF2B5EF4-FFF2-40B4-BE49-F238E27FC236}">
                <a16:creationId xmlns:a16="http://schemas.microsoft.com/office/drawing/2014/main" id="{06B4B22D-26C8-7FB0-FB2E-975980A0F7FC}"/>
              </a:ext>
            </a:extLst>
          </p:cNvPr>
          <p:cNvSpPr>
            <a:spLocks noGrp="1"/>
          </p:cNvSpPr>
          <p:nvPr>
            <p:ph type="body" idx="1"/>
          </p:nvPr>
        </p:nvSpPr>
        <p:spPr>
          <a:xfrm>
            <a:off x="838199" y="6080501"/>
            <a:ext cx="10515599" cy="365125"/>
          </a:xfrm>
        </p:spPr>
        <p:txBody>
          <a:bodyPr anchor="ctr">
            <a:noAutofit/>
          </a:bodyPr>
          <a:lstStyle/>
          <a:p>
            <a:pPr>
              <a:lnSpc>
                <a:spcPct val="100000"/>
              </a:lnSpc>
            </a:pPr>
            <a:r>
              <a:rPr lang="en-GB" sz="1600"/>
              <a:t>Figure FD-SOI.</a:t>
            </a:r>
            <a:r>
              <a:rPr lang="el-GR" sz="1600"/>
              <a:t>6</a:t>
            </a:r>
            <a:r>
              <a:rPr lang="en-GB" sz="1600"/>
              <a:t>:</a:t>
            </a:r>
            <a:r>
              <a:rPr lang="en-GB" sz="1600" b="0"/>
              <a:t> Small signal equivalent of figure FD-SOI.</a:t>
            </a:r>
            <a:r>
              <a:rPr lang="el-GR" sz="1600" b="0"/>
              <a:t>4</a:t>
            </a:r>
            <a:r>
              <a:rPr lang="en-GB" sz="1600" b="0"/>
              <a:t> with reactive feedback.</a:t>
            </a:r>
            <a:endParaRPr lang="en-US" sz="1600" b="0"/>
          </a:p>
        </p:txBody>
      </p:sp>
      <p:pic>
        <p:nvPicPr>
          <p:cNvPr id="14" name="Content Placeholder 13">
            <a:extLst>
              <a:ext uri="{FF2B5EF4-FFF2-40B4-BE49-F238E27FC236}">
                <a16:creationId xmlns:a16="http://schemas.microsoft.com/office/drawing/2014/main" id="{F1AFD058-E554-7F84-4CC8-4937FB3DB74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147546" y="1050925"/>
            <a:ext cx="9896908" cy="5029576"/>
          </a:xfrm>
        </p:spPr>
      </p:pic>
    </p:spTree>
    <p:extLst>
      <p:ext uri="{BB962C8B-B14F-4D97-AF65-F5344CB8AC3E}">
        <p14:creationId xmlns:p14="http://schemas.microsoft.com/office/powerpoint/2010/main" val="4171888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1C463-D052-2B87-C84D-D99DDE8DE6D6}"/>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0BACC56F-5ED5-A977-6FDA-2BB170C0F02C}"/>
              </a:ext>
            </a:extLst>
          </p:cNvPr>
          <p:cNvSpPr>
            <a:spLocks noGrp="1"/>
          </p:cNvSpPr>
          <p:nvPr>
            <p:ph idx="1"/>
          </p:nvPr>
        </p:nvSpPr>
        <p:spPr/>
        <p:txBody>
          <a:bodyPr>
            <a:normAutofit fontScale="77500" lnSpcReduction="20000"/>
          </a:bodyPr>
          <a:lstStyle/>
          <a:p>
            <a:pPr marL="0" indent="0">
              <a:lnSpc>
                <a:spcPct val="135000"/>
              </a:lnSpc>
              <a:spcBef>
                <a:spcPts val="1200"/>
              </a:spcBef>
              <a:buNone/>
            </a:pPr>
            <a:r>
              <a:rPr lang="en-US" sz="2400"/>
              <a:t>[1]	K. Karimi, A. </a:t>
            </a:r>
            <a:r>
              <a:rPr lang="en-US" sz="2400" err="1"/>
              <a:t>Fardoost</a:t>
            </a:r>
            <a:r>
              <a:rPr lang="en-US" sz="2400"/>
              <a:t>, and M. Javanmard, “Comprehensive Review of </a:t>
            </a:r>
            <a:r>
              <a:rPr lang="en-US" sz="2400" err="1"/>
              <a:t>FinFET</a:t>
            </a:r>
            <a:r>
              <a:rPr lang="en-US" sz="2400"/>
              <a:t> Technology: 	History, Structure, Challenges, Innovations, and Emerging Sensing Applications,” 	Micromachines, vol. 15, no. 10, 2024. DOI: </a:t>
            </a:r>
            <a:r>
              <a:rPr lang="en-US" sz="2400">
                <a:hlinkClick r:id="rId2"/>
              </a:rPr>
              <a:t>10.3390/mi15101187</a:t>
            </a:r>
            <a:r>
              <a:rPr lang="en-US" sz="2400"/>
              <a:t>.</a:t>
            </a:r>
          </a:p>
          <a:p>
            <a:pPr marL="0" indent="0">
              <a:lnSpc>
                <a:spcPct val="135000"/>
              </a:lnSpc>
              <a:spcBef>
                <a:spcPts val="1200"/>
              </a:spcBef>
              <a:buNone/>
            </a:pPr>
            <a:r>
              <a:rPr lang="en-US" sz="2400"/>
              <a:t>[2]	R. R. Das, T. R. </a:t>
            </a:r>
            <a:r>
              <a:rPr lang="en-US" sz="2400" err="1"/>
              <a:t>Rajalekshmi</a:t>
            </a:r>
            <a:r>
              <a:rPr lang="en-US" sz="2400"/>
              <a:t>, and A. James, “Fin-FET to GAA MBCFET: A Review and Insights,” 	IEEE Access, vol. 12, pp. 50 556–50 577, 2024. DOI: </a:t>
            </a:r>
            <a:r>
              <a:rPr lang="en-US" sz="2400">
                <a:hlinkClick r:id="rId3"/>
              </a:rPr>
              <a:t>10.1109/ACCESS.2024.3384428</a:t>
            </a:r>
            <a:r>
              <a:rPr lang="en-US" sz="2400"/>
              <a:t>. </a:t>
            </a:r>
          </a:p>
          <a:p>
            <a:pPr marL="0" indent="0">
              <a:lnSpc>
                <a:spcPct val="135000"/>
              </a:lnSpc>
              <a:spcBef>
                <a:spcPts val="1200"/>
              </a:spcBef>
              <a:buNone/>
            </a:pPr>
            <a:r>
              <a:rPr lang="en-US" sz="2400"/>
              <a:t>[3]	H. Xie, Z. Wang, R. He, et al., “A Novel 1T-APSUsing 22nm FD-SOI Technology With</a:t>
            </a:r>
            <a:r>
              <a:rPr lang="el-GR" sz="2400"/>
              <a:t> </a:t>
            </a:r>
            <a:r>
              <a:rPr lang="en-US" sz="2400"/>
              <a:t>Record High </a:t>
            </a:r>
            <a:r>
              <a:rPr lang="el-GR" sz="2400"/>
              <a:t>	</a:t>
            </a:r>
            <a:r>
              <a:rPr lang="en-US" sz="2400"/>
              <a:t>Tunable Sensitivity Range,”  </a:t>
            </a:r>
            <a:r>
              <a:rPr lang="en-US" sz="2400" i="1"/>
              <a:t>IEEE  Electron  Device Letters</a:t>
            </a:r>
            <a:r>
              <a:rPr lang="en-US" sz="2400"/>
              <a:t>, 	Vol. 46, No. 7, pp.</a:t>
            </a:r>
            <a:r>
              <a:rPr lang="el-GR" sz="2400"/>
              <a:t> </a:t>
            </a:r>
            <a:r>
              <a:rPr lang="en-US" sz="2400"/>
              <a:t>1131–1134, Jul. </a:t>
            </a:r>
            <a:r>
              <a:rPr lang="el-GR" sz="2400"/>
              <a:t>	</a:t>
            </a:r>
            <a:r>
              <a:rPr lang="en-US" sz="2400"/>
              <a:t>2025. DOI: </a:t>
            </a:r>
            <a:r>
              <a:rPr lang="en-US" sz="2400">
                <a:solidFill>
                  <a:schemeClr val="accent1"/>
                </a:solidFill>
                <a:hlinkClick r:id="rId4">
                  <a:extLst>
                    <a:ext uri="{A12FA001-AC4F-418D-AE19-62706E023703}">
                      <ahyp:hlinkClr xmlns:ahyp="http://schemas.microsoft.com/office/drawing/2018/hyperlinkcolor" val="tx"/>
                    </a:ext>
                  </a:extLst>
                </a:hlinkClick>
              </a:rPr>
              <a:t>10.1109/LED.2025.3563988</a:t>
            </a:r>
            <a:r>
              <a:rPr lang="en-US" sz="2400"/>
              <a:t>.</a:t>
            </a:r>
          </a:p>
          <a:p>
            <a:pPr marL="0" indent="0">
              <a:lnSpc>
                <a:spcPct val="135000"/>
              </a:lnSpc>
              <a:spcBef>
                <a:spcPts val="1200"/>
              </a:spcBef>
              <a:buNone/>
            </a:pPr>
            <a:r>
              <a:rPr lang="en-US" sz="2400"/>
              <a:t>[4]	C. Elgaard, M. Abdulaziz, T. Påhlsson, et al., “A Wideband Sub-6GHz</a:t>
            </a:r>
            <a:r>
              <a:rPr lang="el-GR" sz="2400"/>
              <a:t> </a:t>
            </a:r>
            <a:r>
              <a:rPr lang="en-US" sz="2400"/>
              <a:t>Transceiver Front 	End for 5G Base Stations in 22-nm FD-SOI</a:t>
            </a:r>
            <a:r>
              <a:rPr lang="el-GR" sz="2400"/>
              <a:t> </a:t>
            </a:r>
            <a:r>
              <a:rPr lang="en-US" sz="2400"/>
              <a:t>CMOS,”</a:t>
            </a:r>
            <a:r>
              <a:rPr lang="el-GR" sz="2400"/>
              <a:t> </a:t>
            </a:r>
            <a:r>
              <a:rPr lang="en-US" sz="2400"/>
              <a:t>IEEE Journal of Solid-State Circuits, 	Vol. 60, No. 7, pp.  2367–2383, Jul. 2025. DOI: </a:t>
            </a:r>
            <a:r>
              <a:rPr lang="en-US" sz="2400">
                <a:solidFill>
                  <a:schemeClr val="accent1"/>
                </a:solidFill>
                <a:hlinkClick r:id="rId5">
                  <a:extLst>
                    <a:ext uri="{A12FA001-AC4F-418D-AE19-62706E023703}">
                      <ahyp:hlinkClr xmlns:ahyp="http://schemas.microsoft.com/office/drawing/2018/hyperlinkcolor" val="tx"/>
                    </a:ext>
                  </a:extLst>
                </a:hlinkClick>
              </a:rPr>
              <a:t>10.1109/JSSC.2025.3552278</a:t>
            </a:r>
            <a:r>
              <a:rPr lang="en-US" sz="2400"/>
              <a:t>.</a:t>
            </a:r>
          </a:p>
        </p:txBody>
      </p:sp>
      <p:sp>
        <p:nvSpPr>
          <p:cNvPr id="4" name="Date Placeholder 3">
            <a:extLst>
              <a:ext uri="{FF2B5EF4-FFF2-40B4-BE49-F238E27FC236}">
                <a16:creationId xmlns:a16="http://schemas.microsoft.com/office/drawing/2014/main" id="{F71CE542-8A62-13F0-B1E7-337D0210E771}"/>
              </a:ext>
            </a:extLst>
          </p:cNvPr>
          <p:cNvSpPr>
            <a:spLocks noGrp="1"/>
          </p:cNvSpPr>
          <p:nvPr>
            <p:ph type="dt" sz="half" idx="10"/>
          </p:nvPr>
        </p:nvSpPr>
        <p:spPr/>
        <p:txBody>
          <a:bodyPr/>
          <a:lstStyle/>
          <a:p>
            <a:fld id="{5546D976-428E-4631-AED7-54CDD8EF0749}" type="datetime3">
              <a:rPr lang="en-US" smtClean="0"/>
              <a:t>14 December 2025</a:t>
            </a:fld>
            <a:endParaRPr lang="en-US"/>
          </a:p>
        </p:txBody>
      </p:sp>
      <p:sp>
        <p:nvSpPr>
          <p:cNvPr id="5" name="Slide Number Placeholder 4">
            <a:extLst>
              <a:ext uri="{FF2B5EF4-FFF2-40B4-BE49-F238E27FC236}">
                <a16:creationId xmlns:a16="http://schemas.microsoft.com/office/drawing/2014/main" id="{13566ABB-72AA-6B2D-3FAB-9BFCAD34F2DB}"/>
              </a:ext>
            </a:extLst>
          </p:cNvPr>
          <p:cNvSpPr>
            <a:spLocks noGrp="1"/>
          </p:cNvSpPr>
          <p:nvPr>
            <p:ph type="sldNum" sz="quarter" idx="12"/>
          </p:nvPr>
        </p:nvSpPr>
        <p:spPr/>
        <p:txBody>
          <a:bodyPr/>
          <a:lstStyle/>
          <a:p>
            <a:fld id="{57CA127F-6BC0-40BB-9B02-66AE29583F1C}" type="slidenum">
              <a:rPr lang="en-US" smtClean="0"/>
              <a:t>26</a:t>
            </a:fld>
            <a:endParaRPr lang="en-US"/>
          </a:p>
        </p:txBody>
      </p:sp>
      <p:sp>
        <p:nvSpPr>
          <p:cNvPr id="7" name="Footer Placeholder 6">
            <a:extLst>
              <a:ext uri="{FF2B5EF4-FFF2-40B4-BE49-F238E27FC236}">
                <a16:creationId xmlns:a16="http://schemas.microsoft.com/office/drawing/2014/main" id="{9B0CE1E9-58C6-6B74-73B8-7D682DEC9F33}"/>
              </a:ext>
            </a:extLst>
          </p:cNvPr>
          <p:cNvSpPr>
            <a:spLocks noGrp="1"/>
          </p:cNvSpPr>
          <p:nvPr>
            <p:ph type="ftr" sz="quarter" idx="11"/>
          </p:nvPr>
        </p:nvSpPr>
        <p:spPr/>
        <p:txBody>
          <a:bodyPr/>
          <a:lstStyle/>
          <a:p>
            <a:r>
              <a:rPr lang="en-GB"/>
              <a:t>[116] Design of VLSI Systems ┃ Group 02</a:t>
            </a:r>
            <a:endParaRPr lang="en-US"/>
          </a:p>
        </p:txBody>
      </p:sp>
    </p:spTree>
    <p:extLst>
      <p:ext uri="{BB962C8B-B14F-4D97-AF65-F5344CB8AC3E}">
        <p14:creationId xmlns:p14="http://schemas.microsoft.com/office/powerpoint/2010/main" val="1426240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2D224-CCEC-9364-C52C-1F711B14896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E4661D-D667-2F42-CA4E-E04347ADC6D8}"/>
              </a:ext>
            </a:extLst>
          </p:cNvPr>
          <p:cNvSpPr>
            <a:spLocks noGrp="1"/>
          </p:cNvSpPr>
          <p:nvPr>
            <p:ph idx="1"/>
          </p:nvPr>
        </p:nvSpPr>
        <p:spPr>
          <a:xfrm>
            <a:off x="838200" y="365125"/>
            <a:ext cx="10515600" cy="6026622"/>
          </a:xfrm>
        </p:spPr>
        <p:txBody>
          <a:bodyPr vert="horz" lIns="91440" tIns="45720" rIns="91440" bIns="45720" rtlCol="0" anchor="t">
            <a:normAutofit fontScale="92500" lnSpcReduction="20000"/>
          </a:bodyPr>
          <a:lstStyle/>
          <a:p>
            <a:pPr marL="0" indent="0">
              <a:lnSpc>
                <a:spcPct val="120000"/>
              </a:lnSpc>
              <a:spcBef>
                <a:spcPts val="1200"/>
              </a:spcBef>
              <a:buNone/>
            </a:pPr>
            <a:r>
              <a:rPr lang="en-US" sz="2200" dirty="0"/>
              <a:t>[5]	L. Nyssens, M. Rack, and J.-P. Raskin, “Chapter 2 - FD-SOI and RF-SOI</a:t>
            </a:r>
            <a:r>
              <a:rPr lang="el-GR" sz="2200" dirty="0">
                <a:latin typeface="Calibri"/>
                <a:ea typeface="Calibri"/>
                <a:cs typeface="Calibri"/>
              </a:rPr>
              <a:t> </a:t>
            </a:r>
            <a:r>
              <a:rPr lang="en-US" sz="2200" dirty="0"/>
              <a:t>Technologies For 	5G,” in </a:t>
            </a:r>
            <a:r>
              <a:rPr lang="en-US" sz="2200" i="1" dirty="0"/>
              <a:t>New Materials and Devices Enabling 5G Applications and Beyond</a:t>
            </a:r>
            <a:r>
              <a:rPr lang="en-US" sz="2200" dirty="0"/>
              <a:t>, ser. Materials Today, 	N. </a:t>
            </a:r>
            <a:r>
              <a:rPr lang="el-GR" sz="2200" dirty="0">
                <a:latin typeface="Calibri"/>
                <a:ea typeface="Calibri"/>
                <a:cs typeface="Calibri"/>
              </a:rPr>
              <a:t>	</a:t>
            </a:r>
            <a:r>
              <a:rPr lang="en-US" sz="2200" dirty="0" err="1"/>
              <a:t>Collaert</a:t>
            </a:r>
            <a:r>
              <a:rPr lang="en-US" sz="2200" dirty="0"/>
              <a:t>, Ed., Elsevier, 2024, pp. 33–55, ISBN: 978-0-12-822823-4. DOI:</a:t>
            </a:r>
            <a:br>
              <a:rPr lang="el-GR" sz="2200" dirty="0"/>
            </a:br>
            <a:r>
              <a:rPr lang="el-GR" sz="2200" dirty="0">
                <a:latin typeface="Calibri"/>
                <a:ea typeface="Calibri"/>
                <a:cs typeface="Calibri"/>
              </a:rPr>
              <a:t>	</a:t>
            </a:r>
            <a:r>
              <a:rPr lang="en-US" sz="2200" dirty="0">
                <a:solidFill>
                  <a:schemeClr val="accent1"/>
                </a:solidFill>
                <a:hlinkClick r:id="rId2">
                  <a:extLst>
                    <a:ext uri="{A12FA001-AC4F-418D-AE19-62706E023703}">
                      <ahyp:hlinkClr xmlns:ahyp="http://schemas.microsoft.com/office/drawing/2018/hyperlinkcolor" val="tx"/>
                    </a:ext>
                  </a:extLst>
                </a:hlinkClick>
              </a:rPr>
              <a:t>10.1016/B978-0-12-822823-4.00002-9</a:t>
            </a:r>
            <a:r>
              <a:rPr lang="en-US" sz="2200" dirty="0"/>
              <a:t>. [Online]. </a:t>
            </a:r>
          </a:p>
          <a:p>
            <a:pPr marL="0" indent="0">
              <a:lnSpc>
                <a:spcPct val="120000"/>
              </a:lnSpc>
              <a:spcBef>
                <a:spcPts val="1200"/>
              </a:spcBef>
              <a:buNone/>
            </a:pPr>
            <a:r>
              <a:rPr lang="en-US" sz="2200" dirty="0"/>
              <a:t>[6]	Georges </a:t>
            </a:r>
            <a:r>
              <a:rPr lang="en-US" sz="2200" dirty="0" err="1"/>
              <a:t>Pananakakis</a:t>
            </a:r>
            <a:r>
              <a:rPr lang="en-US" sz="2200" dirty="0"/>
              <a:t>, Gérard </a:t>
            </a:r>
            <a:r>
              <a:rPr lang="en-US" sz="2200" dirty="0" err="1"/>
              <a:t>Ghibaudo</a:t>
            </a:r>
            <a:r>
              <a:rPr lang="en-US" sz="2200" dirty="0"/>
              <a:t>, Sorin </a:t>
            </a:r>
            <a:r>
              <a:rPr lang="en-US" sz="2200" dirty="0" err="1"/>
              <a:t>Cristoloveanu</a:t>
            </a:r>
            <a:r>
              <a:rPr lang="en-US" sz="2200" dirty="0"/>
              <a:t>. “</a:t>
            </a:r>
            <a:r>
              <a:rPr lang="en-GB" sz="2200" dirty="0"/>
              <a:t>Threshold voltage in FD-SOI 	MOSFETs</a:t>
            </a:r>
            <a:r>
              <a:rPr lang="en-US" sz="2200" dirty="0"/>
              <a:t>”. </a:t>
            </a:r>
            <a:r>
              <a:rPr lang="en-US" sz="2200" i="1" dirty="0"/>
              <a:t>Solid-State Electronics</a:t>
            </a:r>
            <a:r>
              <a:rPr lang="en-US" sz="2200" dirty="0"/>
              <a:t>, Vol. 217, 2024. DOI: </a:t>
            </a:r>
            <a:r>
              <a:rPr lang="en-US" sz="2200" dirty="0">
                <a:solidFill>
                  <a:schemeClr val="accent1"/>
                </a:solidFill>
                <a:hlinkClick r:id="rId3">
                  <a:extLst>
                    <a:ext uri="{A12FA001-AC4F-418D-AE19-62706E023703}">
                      <ahyp:hlinkClr xmlns:ahyp="http://schemas.microsoft.com/office/drawing/2018/hyperlinkcolor" val="tx"/>
                    </a:ext>
                  </a:extLst>
                </a:hlinkClick>
              </a:rPr>
              <a:t>10.1016/j.sse.2024.108947</a:t>
            </a:r>
            <a:r>
              <a:rPr lang="en-US" sz="2200" dirty="0"/>
              <a:t>.</a:t>
            </a:r>
            <a:endParaRPr lang="en-US" sz="2200" dirty="0">
              <a:solidFill>
                <a:schemeClr val="accent1"/>
              </a:solidFill>
            </a:endParaRPr>
          </a:p>
          <a:p>
            <a:pPr marL="0" indent="0">
              <a:lnSpc>
                <a:spcPct val="120000"/>
              </a:lnSpc>
              <a:spcBef>
                <a:spcPts val="1200"/>
              </a:spcBef>
              <a:buNone/>
            </a:pPr>
            <a:r>
              <a:rPr lang="en-US" sz="2200" dirty="0"/>
              <a:t>[7]	</a:t>
            </a:r>
            <a:r>
              <a:rPr lang="en-GB" sz="2200" dirty="0"/>
              <a:t>Mheen, B., Kim, M., Song, Y.-J., Hong, S.</a:t>
            </a:r>
            <a:r>
              <a:rPr lang="en-US" sz="2200" dirty="0"/>
              <a:t>. “</a:t>
            </a:r>
            <a:r>
              <a:rPr lang="en-GB" sz="2200" dirty="0"/>
              <a:t>Operation Principles of 0.18-µm Four-Transistor, 	CMOS Image Pixels With a </a:t>
            </a:r>
            <a:r>
              <a:rPr lang="en-GB" sz="2200" dirty="0" err="1"/>
              <a:t>Nonfully</a:t>
            </a:r>
            <a:r>
              <a:rPr lang="en-GB" sz="2200" dirty="0"/>
              <a:t> Depleted Pinned Photodiode</a:t>
            </a:r>
            <a:r>
              <a:rPr lang="en-US" sz="2200" dirty="0"/>
              <a:t>”. </a:t>
            </a:r>
            <a:r>
              <a:rPr lang="fr-FR" sz="2200" i="1" dirty="0"/>
              <a:t>IEEE Transactions on 	Electron </a:t>
            </a:r>
            <a:r>
              <a:rPr lang="fr-FR" sz="2200" i="1" dirty="0" err="1"/>
              <a:t>Devices</a:t>
            </a:r>
            <a:r>
              <a:rPr lang="fr-FR" sz="2200" i="1" dirty="0"/>
              <a:t>, Vol. 53</a:t>
            </a:r>
            <a:r>
              <a:rPr lang="en-US" sz="2200" dirty="0"/>
              <a:t>. 2006,  pp. 2735-2740. DOI: </a:t>
            </a:r>
            <a:r>
              <a:rPr lang="en-US" sz="2200" dirty="0">
                <a:solidFill>
                  <a:schemeClr val="accent1"/>
                </a:solidFill>
                <a:hlinkClick r:id="rId4">
                  <a:extLst>
                    <a:ext uri="{A12FA001-AC4F-418D-AE19-62706E023703}">
                      <ahyp:hlinkClr xmlns:ahyp="http://schemas.microsoft.com/office/drawing/2018/hyperlinkcolor" val="tx"/>
                    </a:ext>
                  </a:extLst>
                </a:hlinkClick>
              </a:rPr>
              <a:t>10.1109/TED.2006.883673</a:t>
            </a:r>
            <a:r>
              <a:rPr lang="en-US" sz="2200" dirty="0"/>
              <a:t>. </a:t>
            </a:r>
          </a:p>
          <a:p>
            <a:pPr marL="0" indent="0">
              <a:lnSpc>
                <a:spcPct val="120000"/>
              </a:lnSpc>
              <a:spcBef>
                <a:spcPts val="1200"/>
              </a:spcBef>
              <a:buNone/>
            </a:pPr>
            <a:r>
              <a:rPr lang="en-US" sz="2200" dirty="0"/>
              <a:t>[8]	Liu, Q. and </a:t>
            </a:r>
            <a:r>
              <a:rPr lang="en-US" sz="2200" dirty="0" err="1"/>
              <a:t>Yagishita</a:t>
            </a:r>
            <a:r>
              <a:rPr lang="en-US" sz="2200" dirty="0"/>
              <a:t>, A., Loubet, N., </a:t>
            </a:r>
            <a:r>
              <a:rPr lang="en-US" sz="2200" dirty="0" err="1"/>
              <a:t>Khakifirooz</a:t>
            </a:r>
            <a:r>
              <a:rPr lang="en-US" sz="2200" dirty="0"/>
              <a:t>, A., Kulkarni, P., Yamamoto, T., Cheng, K., 	Fujiwara, M., Cai, J., Dorman, D., Mehta, S., Khare, P. and Yako, K., Zhu, Y., Mignot, S., 	</a:t>
            </a:r>
            <a:r>
              <a:rPr lang="en-US" sz="2200" dirty="0" err="1"/>
              <a:t>Kanakasabapathy</a:t>
            </a:r>
            <a:r>
              <a:rPr lang="en-US" sz="2200" dirty="0"/>
              <a:t>, S., </a:t>
            </a:r>
            <a:r>
              <a:rPr lang="en-US" sz="2200" dirty="0" err="1"/>
              <a:t>Monfray</a:t>
            </a:r>
            <a:r>
              <a:rPr lang="en-US" sz="2200" dirty="0"/>
              <a:t>, S., Boeuf, F., </a:t>
            </a:r>
            <a:r>
              <a:rPr lang="en-US" sz="2200" dirty="0" err="1"/>
              <a:t>Koburger</a:t>
            </a:r>
            <a:r>
              <a:rPr lang="en-US" sz="2200" dirty="0"/>
              <a:t>, C.,</a:t>
            </a:r>
            <a:r>
              <a:rPr lang="en-US" sz="2200" dirty="0" err="1"/>
              <a:t>Sunamura</a:t>
            </a:r>
            <a:r>
              <a:rPr lang="en-US" sz="2200" dirty="0"/>
              <a:t>, H., </a:t>
            </a:r>
            <a:r>
              <a:rPr lang="en-US" sz="2200" dirty="0" err="1"/>
              <a:t>Ponoth</a:t>
            </a:r>
            <a:r>
              <a:rPr lang="en-US" sz="2200" dirty="0"/>
              <a:t>, S., Reznicek,</a:t>
            </a:r>
            <a:r>
              <a:rPr lang="en-US" sz="2200" dirty="0">
                <a:latin typeface="Calibri"/>
                <a:ea typeface="Calibri"/>
                <a:cs typeface="Calibri"/>
              </a:rPr>
              <a:t> </a:t>
            </a:r>
            <a:r>
              <a:rPr lang="el-GR" sz="2200" dirty="0">
                <a:latin typeface="Calibri"/>
                <a:ea typeface="Calibri"/>
                <a:cs typeface="Calibri"/>
              </a:rPr>
              <a:t>	</a:t>
            </a:r>
            <a:r>
              <a:rPr lang="en-US" sz="2200" dirty="0"/>
              <a:t>A.,</a:t>
            </a:r>
            <a:r>
              <a:rPr lang="el-GR" sz="2200" dirty="0"/>
              <a:t> </a:t>
            </a:r>
            <a:r>
              <a:rPr lang="en-US" sz="2200" dirty="0"/>
              <a:t>Haran, B., Upham, A., Johnson, R., Edge, L. F., Kuss, J., Levin, T., Berliner, N., </a:t>
            </a:r>
            <a:r>
              <a:rPr lang="en-US" sz="2200" dirty="0" err="1"/>
              <a:t>Leobandung</a:t>
            </a:r>
            <a:r>
              <a:rPr lang="en-US" sz="2200" dirty="0"/>
              <a:t>, E., 	Skotnicki, T., Hane, M., Bu, H., Ishimaru, K., </a:t>
            </a:r>
            <a:r>
              <a:rPr lang="en-US" sz="2200" dirty="0" err="1"/>
              <a:t>Kleemeier</a:t>
            </a:r>
            <a:r>
              <a:rPr lang="en-US" sz="2200" dirty="0"/>
              <a:t>, W., Takayanagi, M., Doris, B., Sampson,</a:t>
            </a:r>
            <a:r>
              <a:rPr lang="en-US" sz="2200" dirty="0">
                <a:latin typeface="Calibri"/>
                <a:ea typeface="Calibri"/>
                <a:cs typeface="Calibri"/>
              </a:rPr>
              <a:t> </a:t>
            </a:r>
            <a:r>
              <a:rPr lang="el-GR" sz="2200" dirty="0">
                <a:latin typeface="Calibri"/>
                <a:ea typeface="Calibri"/>
                <a:cs typeface="Calibri"/>
              </a:rPr>
              <a:t>	</a:t>
            </a:r>
            <a:r>
              <a:rPr lang="en-US" sz="2200" dirty="0"/>
              <a:t>R..</a:t>
            </a:r>
            <a:r>
              <a:rPr lang="el-GR" sz="2200" dirty="0"/>
              <a:t> </a:t>
            </a:r>
            <a:r>
              <a:rPr lang="en-US" sz="2200" dirty="0"/>
              <a:t>“</a:t>
            </a:r>
            <a:r>
              <a:rPr lang="en-GB" sz="2200" dirty="0"/>
              <a:t>Ultra-thin-body and BOX (UTBB) fully depleted (FD) device integration for 22nm node </a:t>
            </a:r>
            <a:r>
              <a:rPr lang="el-GR" sz="2200" dirty="0"/>
              <a:t>	</a:t>
            </a:r>
            <a:r>
              <a:rPr lang="en-GB" sz="2200" dirty="0"/>
              <a:t>and</a:t>
            </a:r>
            <a:r>
              <a:rPr lang="el-GR" sz="2200" dirty="0"/>
              <a:t> </a:t>
            </a:r>
            <a:r>
              <a:rPr lang="en-GB" sz="2200" dirty="0"/>
              <a:t>beyond</a:t>
            </a:r>
            <a:r>
              <a:rPr lang="en-US" sz="2200" dirty="0"/>
              <a:t>”. </a:t>
            </a:r>
            <a:r>
              <a:rPr lang="en-US" sz="2200" i="1" dirty="0"/>
              <a:t>2010 Symposium on VLSI Technology</a:t>
            </a:r>
            <a:r>
              <a:rPr lang="en-US" sz="2200" dirty="0"/>
              <a:t>.  2010,  pp. 61-62. DOI: 	</a:t>
            </a:r>
            <a:r>
              <a:rPr lang="en-US" sz="2200" dirty="0">
                <a:solidFill>
                  <a:schemeClr val="accent1"/>
                </a:solidFill>
                <a:hlinkClick r:id="rId5">
                  <a:extLst>
                    <a:ext uri="{A12FA001-AC4F-418D-AE19-62706E023703}">
                      <ahyp:hlinkClr xmlns:ahyp="http://schemas.microsoft.com/office/drawing/2018/hyperlinkcolor" val="tx"/>
                    </a:ext>
                  </a:extLst>
                </a:hlinkClick>
              </a:rPr>
              <a:t>10.1109/VLSIT.2010.555612</a:t>
            </a:r>
            <a:r>
              <a:rPr lang="en-US" sz="2200" dirty="0"/>
              <a:t>.</a:t>
            </a:r>
          </a:p>
        </p:txBody>
      </p:sp>
      <p:sp>
        <p:nvSpPr>
          <p:cNvPr id="4" name="Date Placeholder 3">
            <a:extLst>
              <a:ext uri="{FF2B5EF4-FFF2-40B4-BE49-F238E27FC236}">
                <a16:creationId xmlns:a16="http://schemas.microsoft.com/office/drawing/2014/main" id="{0B00EB93-6FED-F53F-F965-48B59631DF7F}"/>
              </a:ext>
            </a:extLst>
          </p:cNvPr>
          <p:cNvSpPr>
            <a:spLocks noGrp="1"/>
          </p:cNvSpPr>
          <p:nvPr>
            <p:ph type="dt" sz="half" idx="10"/>
          </p:nvPr>
        </p:nvSpPr>
        <p:spPr/>
        <p:txBody>
          <a:bodyPr/>
          <a:lstStyle/>
          <a:p>
            <a:fld id="{5546D976-428E-4631-AED7-54CDD8EF0749}" type="datetime3">
              <a:rPr lang="en-US" smtClean="0"/>
              <a:t>14 December 2025</a:t>
            </a:fld>
            <a:endParaRPr lang="en-US"/>
          </a:p>
        </p:txBody>
      </p:sp>
      <p:sp>
        <p:nvSpPr>
          <p:cNvPr id="5" name="Slide Number Placeholder 4">
            <a:extLst>
              <a:ext uri="{FF2B5EF4-FFF2-40B4-BE49-F238E27FC236}">
                <a16:creationId xmlns:a16="http://schemas.microsoft.com/office/drawing/2014/main" id="{5E579B3D-DBB5-6348-A611-CC654A850418}"/>
              </a:ext>
            </a:extLst>
          </p:cNvPr>
          <p:cNvSpPr>
            <a:spLocks noGrp="1"/>
          </p:cNvSpPr>
          <p:nvPr>
            <p:ph type="sldNum" sz="quarter" idx="12"/>
          </p:nvPr>
        </p:nvSpPr>
        <p:spPr/>
        <p:txBody>
          <a:bodyPr/>
          <a:lstStyle/>
          <a:p>
            <a:fld id="{57CA127F-6BC0-40BB-9B02-66AE29583F1C}" type="slidenum">
              <a:rPr lang="en-US" smtClean="0"/>
              <a:t>27</a:t>
            </a:fld>
            <a:endParaRPr lang="en-US"/>
          </a:p>
        </p:txBody>
      </p:sp>
      <p:sp>
        <p:nvSpPr>
          <p:cNvPr id="7" name="Footer Placeholder 6">
            <a:extLst>
              <a:ext uri="{FF2B5EF4-FFF2-40B4-BE49-F238E27FC236}">
                <a16:creationId xmlns:a16="http://schemas.microsoft.com/office/drawing/2014/main" id="{875EC776-6934-21B4-AC04-4FB8603817A6}"/>
              </a:ext>
            </a:extLst>
          </p:cNvPr>
          <p:cNvSpPr>
            <a:spLocks noGrp="1"/>
          </p:cNvSpPr>
          <p:nvPr>
            <p:ph type="ftr" sz="quarter" idx="11"/>
          </p:nvPr>
        </p:nvSpPr>
        <p:spPr/>
        <p:txBody>
          <a:bodyPr/>
          <a:lstStyle/>
          <a:p>
            <a:r>
              <a:rPr lang="en-GB"/>
              <a:t>[116] Design of VLSI Systems ┃ Group 02</a:t>
            </a:r>
            <a:endParaRPr lang="en-US"/>
          </a:p>
        </p:txBody>
      </p:sp>
    </p:spTree>
    <p:extLst>
      <p:ext uri="{BB962C8B-B14F-4D97-AF65-F5344CB8AC3E}">
        <p14:creationId xmlns:p14="http://schemas.microsoft.com/office/powerpoint/2010/main" val="33771281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585CC-41D5-B4C8-5C9A-A1DEBEE6659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182A00-8EF3-4977-C886-9C50E849C2F9}"/>
              </a:ext>
            </a:extLst>
          </p:cNvPr>
          <p:cNvSpPr>
            <a:spLocks noGrp="1"/>
          </p:cNvSpPr>
          <p:nvPr>
            <p:ph idx="1"/>
          </p:nvPr>
        </p:nvSpPr>
        <p:spPr>
          <a:xfrm>
            <a:off x="838200" y="365125"/>
            <a:ext cx="10515600" cy="5811838"/>
          </a:xfrm>
        </p:spPr>
        <p:txBody>
          <a:bodyPr vert="horz" lIns="91440" tIns="45720" rIns="91440" bIns="45720" rtlCol="0" anchor="t">
            <a:normAutofit/>
          </a:bodyPr>
          <a:lstStyle/>
          <a:p>
            <a:pPr marL="0" indent="0">
              <a:lnSpc>
                <a:spcPct val="110000"/>
              </a:lnSpc>
              <a:spcBef>
                <a:spcPts val="1200"/>
              </a:spcBef>
              <a:buNone/>
            </a:pPr>
            <a:r>
              <a:rPr lang="en-US" sz="1900" dirty="0"/>
              <a:t>[9] 	</a:t>
            </a:r>
            <a:r>
              <a:rPr lang="en-US" sz="1900" dirty="0">
                <a:ea typeface="+mn-lt"/>
                <a:cs typeface="+mn-lt"/>
                <a:hlinkClick r:id="rId2"/>
              </a:rPr>
              <a:t>https://semiconductor.samsung.com/processor/mobile-processor/</a:t>
            </a:r>
            <a:endParaRPr lang="en-US" sz="1900" dirty="0"/>
          </a:p>
          <a:p>
            <a:pPr marL="0" indent="0">
              <a:lnSpc>
                <a:spcPct val="110000"/>
              </a:lnSpc>
              <a:spcBef>
                <a:spcPts val="1200"/>
              </a:spcBef>
              <a:buNone/>
            </a:pPr>
            <a:r>
              <a:rPr lang="en-US" sz="1900" dirty="0">
                <a:ea typeface="+mn-lt"/>
                <a:cs typeface="+mn-lt"/>
              </a:rPr>
              <a:t>[10]	</a:t>
            </a:r>
            <a:r>
              <a:rPr lang="en-US" sz="1900" dirty="0">
                <a:ea typeface="+mn-lt"/>
                <a:cs typeface="+mn-lt"/>
                <a:hlinkClick r:id="rId3"/>
              </a:rPr>
              <a:t>https://www.tsmc.com/english/dedicatedFoundry/technology/logic</a:t>
            </a:r>
          </a:p>
          <a:p>
            <a:pPr marL="0" indent="0">
              <a:lnSpc>
                <a:spcPct val="110000"/>
              </a:lnSpc>
              <a:spcBef>
                <a:spcPts val="1200"/>
              </a:spcBef>
              <a:buNone/>
            </a:pPr>
            <a:r>
              <a:rPr lang="en-US" sz="1900" dirty="0">
                <a:ea typeface="+mn-lt"/>
                <a:cs typeface="+mn-lt"/>
              </a:rPr>
              <a:t>[11]	</a:t>
            </a:r>
            <a:r>
              <a:rPr lang="en-US" sz="1900" dirty="0">
                <a:ea typeface="+mn-lt"/>
                <a:cs typeface="+mn-lt"/>
                <a:hlinkClick r:id="rId4"/>
              </a:rPr>
              <a:t>https://www.intel.com/content/www/us/en/foundry/process.html</a:t>
            </a:r>
            <a:endParaRPr lang="en-US" sz="1900" dirty="0">
              <a:ea typeface="+mn-lt"/>
              <a:cs typeface="+mn-lt"/>
            </a:endParaRPr>
          </a:p>
          <a:p>
            <a:pPr marL="0" indent="0">
              <a:lnSpc>
                <a:spcPct val="100000"/>
              </a:lnSpc>
              <a:spcBef>
                <a:spcPts val="1200"/>
              </a:spcBef>
              <a:buNone/>
            </a:pPr>
            <a:r>
              <a:rPr lang="en-US" sz="1900" dirty="0">
                <a:ea typeface="+mn-lt"/>
                <a:cs typeface="+mn-lt"/>
              </a:rPr>
              <a:t>[13]	Shopov, Stefan and </a:t>
            </a:r>
            <a:r>
              <a:rPr lang="en-US" sz="1900" dirty="0" err="1">
                <a:ea typeface="+mn-lt"/>
                <a:cs typeface="+mn-lt"/>
              </a:rPr>
              <a:t>Voinigescu</a:t>
            </a:r>
            <a:r>
              <a:rPr lang="en-US" sz="1900" dirty="0">
                <a:ea typeface="+mn-lt"/>
                <a:cs typeface="+mn-lt"/>
              </a:rPr>
              <a:t>, Sorin P.. “</a:t>
            </a:r>
            <a:r>
              <a:rPr lang="en-GB" sz="1900" dirty="0">
                <a:ea typeface="+mn-lt"/>
                <a:cs typeface="+mn-lt"/>
              </a:rPr>
              <a:t>A 3×60Gb/s Transmitter/Repeater Front-End With </a:t>
            </a:r>
            <a:r>
              <a:rPr lang="el-GR" sz="1900" dirty="0">
                <a:latin typeface="Calibri"/>
                <a:ea typeface="Calibri"/>
                <a:cs typeface="Calibri"/>
              </a:rPr>
              <a:t>	</a:t>
            </a:r>
            <a:r>
              <a:rPr lang="en-GB" sz="1900" dirty="0">
                <a:ea typeface="+mn-lt"/>
                <a:cs typeface="+mn-lt"/>
              </a:rPr>
              <a:t>4.3V</a:t>
            </a:r>
            <a:r>
              <a:rPr lang="en-GB" sz="1900" baseline="-25000" dirty="0">
                <a:ea typeface="+mn-lt"/>
                <a:cs typeface="+mn-lt"/>
              </a:rPr>
              <a:t>PP</a:t>
            </a:r>
            <a:r>
              <a:rPr lang="en-GB" sz="1900" dirty="0">
                <a:ea typeface="+mn-lt"/>
                <a:cs typeface="+mn-lt"/>
              </a:rPr>
              <a:t> Single-Ended Output Swing in a 28nm UTBB FD-SOI Technology</a:t>
            </a:r>
            <a:r>
              <a:rPr lang="en-US" sz="1900" dirty="0">
                <a:ea typeface="+mn-lt"/>
                <a:cs typeface="+mn-lt"/>
              </a:rPr>
              <a:t>”.</a:t>
            </a:r>
            <a:r>
              <a:rPr lang="el-GR" sz="1900" dirty="0">
                <a:latin typeface="Calibri"/>
                <a:ea typeface="Calibri"/>
                <a:cs typeface="Calibri"/>
              </a:rPr>
              <a:t> </a:t>
            </a:r>
            <a:r>
              <a:rPr lang="en-GB" sz="1900" i="1" dirty="0">
                <a:ea typeface="+mn-lt"/>
                <a:cs typeface="+mn-lt"/>
              </a:rPr>
              <a:t>IEEE Journal of Solid-</a:t>
            </a:r>
            <a:r>
              <a:rPr lang="el-GR" sz="1900" i="1" dirty="0">
                <a:latin typeface="Calibri"/>
                <a:ea typeface="Calibri"/>
                <a:cs typeface="Calibri"/>
              </a:rPr>
              <a:t>	</a:t>
            </a:r>
            <a:r>
              <a:rPr lang="en-GB" sz="1900" i="1" dirty="0">
                <a:ea typeface="+mn-lt"/>
                <a:cs typeface="+mn-lt"/>
              </a:rPr>
              <a:t>State Circuits</a:t>
            </a:r>
            <a:r>
              <a:rPr lang="en-GB" sz="1900" dirty="0">
                <a:ea typeface="+mn-lt"/>
                <a:cs typeface="+mn-lt"/>
              </a:rPr>
              <a:t>, Vol. 51. </a:t>
            </a:r>
            <a:r>
              <a:rPr lang="en-US" sz="1900" dirty="0">
                <a:ea typeface="+mn-lt"/>
                <a:cs typeface="+mn-lt"/>
              </a:rPr>
              <a:t>2016, pp. 1651-1662. DOI:</a:t>
            </a:r>
            <a:r>
              <a:rPr lang="el-GR" sz="1900" dirty="0">
                <a:latin typeface="Calibri"/>
                <a:ea typeface="Calibri"/>
                <a:cs typeface="Calibri"/>
              </a:rPr>
              <a:t> </a:t>
            </a:r>
            <a:r>
              <a:rPr lang="en-US" sz="1900" dirty="0">
                <a:solidFill>
                  <a:schemeClr val="accent1"/>
                </a:solidFill>
                <a:ea typeface="+mn-lt"/>
                <a:cs typeface="+mn-lt"/>
                <a:hlinkClick r:id="rId5">
                  <a:extLst>
                    <a:ext uri="{A12FA001-AC4F-418D-AE19-62706E023703}">
                      <ahyp:hlinkClr xmlns:ahyp="http://schemas.microsoft.com/office/drawing/2018/hyperlinkcolor" val="tx"/>
                    </a:ext>
                  </a:extLst>
                </a:hlinkClick>
              </a:rPr>
              <a:t>10.1109/JSSC.</a:t>
            </a:r>
            <a:r>
              <a:rPr lang="en-US" sz="1900" dirty="0">
                <a:solidFill>
                  <a:srgbClr val="953434"/>
                </a:solidFill>
                <a:ea typeface="+mn-lt"/>
                <a:cs typeface="+mn-lt"/>
                <a:hlinkClick r:id="rId5">
                  <a:extLst>
                    <a:ext uri="{A12FA001-AC4F-418D-AE19-62706E023703}">
                      <ahyp:hlinkClr xmlns:ahyp="http://schemas.microsoft.com/office/drawing/2018/hyperlinkcolor" val="tx"/>
                    </a:ext>
                  </a:extLst>
                </a:hlinkClick>
              </a:rPr>
              <a:t>2016</a:t>
            </a:r>
            <a:r>
              <a:rPr lang="en-US" sz="1900" dirty="0">
                <a:solidFill>
                  <a:schemeClr val="accent1"/>
                </a:solidFill>
                <a:ea typeface="+mn-lt"/>
                <a:cs typeface="+mn-lt"/>
                <a:hlinkClick r:id="rId5">
                  <a:extLst>
                    <a:ext uri="{A12FA001-AC4F-418D-AE19-62706E023703}">
                      <ahyp:hlinkClr xmlns:ahyp="http://schemas.microsoft.com/office/drawing/2018/hyperlinkcolor" val="tx"/>
                    </a:ext>
                  </a:extLst>
                </a:hlinkClick>
              </a:rPr>
              <a:t>.2545703</a:t>
            </a:r>
            <a:r>
              <a:rPr lang="en-US" sz="1900" dirty="0">
                <a:ea typeface="+mn-lt"/>
                <a:cs typeface="+mn-lt"/>
              </a:rPr>
              <a:t>. </a:t>
            </a:r>
          </a:p>
          <a:p>
            <a:pPr marL="0" indent="0">
              <a:lnSpc>
                <a:spcPct val="100000"/>
              </a:lnSpc>
              <a:spcBef>
                <a:spcPts val="1200"/>
              </a:spcBef>
              <a:buNone/>
            </a:pPr>
            <a:r>
              <a:rPr lang="en-US" sz="1900" dirty="0">
                <a:ea typeface="+mn-lt"/>
                <a:cs typeface="+mn-lt"/>
              </a:rPr>
              <a:t>[14]	</a:t>
            </a:r>
            <a:r>
              <a:rPr lang="en-GB" sz="1900" dirty="0">
                <a:ea typeface="+mn-lt"/>
                <a:cs typeface="+mn-lt"/>
              </a:rPr>
              <a:t>R. H. Caverly, CMOS RFIC Design </a:t>
            </a:r>
            <a:r>
              <a:rPr lang="en-GB" sz="1900" dirty="0" err="1">
                <a:ea typeface="+mn-lt"/>
                <a:cs typeface="+mn-lt"/>
              </a:rPr>
              <a:t>Principles.Artech</a:t>
            </a:r>
            <a:r>
              <a:rPr lang="en-GB" sz="1900" dirty="0">
                <a:ea typeface="+mn-lt"/>
                <a:cs typeface="+mn-lt"/>
              </a:rPr>
              <a:t> House, 2007, ISBN:</a:t>
            </a:r>
            <a:r>
              <a:rPr lang="el-GR" sz="1900" dirty="0">
                <a:latin typeface="Calibri"/>
                <a:ea typeface="Calibri"/>
                <a:cs typeface="Calibri"/>
              </a:rPr>
              <a:t> </a:t>
            </a:r>
            <a:r>
              <a:rPr lang="en-GB" sz="1900" dirty="0">
                <a:ea typeface="+mn-lt"/>
                <a:cs typeface="+mn-lt"/>
              </a:rPr>
              <a:t>9781596931336.</a:t>
            </a:r>
          </a:p>
          <a:p>
            <a:pPr marL="0" indent="0">
              <a:lnSpc>
                <a:spcPct val="110000"/>
              </a:lnSpc>
              <a:spcBef>
                <a:spcPts val="1200"/>
              </a:spcBef>
              <a:buNone/>
            </a:pPr>
            <a:r>
              <a:rPr lang="en-GB" sz="1900" dirty="0">
                <a:ea typeface="+mn-lt"/>
                <a:cs typeface="+mn-lt"/>
              </a:rPr>
              <a:t>[15]	Takayasu Sakurai, Akira Matsuzawa, </a:t>
            </a:r>
            <a:r>
              <a:rPr lang="en-GB" sz="1900" dirty="0" err="1">
                <a:ea typeface="+mn-lt"/>
                <a:cs typeface="+mn-lt"/>
              </a:rPr>
              <a:t>Takakuni</a:t>
            </a:r>
            <a:r>
              <a:rPr lang="en-GB" sz="1900" dirty="0">
                <a:ea typeface="+mn-lt"/>
                <a:cs typeface="+mn-lt"/>
              </a:rPr>
              <a:t> </a:t>
            </a:r>
            <a:r>
              <a:rPr lang="en-GB" sz="1900" dirty="0" err="1">
                <a:ea typeface="+mn-lt"/>
                <a:cs typeface="+mn-lt"/>
              </a:rPr>
              <a:t>Douseki</a:t>
            </a:r>
            <a:r>
              <a:rPr lang="en-GB" sz="1900" i="1" dirty="0">
                <a:ea typeface="+mn-lt"/>
                <a:cs typeface="+mn-lt"/>
              </a:rPr>
              <a:t>, Fully-Depleted SOI CMOS</a:t>
            </a:r>
            <a:r>
              <a:rPr lang="el-GR" sz="1900" i="1" dirty="0">
                <a:latin typeface="Calibri"/>
                <a:ea typeface="Calibri"/>
                <a:cs typeface="Calibri"/>
              </a:rPr>
              <a:t> </a:t>
            </a:r>
            <a:r>
              <a:rPr lang="en-GB" sz="1900" i="1" dirty="0">
                <a:ea typeface="+mn-lt"/>
                <a:cs typeface="+mn-lt"/>
              </a:rPr>
              <a:t>Circuits and </a:t>
            </a:r>
            <a:r>
              <a:rPr lang="el-GR" sz="1900" i="1" dirty="0">
                <a:latin typeface="Calibri"/>
                <a:ea typeface="Calibri"/>
                <a:cs typeface="Calibri"/>
              </a:rPr>
              <a:t>	</a:t>
            </a:r>
            <a:r>
              <a:rPr lang="en-GB" sz="1900" i="1" dirty="0">
                <a:ea typeface="+mn-lt"/>
                <a:cs typeface="+mn-lt"/>
              </a:rPr>
              <a:t>Technology for Ultralow-Power Applications</a:t>
            </a:r>
            <a:r>
              <a:rPr lang="en-GB" sz="1900" dirty="0">
                <a:ea typeface="+mn-lt"/>
                <a:cs typeface="+mn-lt"/>
              </a:rPr>
              <a:t>. Springer New York, NY,</a:t>
            </a:r>
            <a:r>
              <a:rPr lang="el-GR" sz="1900" dirty="0">
                <a:latin typeface="Calibri"/>
                <a:ea typeface="Calibri"/>
                <a:cs typeface="Calibri"/>
              </a:rPr>
              <a:t> </a:t>
            </a:r>
            <a:r>
              <a:rPr lang="en-GB" sz="1900" dirty="0">
                <a:ea typeface="+mn-lt"/>
                <a:cs typeface="+mn-lt"/>
              </a:rPr>
              <a:t>2007,</a:t>
            </a:r>
            <a:r>
              <a:rPr lang="el-GR" sz="1900" dirty="0">
                <a:latin typeface="Calibri"/>
                <a:ea typeface="Calibri"/>
                <a:cs typeface="Calibri"/>
              </a:rPr>
              <a:t> </a:t>
            </a:r>
            <a:r>
              <a:rPr lang="en-GB" sz="1900" dirty="0">
                <a:ea typeface="+mn-lt"/>
                <a:cs typeface="+mn-lt"/>
              </a:rPr>
              <a:t>ISBN: 978-0-387-</a:t>
            </a:r>
            <a:r>
              <a:rPr lang="el-GR" sz="1900" dirty="0">
                <a:latin typeface="Calibri"/>
                <a:ea typeface="Calibri"/>
                <a:cs typeface="Calibri"/>
              </a:rPr>
              <a:t>	</a:t>
            </a:r>
            <a:r>
              <a:rPr lang="en-GB" sz="1900" dirty="0">
                <a:ea typeface="+mn-lt"/>
                <a:cs typeface="+mn-lt"/>
              </a:rPr>
              <a:t>29218-2. DOI: </a:t>
            </a:r>
            <a:r>
              <a:rPr lang="en-GB" sz="1900" dirty="0">
                <a:ea typeface="+mn-lt"/>
                <a:cs typeface="+mn-lt"/>
                <a:hlinkClick r:id="rId6"/>
              </a:rPr>
              <a:t>10.1007/978-0-387-29218-2</a:t>
            </a:r>
            <a:r>
              <a:rPr lang="en-GB" sz="1900" dirty="0">
                <a:ea typeface="+mn-lt"/>
                <a:cs typeface="+mn-lt"/>
              </a:rPr>
              <a:t>.</a:t>
            </a:r>
          </a:p>
          <a:p>
            <a:pPr marL="0" indent="0">
              <a:lnSpc>
                <a:spcPct val="110000"/>
              </a:lnSpc>
              <a:spcBef>
                <a:spcPts val="1200"/>
              </a:spcBef>
              <a:buNone/>
            </a:pPr>
            <a:r>
              <a:rPr lang="en-GB" sz="1900" dirty="0">
                <a:ea typeface="+mn-lt"/>
                <a:cs typeface="+mn-lt"/>
              </a:rPr>
              <a:t>[16]	Michael Steer, </a:t>
            </a:r>
            <a:r>
              <a:rPr lang="en-GB" sz="1900" i="1" dirty="0">
                <a:ea typeface="+mn-lt"/>
                <a:cs typeface="+mn-lt"/>
              </a:rPr>
              <a:t>Microwave &amp; RF Design: A Systems Approach</a:t>
            </a:r>
            <a:r>
              <a:rPr lang="en-GB" sz="1900" dirty="0">
                <a:ea typeface="+mn-lt"/>
                <a:cs typeface="+mn-lt"/>
              </a:rPr>
              <a:t>, 2010, ISBN:</a:t>
            </a:r>
            <a:r>
              <a:rPr lang="el-GR" sz="1900" dirty="0">
                <a:latin typeface="Calibri"/>
                <a:ea typeface="Calibri"/>
                <a:cs typeface="Calibri"/>
              </a:rPr>
              <a:t> </a:t>
            </a:r>
            <a:r>
              <a:rPr lang="en-GB" sz="1900" dirty="0">
                <a:ea typeface="+mn-lt"/>
                <a:cs typeface="+mn-lt"/>
              </a:rPr>
              <a:t>9781891121883.</a:t>
            </a:r>
            <a:endParaRPr lang="en-US" sz="1900" dirty="0">
              <a:ea typeface="+mn-lt"/>
              <a:cs typeface="+mn-lt"/>
            </a:endParaRPr>
          </a:p>
        </p:txBody>
      </p:sp>
      <p:sp>
        <p:nvSpPr>
          <p:cNvPr id="4" name="Date Placeholder 3">
            <a:extLst>
              <a:ext uri="{FF2B5EF4-FFF2-40B4-BE49-F238E27FC236}">
                <a16:creationId xmlns:a16="http://schemas.microsoft.com/office/drawing/2014/main" id="{FC386815-D971-FCDE-77EF-B850F5B84B66}"/>
              </a:ext>
            </a:extLst>
          </p:cNvPr>
          <p:cNvSpPr>
            <a:spLocks noGrp="1"/>
          </p:cNvSpPr>
          <p:nvPr>
            <p:ph type="dt" sz="half" idx="10"/>
          </p:nvPr>
        </p:nvSpPr>
        <p:spPr/>
        <p:txBody>
          <a:bodyPr/>
          <a:lstStyle/>
          <a:p>
            <a:fld id="{5546D976-428E-4631-AED7-54CDD8EF0749}" type="datetime3">
              <a:rPr lang="en-US" smtClean="0"/>
              <a:t>14 December 2025</a:t>
            </a:fld>
            <a:endParaRPr lang="en-US"/>
          </a:p>
        </p:txBody>
      </p:sp>
      <p:sp>
        <p:nvSpPr>
          <p:cNvPr id="5" name="Slide Number Placeholder 4">
            <a:extLst>
              <a:ext uri="{FF2B5EF4-FFF2-40B4-BE49-F238E27FC236}">
                <a16:creationId xmlns:a16="http://schemas.microsoft.com/office/drawing/2014/main" id="{AD6E82D9-71A3-BFDB-83FA-3DF84DE87BCE}"/>
              </a:ext>
            </a:extLst>
          </p:cNvPr>
          <p:cNvSpPr>
            <a:spLocks noGrp="1"/>
          </p:cNvSpPr>
          <p:nvPr>
            <p:ph type="sldNum" sz="quarter" idx="12"/>
          </p:nvPr>
        </p:nvSpPr>
        <p:spPr/>
        <p:txBody>
          <a:bodyPr/>
          <a:lstStyle/>
          <a:p>
            <a:fld id="{57CA127F-6BC0-40BB-9B02-66AE29583F1C}" type="slidenum">
              <a:rPr lang="en-US" smtClean="0"/>
              <a:t>28</a:t>
            </a:fld>
            <a:endParaRPr lang="en-US"/>
          </a:p>
        </p:txBody>
      </p:sp>
      <p:sp>
        <p:nvSpPr>
          <p:cNvPr id="7" name="Footer Placeholder 6">
            <a:extLst>
              <a:ext uri="{FF2B5EF4-FFF2-40B4-BE49-F238E27FC236}">
                <a16:creationId xmlns:a16="http://schemas.microsoft.com/office/drawing/2014/main" id="{0EFC94C6-9AEF-DBD3-4232-85A9C879B458}"/>
              </a:ext>
            </a:extLst>
          </p:cNvPr>
          <p:cNvSpPr>
            <a:spLocks noGrp="1"/>
          </p:cNvSpPr>
          <p:nvPr>
            <p:ph type="ftr" sz="quarter" idx="11"/>
          </p:nvPr>
        </p:nvSpPr>
        <p:spPr/>
        <p:txBody>
          <a:bodyPr/>
          <a:lstStyle/>
          <a:p>
            <a:r>
              <a:rPr lang="en-GB"/>
              <a:t>[116] Design of VLSI Systems ┃ Group 02</a:t>
            </a:r>
            <a:endParaRPr lang="en-US"/>
          </a:p>
        </p:txBody>
      </p:sp>
    </p:spTree>
    <p:extLst>
      <p:ext uri="{BB962C8B-B14F-4D97-AF65-F5344CB8AC3E}">
        <p14:creationId xmlns:p14="http://schemas.microsoft.com/office/powerpoint/2010/main" val="4225560103"/>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0E2841"/>
      </a:dk2>
      <a:lt2>
        <a:srgbClr val="E8E8E8"/>
      </a:lt2>
      <a:accent1>
        <a:srgbClr val="953434"/>
      </a:accent1>
      <a:accent2>
        <a:srgbClr val="E97132"/>
      </a:accent2>
      <a:accent3>
        <a:srgbClr val="196B24"/>
      </a:accent3>
      <a:accent4>
        <a:srgbClr val="0F9ED5"/>
      </a:accent4>
      <a:accent5>
        <a:srgbClr val="A02B93"/>
      </a:accent5>
      <a:accent6>
        <a:srgbClr val="4EA72E"/>
      </a:accent6>
      <a:hlink>
        <a:srgbClr val="953434"/>
      </a:hlink>
      <a:folHlink>
        <a:srgbClr val="96607D"/>
      </a:folHlink>
    </a:clrScheme>
    <a:fontScheme name="Tw Cen MT">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84667A1-ED4F-4D7F-856A-2E5CC4A8B217}">
  <we:reference id="444c804e-8891-41f9-b246-f6dac759fca9" version="3.7.0.0" store="EXCatalog" storeType="EXCatalog"/>
  <we:alternateReferences>
    <we:reference id="WA104380518" version="3.7.0.0" store="el-GR"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3154</Words>
  <Application>Microsoft Office PowerPoint</Application>
  <PresentationFormat>Widescreen</PresentationFormat>
  <Paragraphs>293</Paragraphs>
  <Slides>28</Slides>
  <Notes>18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Aptos</vt:lpstr>
      <vt:lpstr>Arial</vt:lpstr>
      <vt:lpstr>Arial,Sans-Serif</vt:lpstr>
      <vt:lpstr>Calibri</vt:lpstr>
      <vt:lpstr>Cambria Math</vt:lpstr>
      <vt:lpstr>CMU Serif</vt:lpstr>
      <vt:lpstr>Courier New</vt:lpstr>
      <vt:lpstr>TW Cen MT</vt:lpstr>
      <vt:lpstr>TW Cen MT</vt:lpstr>
      <vt:lpstr>Wingdings</vt:lpstr>
      <vt:lpstr>Office Theme</vt:lpstr>
      <vt:lpstr>FinFET &amp; FD-SOI Technologies</vt:lpstr>
      <vt:lpstr>Contents</vt:lpstr>
      <vt:lpstr>FinFET</vt:lpstr>
      <vt:lpstr>Introduction to FinFET Technology</vt:lpstr>
      <vt:lpstr>Historical Development</vt:lpstr>
      <vt:lpstr>FinFET</vt:lpstr>
      <vt:lpstr>FinFET Classifications</vt:lpstr>
      <vt:lpstr>Materials in FinFET Fabrication</vt:lpstr>
      <vt:lpstr>Key Challenges</vt:lpstr>
      <vt:lpstr>Recent Innovations</vt:lpstr>
      <vt:lpstr>FinFET</vt:lpstr>
      <vt:lpstr>Multi-Fin FinFET</vt:lpstr>
      <vt:lpstr>Motivation: Limitations of Planar MOSFETs</vt:lpstr>
      <vt:lpstr>Conclusion</vt:lpstr>
      <vt:lpstr>Where the Industry Stands Today</vt:lpstr>
      <vt:lpstr>FD-SOI</vt:lpstr>
      <vt:lpstr>Fully Depleted-Silicon On Insulator: Overview</vt:lpstr>
      <vt:lpstr>FD-SOI</vt:lpstr>
      <vt:lpstr>1T-APS Using 22nm FD-SOI Technology</vt:lpstr>
      <vt:lpstr>FD-SOI</vt:lpstr>
      <vt:lpstr>Simplified Integrated TRx Schematic</vt:lpstr>
      <vt:lpstr>Noise measures [16]</vt:lpstr>
      <vt:lpstr>Rx Front-End: Low Noise Amplifier (LNA)</vt:lpstr>
      <vt:lpstr>CS Amplifier: Source Degeneration in CM</vt:lpstr>
      <vt:lpstr>Reactive Feedback: Small Signal Model</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Literature Presentation - Team 02: Κapetanios et Papadopoulos</dc:title>
  <dc:subject>FinFET &amp; FD-SOI Technologies</dc:subject>
  <dc:creator>Antonios Kapetanios [10417];Panagiotis Papadopoulos [10697]</dc:creator>
  <cp:lastModifiedBy>Antonios Kapetanios</cp:lastModifiedBy>
  <cp:revision>1</cp:revision>
  <dcterms:created xsi:type="dcterms:W3CDTF">2025-10-20T09:27:02Z</dcterms:created>
  <dcterms:modified xsi:type="dcterms:W3CDTF">2025-12-14T20:23:24Z</dcterms:modified>
</cp:coreProperties>
</file>